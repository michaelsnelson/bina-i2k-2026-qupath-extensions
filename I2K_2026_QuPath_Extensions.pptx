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github.com/uw-loci/qupath-extension-dialog-manager" TargetMode="External"/><Relationship Id="rId2" Type="http://schemas.openxmlformats.org/officeDocument/2006/relationships/hyperlink" Target="https://github.com/uw-loci/qupath-extension-channel-names-viewer" TargetMode="External"/><Relationship Id="rId3" Type="http://schemas.openxmlformats.org/officeDocument/2006/relationships/hyperlink" Target="https://github.com/uw-loci/qupath-extension-classify-object-subset" TargetMode="External"/><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uw-loci/qupath-extension-wizard-wand" TargetMode="External"/><Relationship Id="rId2" Type="http://schemas.openxmlformats.org/officeDocument/2006/relationships/hyperlink" Target="https://github.com/uw-loci/qupath-extension-polyline-wand"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github.com/uw-loci/qupath-extension-image-export-toolkit"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github.com/uw-loci/qupath-extension-ocr4labels"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github.com/uw-loci/qupath-extension-project-metadata-browser" TargetMode="Externa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github.com/uw-loci/qupath-extension-class-distribution" TargetMode="Externa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image" Target="../media/image-18-4.jp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image" Target="../media/image-21-3.jpg"/><Relationship Id="rId4" Type="http://schemas.openxmlformats.org/officeDocument/2006/relationships/image" Target="../media/image-21-4.jp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github.com/uw-loci/qupath-extension-tiles-to-pyramid" TargetMode="Externa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github.com/uw-loci/qupath-extension-dl-pixel-classifier" TargetMode="Externa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github.com/uw-loci/qupath-extension-cell-analysis-tools" TargetMode="External"/><Relationship Id="rId2" Type="http://schemas.openxmlformats.org/officeDocument/2006/relationships/hyperlink" Target="https://github.com/uw-loci/qupath-extension-cluster-3d-navigator" TargetMode="External"/><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hyperlink" Target="https://github.com/uw-loci/qupath-extension-fiber-analysis" TargetMode="External"/><Relationship Id="rId2" Type="http://schemas.openxmlformats.org/officeDocument/2006/relationships/hyperlink" Target="https://github.com/MichaelSNelson/qupath-extension-TME-Quant" TargetMode="Externa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hyperlink" Target="https://github.com/uw-loci/qupath-extension-qpsc" TargetMode="Externa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1051560"/>
            <a:ext cx="10268712" cy="384048"/>
          </a:xfrm>
          <a:prstGeom prst="rect">
            <a:avLst/>
          </a:prstGeom>
          <a:noFill/>
          <a:ln/>
        </p:spPr>
        <p:txBody>
          <a:bodyPr wrap="square" rtlCol="0" anchor="ctr"/>
          <a:lstStyle/>
          <a:p>
            <a:pPr indent="0" marL="0">
              <a:buNone/>
            </a:pPr>
            <a:r>
              <a:rPr lang="en-US" sz="1700" b="1" spc="150" kern="0" dirty="0">
                <a:solidFill>
                  <a:srgbClr val="3674C1"/>
                </a:solidFill>
                <a:latin typeface="Calibri" pitchFamily="34" charset="0"/>
                <a:ea typeface="Calibri" pitchFamily="34" charset="-122"/>
                <a:cs typeface="Calibri" pitchFamily="34" charset="-120"/>
              </a:rPr>
              <a:t>I2K  ·  BioImaging North America Congress 2026</a:t>
            </a:r>
            <a:endParaRPr lang="en-US" sz="1700" dirty="0"/>
          </a:p>
        </p:txBody>
      </p:sp>
      <p:sp>
        <p:nvSpPr>
          <p:cNvPr id="4" name="Text 2"/>
          <p:cNvSpPr/>
          <p:nvPr/>
        </p:nvSpPr>
        <p:spPr>
          <a:xfrm>
            <a:off x="960120" y="1481328"/>
            <a:ext cx="10268712" cy="1051560"/>
          </a:xfrm>
          <a:prstGeom prst="rect">
            <a:avLst/>
          </a:prstGeom>
          <a:noFill/>
          <a:ln/>
        </p:spPr>
        <p:txBody>
          <a:bodyPr wrap="square" rtlCol="0" anchor="ctr"/>
          <a:lstStyle/>
          <a:p>
            <a:pPr indent="0" marL="0">
              <a:buNone/>
            </a:pPr>
            <a:r>
              <a:rPr lang="en-US" sz="4600" b="1" dirty="0">
                <a:solidFill>
                  <a:srgbClr val="1F4C86"/>
                </a:solidFill>
                <a:latin typeface="Trebuchet MS" pitchFamily="34" charset="0"/>
                <a:ea typeface="Trebuchet MS" pitchFamily="34" charset="-122"/>
                <a:cs typeface="Trebuchet MS" pitchFamily="34" charset="-120"/>
              </a:rPr>
              <a:t>New Extensions for QuPath</a:t>
            </a:r>
            <a:endParaRPr lang="en-US" sz="4600" dirty="0"/>
          </a:p>
        </p:txBody>
      </p:sp>
      <p:sp>
        <p:nvSpPr>
          <p:cNvPr id="5" name="Text 3"/>
          <p:cNvSpPr/>
          <p:nvPr/>
        </p:nvSpPr>
        <p:spPr>
          <a:xfrm>
            <a:off x="960120" y="2578608"/>
            <a:ext cx="9445752" cy="914400"/>
          </a:xfrm>
          <a:prstGeom prst="rect">
            <a:avLst/>
          </a:prstGeom>
          <a:noFill/>
          <a:ln/>
        </p:spPr>
        <p:txBody>
          <a:bodyPr wrap="square" rtlCol="0" anchor="ctr"/>
          <a:lstStyle/>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From simple (dialog manager, wizard wand, image export)</a:t>
            </a:r>
            <a:endParaRPr lang="en-US" sz="2100" dirty="0"/>
          </a:p>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to complex (DL cell and pixel classifiers, microscope control)</a:t>
            </a:r>
            <a:endParaRPr lang="en-US" sz="2100" dirty="0"/>
          </a:p>
        </p:txBody>
      </p:sp>
      <p:sp>
        <p:nvSpPr>
          <p:cNvPr id="6" name="Shape 4"/>
          <p:cNvSpPr/>
          <p:nvPr/>
        </p:nvSpPr>
        <p:spPr>
          <a:xfrm>
            <a:off x="960120" y="3657600"/>
            <a:ext cx="2377440" cy="54864"/>
          </a:xfrm>
          <a:prstGeom prst="rect">
            <a:avLst/>
          </a:prstGeom>
          <a:solidFill>
            <a:srgbClr val="3674C1"/>
          </a:solidFill>
          <a:ln/>
        </p:spPr>
      </p:sp>
      <p:sp>
        <p:nvSpPr>
          <p:cNvPr id="7" name="Text 5"/>
          <p:cNvSpPr/>
          <p:nvPr/>
        </p:nvSpPr>
        <p:spPr>
          <a:xfrm>
            <a:off x="960120" y="3886200"/>
            <a:ext cx="7315200" cy="384048"/>
          </a:xfrm>
          <a:prstGeom prst="rect">
            <a:avLst/>
          </a:prstGeom>
          <a:noFill/>
          <a:ln/>
        </p:spPr>
        <p:txBody>
          <a:bodyPr wrap="square" rtlCol="0" anchor="ctr"/>
          <a:lstStyle/>
          <a:p>
            <a:pPr indent="0" marL="0">
              <a:buNone/>
            </a:pPr>
            <a:r>
              <a:rPr lang="en-US" sz="2200" b="1" dirty="0">
                <a:solidFill>
                  <a:srgbClr val="1F2933"/>
                </a:solidFill>
                <a:latin typeface="Trebuchet MS" pitchFamily="34" charset="0"/>
                <a:ea typeface="Trebuchet MS" pitchFamily="34" charset="-122"/>
                <a:cs typeface="Trebuchet MS" pitchFamily="34" charset="-120"/>
              </a:rPr>
              <a:t>Michael S. Nelson</a:t>
            </a:r>
            <a:endParaRPr lang="en-US" sz="2200" dirty="0"/>
          </a:p>
        </p:txBody>
      </p:sp>
      <p:sp>
        <p:nvSpPr>
          <p:cNvPr id="8" name="Text 6"/>
          <p:cNvSpPr/>
          <p:nvPr/>
        </p:nvSpPr>
        <p:spPr>
          <a:xfrm>
            <a:off x="960120" y="4279392"/>
            <a:ext cx="7315200" cy="731520"/>
          </a:xfrm>
          <a:prstGeom prst="rect">
            <a:avLst/>
          </a:prstGeom>
          <a:noFill/>
          <a:ln/>
        </p:spPr>
        <p:txBody>
          <a:bodyPr wrap="square" rtlCol="0" anchor="ctr"/>
          <a:lstStyle/>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Laboratory for Optical and Computational Instrumentation (LOCI)</a:t>
            </a:r>
            <a:endParaRPr lang="en-US" sz="1700" dirty="0"/>
          </a:p>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University of Wisconsin–Madison</a:t>
            </a:r>
            <a:endParaRPr lang="en-US" sz="1700" dirty="0"/>
          </a:p>
        </p:txBody>
      </p:sp>
      <p:sp>
        <p:nvSpPr>
          <p:cNvPr id="9" name="Shape 7"/>
          <p:cNvSpPr/>
          <p:nvPr/>
        </p:nvSpPr>
        <p:spPr>
          <a:xfrm>
            <a:off x="960120" y="5257800"/>
            <a:ext cx="6949440" cy="566928"/>
          </a:xfrm>
          <a:prstGeom prst="rect">
            <a:avLst/>
          </a:prstGeom>
          <a:solidFill>
            <a:srgbClr val="E8F0FA"/>
          </a:solidFill>
          <a:ln/>
        </p:spPr>
      </p:sp>
      <p:sp>
        <p:nvSpPr>
          <p:cNvPr id="10" name="Text 8"/>
          <p:cNvSpPr/>
          <p:nvPr/>
        </p:nvSpPr>
        <p:spPr>
          <a:xfrm>
            <a:off x="1143000" y="5257800"/>
            <a:ext cx="6675120" cy="566928"/>
          </a:xfrm>
          <a:prstGeom prst="rect">
            <a:avLst/>
          </a:prstGeom>
          <a:noFill/>
          <a:ln/>
        </p:spPr>
        <p:txBody>
          <a:bodyPr wrap="square" rtlCol="0" anchor="ctr"/>
          <a:lstStyle/>
          <a:p>
            <a:pPr indent="0" marL="0">
              <a:buNone/>
            </a:pPr>
            <a:r>
              <a:rPr lang="en-US" sz="1800" b="1" dirty="0">
                <a:solidFill>
                  <a:srgbClr val="1F4C86"/>
                </a:solidFill>
                <a:latin typeface="Calibri" pitchFamily="34" charset="0"/>
                <a:ea typeface="Calibri" pitchFamily="34" charset="-122"/>
                <a:cs typeface="Calibri" pitchFamily="34" charset="-120"/>
              </a:rPr>
              <a:t>michaelsnelson.github.io/BINA-I2K-2026-QuPath-Extensions</a:t>
            </a:r>
            <a:endParaRPr lang="en-US" sz="1800" dirty="0"/>
          </a:p>
        </p:txBody>
      </p:sp>
      <p:sp>
        <p:nvSpPr>
          <p:cNvPr id="11" name="Text 9"/>
          <p:cNvSpPr/>
          <p:nvPr/>
        </p:nvSpPr>
        <p:spPr>
          <a:xfrm>
            <a:off x="7525512" y="5257800"/>
            <a:ext cx="4023360" cy="731520"/>
          </a:xfrm>
          <a:prstGeom prst="rect">
            <a:avLst/>
          </a:prstGeom>
          <a:noFill/>
          <a:ln/>
        </p:spPr>
        <p:txBody>
          <a:bodyPr wrap="square" rtlCol="0" anchor="ctr"/>
          <a:lstStyle/>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Tuesday 29 September 2026  ·  10:30–12:30</a:t>
            </a:r>
            <a:endParaRPr lang="en-US" sz="1500" dirty="0"/>
          </a:p>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Morgridge Hall, WARF Seminar Hub — Rm. 7560</a:t>
            </a:r>
            <a:endParaRPr lang="en-US" sz="15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Acknowledgements</a:t>
            </a:r>
            <a:endParaRPr lang="en-US" sz="3200" dirty="0"/>
          </a:p>
        </p:txBody>
      </p:sp>
      <p:sp>
        <p:nvSpPr>
          <p:cNvPr id="3" name="Shape 1"/>
          <p:cNvSpPr/>
          <p:nvPr/>
        </p:nvSpPr>
        <p:spPr>
          <a:xfrm>
            <a:off x="566928" y="1152144"/>
            <a:ext cx="1920240" cy="50292"/>
          </a:xfrm>
          <a:prstGeom prst="rect">
            <a:avLst/>
          </a:prstGeom>
          <a:solidFill>
            <a:srgbClr val="3674C1"/>
          </a:solidFill>
          <a:ln/>
        </p:spPr>
      </p:sp>
      <p:sp>
        <p:nvSpPr>
          <p:cNvPr id="4" name="Shape 2"/>
          <p:cNvSpPr/>
          <p:nvPr/>
        </p:nvSpPr>
        <p:spPr>
          <a:xfrm>
            <a:off x="566928" y="1517904"/>
            <a:ext cx="11055096" cy="1755648"/>
          </a:xfrm>
          <a:prstGeom prst="rect">
            <a:avLst/>
          </a:prstGeom>
          <a:solidFill>
            <a:srgbClr val="E8F0FA"/>
          </a:solidFill>
          <a:ln/>
        </p:spPr>
      </p:sp>
      <p:sp>
        <p:nvSpPr>
          <p:cNvPr id="5" name="Shape 3"/>
          <p:cNvSpPr/>
          <p:nvPr/>
        </p:nvSpPr>
        <p:spPr>
          <a:xfrm>
            <a:off x="566928" y="1517904"/>
            <a:ext cx="146304" cy="1755648"/>
          </a:xfrm>
          <a:prstGeom prst="rect">
            <a:avLst/>
          </a:prstGeom>
          <a:solidFill>
            <a:srgbClr val="3674C1"/>
          </a:solidFill>
          <a:ln/>
        </p:spPr>
      </p:sp>
      <p:sp>
        <p:nvSpPr>
          <p:cNvPr id="6" name="Text 4"/>
          <p:cNvSpPr/>
          <p:nvPr/>
        </p:nvSpPr>
        <p:spPr>
          <a:xfrm>
            <a:off x="978408" y="1645920"/>
            <a:ext cx="10232136" cy="310896"/>
          </a:xfrm>
          <a:prstGeom prst="rect">
            <a:avLst/>
          </a:prstGeom>
          <a:noFill/>
          <a:ln/>
        </p:spPr>
        <p:txBody>
          <a:bodyPr wrap="square" rtlCol="0" anchor="ctr"/>
          <a:lstStyle/>
          <a:p>
            <a:pPr indent="0" marL="0">
              <a:buNone/>
            </a:pPr>
            <a:r>
              <a:rPr lang="en-US" sz="1500" b="1" spc="150" kern="0" dirty="0">
                <a:solidFill>
                  <a:srgbClr val="3674C1"/>
                </a:solidFill>
                <a:latin typeface="Calibri" pitchFamily="34" charset="0"/>
                <a:ea typeface="Calibri" pitchFamily="34" charset="-122"/>
                <a:cs typeface="Calibri" pitchFamily="34" charset="-120"/>
              </a:rPr>
              <a:t>LOCI</a:t>
            </a:r>
            <a:endParaRPr lang="en-US" sz="1500" dirty="0"/>
          </a:p>
        </p:txBody>
      </p:sp>
      <p:sp>
        <p:nvSpPr>
          <p:cNvPr id="7" name="Text 5"/>
          <p:cNvSpPr/>
          <p:nvPr/>
        </p:nvSpPr>
        <p:spPr>
          <a:xfrm>
            <a:off x="978408" y="1938528"/>
            <a:ext cx="10232136" cy="530352"/>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lab, and Kevin Eliceiri</a:t>
            </a:r>
            <a:endParaRPr lang="en-US" sz="3000" dirty="0"/>
          </a:p>
        </p:txBody>
      </p:sp>
      <p:sp>
        <p:nvSpPr>
          <p:cNvPr id="8" name="Text 6"/>
          <p:cNvSpPr/>
          <p:nvPr/>
        </p:nvSpPr>
        <p:spPr>
          <a:xfrm>
            <a:off x="978408" y="2487168"/>
            <a:ext cx="10232136" cy="694944"/>
          </a:xfrm>
          <a:prstGeom prst="rect">
            <a:avLst/>
          </a:prstGeom>
          <a:noFill/>
          <a:ln/>
        </p:spPr>
        <p:txBody>
          <a:bodyPr wrap="square" rtlCol="0" anchor="ctr"/>
          <a:lstStyle/>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For a genuinely collaborative lab, and for backing work on QuPath that sits well outside my job description.</a:t>
            </a:r>
            <a:endParaRPr lang="en-US" sz="1700" dirty="0"/>
          </a:p>
        </p:txBody>
      </p:sp>
      <p:sp>
        <p:nvSpPr>
          <p:cNvPr id="9" name="Text 7"/>
          <p:cNvSpPr/>
          <p:nvPr/>
        </p:nvSpPr>
        <p:spPr>
          <a:xfrm>
            <a:off x="566928" y="3419856"/>
            <a:ext cx="11055096" cy="2743200"/>
          </a:xfrm>
          <a:prstGeom prst="rect">
            <a:avLst/>
          </a:prstGeom>
          <a:noFill/>
          <a:ln/>
        </p:spPr>
        <p:txBody>
          <a:bodyPr wrap="square" rtlCol="0" anchor="t"/>
          <a:lstStyle/>
          <a:p>
            <a:pPr indent="0" marL="0">
              <a:spcAft>
                <a:spcPts val="900"/>
              </a:spcAft>
              <a:buNone/>
            </a:pPr>
            <a:r>
              <a:rPr lang="en-US" sz="1600" dirty="0">
                <a:solidFill>
                  <a:srgbClr val="1F2933"/>
                </a:solidFill>
                <a:latin typeface="Calibri" pitchFamily="34" charset="0"/>
                <a:ea typeface="Calibri" pitchFamily="34" charset="-122"/>
                <a:cs typeface="Calibri" pitchFamily="34" charset="-120"/>
              </a:rPr>
              <a:t>Sample data: Sara McArdle and Zbigniew Mikulski, La Jolla Institute for Immunology, who provided the slide-label images behind the OCR and metadata exercises. Other data today: public images, a CC0 synthetic set, and tiles acquired at LOCI.
</a:t>
            </a:r>
            <a:pPr indent="0" marL="0">
              <a:spcAft>
                <a:spcPts val="900"/>
              </a:spcAft>
              <a:buNone/>
            </a:pPr>
            <a:r>
              <a:rPr lang="en-US" sz="1600" dirty="0">
                <a:solidFill>
                  <a:srgbClr val="1F2933"/>
                </a:solidFill>
                <a:latin typeface="Calibri" pitchFamily="34" charset="0"/>
                <a:ea typeface="Calibri" pitchFamily="34" charset="-122"/>
                <a:cs typeface="Calibri" pitchFamily="34" charset="-120"/>
              </a:rPr>
              <a:t>Sara McArdle also shaped the software directly: the channel legend packages a Groovy script of hers (originally Pete Bankhead’s, from the 2022 QuPath Hackathon), and the subset classifier follows a pattern from another. Her FS2K course was the model for how the workshop pages are written.
</a:t>
            </a:r>
            <a:pPr indent="0" marL="0">
              <a:spcAft>
                <a:spcPts val="900"/>
              </a:spcAft>
              <a:buNone/>
            </a:pPr>
            <a:r>
              <a:rPr lang="en-US" sz="1600" dirty="0">
                <a:solidFill>
                  <a:srgbClr val="1F2933"/>
                </a:solidFill>
                <a:latin typeface="Calibri" pitchFamily="34" charset="0"/>
                <a:ea typeface="Calibri" pitchFamily="34" charset="-122"/>
                <a:cs typeface="Calibri" pitchFamily="34" charset="-120"/>
              </a:rPr>
              <a:t>Kristin Gallik, whose concept and scripts the Confusion Matrix grew from.  ·  Pete Bankhead and the QuPath team.  ·  CT-FIRE, CurveAlign, TACS and TWOMBLI for the fiber work.  ·  CytoMAP and QuBaLab for bringing clustering into QuPath.  ·  QUAREP-LiMi for the reporting standards.  ·  The image.sc community, where several of these features were first requested.
</a:t>
            </a:r>
            <a:pPr indent="0" marL="0">
              <a:spcAft>
                <a:spcPts val="900"/>
              </a:spcAft>
              <a:buNone/>
            </a:pPr>
            <a:r>
              <a:rPr lang="en-US" sz="1600" dirty="0">
                <a:solidFill>
                  <a:srgbClr val="1F2933"/>
                </a:solidFill>
                <a:latin typeface="Calibri" pitchFamily="34" charset="0"/>
                <a:ea typeface="Calibri" pitchFamily="34" charset="-122"/>
                <a:cs typeface="Calibri" pitchFamily="34" charset="-120"/>
              </a:rPr>
              <a:t>Much of this code was written with Claude (Anthropic) under close direction. It changed what one person could build; it did not change what still had to be checked.
</a:t>
            </a:r>
            <a:pPr indent="0" marL="0">
              <a:buNone/>
            </a:pPr>
            <a:r>
              <a:rPr lang="en-US" sz="1600" b="1" dirty="0">
                <a:solidFill>
                  <a:srgbClr val="1F4C86"/>
                </a:solidFill>
                <a:latin typeface="Calibri" pitchFamily="34" charset="0"/>
                <a:ea typeface="Calibri" pitchFamily="34" charset="-122"/>
                <a:cs typeface="Calibri" pitchFamily="34" charset="-120"/>
              </a:rPr>
              <a:t>Full credits: michaelsnelson.github.io/BINA-I2K-2026-QuPath-Extensions/docs/acknowledgements.html</a:t>
            </a:r>
            <a:endParaRPr lang="en-US" sz="16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this hour covers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anyone who already uses QuPath and has run into its edges.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Simple first, complex last: quality-of-life tools, export, project-scale work, deep learning, microscope control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There is time for a handful done properly, not sixteen done badly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every tool has a full written walkthrough, and a video to follow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Three are demonstrated but not practiced — I will say why each time; two more were Sara McArdle’s session yesterday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second hour is optional, hands-on and self-directed — four tracks, or bring your own data</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822960"/>
            <a:ext cx="11055096" cy="822960"/>
          </a:xfrm>
          <a:prstGeom prst="rect">
            <a:avLst/>
          </a:prstGeom>
          <a:noFill/>
          <a:ln/>
        </p:spPr>
        <p:txBody>
          <a:bodyPr wrap="square" rtlCol="0" anchor="ctr"/>
          <a:lstStyle/>
          <a:p>
            <a:pPr indent="0" marL="0">
              <a:buNone/>
            </a:pPr>
            <a:r>
              <a:rPr lang="en-US" sz="3600" b="1" dirty="0">
                <a:solidFill>
                  <a:srgbClr val="1F4C86"/>
                </a:solidFill>
                <a:latin typeface="Trebuchet MS" pitchFamily="34" charset="0"/>
                <a:ea typeface="Trebuchet MS" pitchFamily="34" charset="-122"/>
                <a:cs typeface="Trebuchet MS" pitchFamily="34" charset="-120"/>
              </a:rPr>
              <a:t>Vote for what you want to see</a:t>
            </a:r>
            <a:endParaRPr lang="en-US" sz="3600" dirty="0"/>
          </a:p>
        </p:txBody>
      </p:sp>
      <p:sp>
        <p:nvSpPr>
          <p:cNvPr id="3" name="Shape 1"/>
          <p:cNvSpPr/>
          <p:nvPr/>
        </p:nvSpPr>
        <p:spPr>
          <a:xfrm>
            <a:off x="566928" y="1691640"/>
            <a:ext cx="1920240" cy="50292"/>
          </a:xfrm>
          <a:prstGeom prst="rect">
            <a:avLst/>
          </a:prstGeom>
          <a:solidFill>
            <a:srgbClr val="3674C1"/>
          </a:solidFill>
          <a:ln/>
        </p:spPr>
      </p:sp>
      <p:sp>
        <p:nvSpPr>
          <p:cNvPr id="4" name="Shape 2"/>
          <p:cNvSpPr/>
          <p:nvPr/>
        </p:nvSpPr>
        <p:spPr>
          <a:xfrm>
            <a:off x="566928" y="2148840"/>
            <a:ext cx="11055096" cy="1371600"/>
          </a:xfrm>
          <a:prstGeom prst="rect">
            <a:avLst/>
          </a:prstGeom>
          <a:solidFill>
            <a:srgbClr val="E8F0FA"/>
          </a:solidFill>
          <a:ln/>
        </p:spPr>
      </p:sp>
      <p:sp>
        <p:nvSpPr>
          <p:cNvPr id="5" name="Text 3"/>
          <p:cNvSpPr/>
          <p:nvPr/>
        </p:nvSpPr>
        <p:spPr>
          <a:xfrm>
            <a:off x="841248" y="2148840"/>
            <a:ext cx="10506456" cy="1371600"/>
          </a:xfrm>
          <a:prstGeom prst="rect">
            <a:avLst/>
          </a:prstGeom>
          <a:noFill/>
          <a:ln/>
        </p:spPr>
        <p:txBody>
          <a:bodyPr wrap="square" rtlCol="0" anchor="ctr"/>
          <a:lstStyle/>
          <a:p>
            <a:pPr algn="ctr" indent="0" marL="0">
              <a:buNone/>
            </a:pPr>
            <a:r>
              <a:rPr lang="en-US" sz="3000" b="1" dirty="0">
                <a:solidFill>
                  <a:srgbClr val="1F4C86"/>
                </a:solidFill>
                <a:latin typeface="Calibri" pitchFamily="34" charset="0"/>
                <a:ea typeface="Calibri" pitchFamily="34" charset="-122"/>
                <a:cs typeface="Calibri" pitchFamily="34" charset="-120"/>
              </a:rPr>
              <a:t>%%PADLET_URL%%</a:t>
            </a:r>
            <a:endParaRPr lang="en-US" sz="3000" dirty="0"/>
          </a:p>
        </p:txBody>
      </p:sp>
      <p:sp>
        <p:nvSpPr>
          <p:cNvPr id="6" name="Text 4"/>
          <p:cNvSpPr/>
          <p:nvPr/>
        </p:nvSpPr>
        <p:spPr>
          <a:xfrm>
            <a:off x="566928" y="3749040"/>
            <a:ext cx="11055096" cy="2011680"/>
          </a:xfrm>
          <a:prstGeom prst="rect">
            <a:avLst/>
          </a:prstGeom>
          <a:noFill/>
          <a:ln/>
        </p:spPr>
        <p:txBody>
          <a:bodyPr wrap="square" rtlCol="0" anchor="t"/>
          <a:lstStyle/>
          <a:p>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Vote for as many as you like. Add a comment if you have a specific question, or a dataset you are stuck on.
</a:t>
            </a:r>
            <a:pPr indent="0" marL="0">
              <a:spcAft>
                <a:spcPts val="1200"/>
              </a:spcAft>
              <a:buNone/>
            </a:pPr>
            <a:r>
              <a:rPr lang="en-US" sz="1800" i="1" dirty="0">
                <a:solidFill>
                  <a:srgbClr val="5A6675"/>
                </a:solidFill>
                <a:latin typeface="Calibri" pitchFamily="34" charset="0"/>
                <a:ea typeface="Calibri" pitchFamily="34" charset="-122"/>
                <a:cs typeface="Calibri" pitchFamily="34" charset="-120"/>
              </a:rPr>
              <a:t>Already fixed: QPSC, the Confusion Matrix and the fiber tools are shown regardless — and Channel Names Viewer and Classify Object Subset were covered in Sara McArdle’s session yesterday.
</a:t>
            </a:r>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I will read it now and adjust the running order.
</a:t>
            </a:r>
            <a:pPr indent="0" marL="0">
              <a:buNone/>
            </a:pPr>
            <a:r>
              <a:rPr lang="en-US" sz="2000" dirty="0">
                <a:solidFill>
                  <a:srgbClr val="1F2933"/>
                </a:solidFill>
                <a:latin typeface="Calibri" pitchFamily="34" charset="0"/>
                <a:ea typeface="Calibri" pitchFamily="34" charset="-122"/>
                <a:cs typeface="Calibri" pitchFamily="34" charset="-120"/>
              </a:rPr>
              <a:t>If your tool does not make the cut, its walkthrough and video are on the site — and I am happy to sit down with you in the second hour.</a:t>
            </a:r>
            <a:endParaRPr lang="en-US" sz="20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If you are not set up yet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 am not going to walk through setup — the site has it, and I am here in the second hour.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Everything below is on the site, and you can do it during this hour if you need to</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Add one catalog: Extensions &gt; Manage extensions &gt; Manage extension catalogs &gt; Add catalog</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github.com/uw-loci/qupath-catalog-mikenelson — adding it installs nothing, it shows you a list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Pick what you want, then restart QuPath — some work straight away, many do not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 entries are large first-use downloads: QP-CAT 1.5–2.5 GB, DL Pixel Classifier 2–4 GB</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Bring QuPath 0.7.0 or later. Four of the thirteen require it, and everything here is built and tested on it.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01</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Five small tools</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Dialog Manager · Channel Names · Classify Subset · Wizard Wand · Polyline Wand</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Dialog Manager, Channel Names, Classify Subset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least glamorous tools here.</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Dialog Manager</a:t>
            </a:r>
            <a:endParaRPr lang="en-US" sz="1000" dirty="0"/>
          </a:p>
        </p:txBody>
      </p:sp>
      <p:sp>
        <p:nvSpPr>
          <p:cNvPr id="6" name="Shape 4"/>
          <p:cNvSpPr/>
          <p:nvPr/>
        </p:nvSpPr>
        <p:spPr>
          <a:xfrm>
            <a:off x="10479024" y="1536192"/>
            <a:ext cx="804672" cy="804672"/>
          </a:xfrm>
          <a:prstGeom prst="rect">
            <a:avLst/>
          </a:prstGeom>
          <a:solidFill>
            <a:srgbClr val="FFFFFF"/>
          </a:solidFill>
          <a:ln w="9525">
            <a:solidFill>
              <a:srgbClr val="3674C1"/>
            </a:solidFill>
            <a:prstDash val="dash"/>
          </a:ln>
        </p:spPr>
      </p:sp>
      <p:sp>
        <p:nvSpPr>
          <p:cNvPr id="7" name="Text 5"/>
          <p:cNvSpPr/>
          <p:nvPr/>
        </p:nvSpPr>
        <p:spPr>
          <a:xfrm>
            <a:off x="10479024" y="1536192"/>
            <a:ext cx="804672" cy="804672"/>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377440"/>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github.com/uw-loci/qupath-extension-dialog-manager</a:t>
            </a:r>
            <a:endParaRPr lang="en-US" sz="750" dirty="0"/>
          </a:p>
        </p:txBody>
      </p:sp>
      <p:sp>
        <p:nvSpPr>
          <p:cNvPr id="9" name="Text 7"/>
          <p:cNvSpPr/>
          <p:nvPr/>
        </p:nvSpPr>
        <p:spPr>
          <a:xfrm>
            <a:off x="10140696" y="265176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Channel Names</a:t>
            </a:r>
            <a:endParaRPr lang="en-US" sz="1000" dirty="0"/>
          </a:p>
        </p:txBody>
      </p:sp>
      <p:sp>
        <p:nvSpPr>
          <p:cNvPr id="10" name="Shape 8"/>
          <p:cNvSpPr/>
          <p:nvPr/>
        </p:nvSpPr>
        <p:spPr>
          <a:xfrm>
            <a:off x="10479024" y="2871216"/>
            <a:ext cx="804672" cy="804672"/>
          </a:xfrm>
          <a:prstGeom prst="rect">
            <a:avLst/>
          </a:prstGeom>
          <a:solidFill>
            <a:srgbClr val="FFFFFF"/>
          </a:solidFill>
          <a:ln w="9525">
            <a:solidFill>
              <a:srgbClr val="3674C1"/>
            </a:solidFill>
            <a:prstDash val="dash"/>
          </a:ln>
        </p:spPr>
      </p:sp>
      <p:sp>
        <p:nvSpPr>
          <p:cNvPr id="11" name="Text 9"/>
          <p:cNvSpPr/>
          <p:nvPr/>
        </p:nvSpPr>
        <p:spPr>
          <a:xfrm>
            <a:off x="10479024" y="2871216"/>
            <a:ext cx="804672" cy="804672"/>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2" name="Text 10">
            <a:hlinkClick r:id="rId2" tooltip=""/>
          </p:cNvPr>
          <p:cNvSpPr/>
          <p:nvPr/>
        </p:nvSpPr>
        <p:spPr>
          <a:xfrm>
            <a:off x="10140696" y="3712464"/>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github.com/uw-loci/qupath-extension-channel-names-viewer</a:t>
            </a:r>
            <a:endParaRPr lang="en-US" sz="750" dirty="0"/>
          </a:p>
        </p:txBody>
      </p:sp>
      <p:sp>
        <p:nvSpPr>
          <p:cNvPr id="13" name="Text 11"/>
          <p:cNvSpPr/>
          <p:nvPr/>
        </p:nvSpPr>
        <p:spPr>
          <a:xfrm>
            <a:off x="10140696" y="3986784"/>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Classify Subset</a:t>
            </a:r>
            <a:endParaRPr lang="en-US" sz="1000" dirty="0"/>
          </a:p>
        </p:txBody>
      </p:sp>
      <p:sp>
        <p:nvSpPr>
          <p:cNvPr id="14" name="Shape 12"/>
          <p:cNvSpPr/>
          <p:nvPr/>
        </p:nvSpPr>
        <p:spPr>
          <a:xfrm>
            <a:off x="10479024" y="4206240"/>
            <a:ext cx="804672" cy="804672"/>
          </a:xfrm>
          <a:prstGeom prst="rect">
            <a:avLst/>
          </a:prstGeom>
          <a:solidFill>
            <a:srgbClr val="FFFFFF"/>
          </a:solidFill>
          <a:ln w="9525">
            <a:solidFill>
              <a:srgbClr val="3674C1"/>
            </a:solidFill>
            <a:prstDash val="dash"/>
          </a:ln>
        </p:spPr>
      </p:sp>
      <p:sp>
        <p:nvSpPr>
          <p:cNvPr id="15" name="Text 13"/>
          <p:cNvSpPr/>
          <p:nvPr/>
        </p:nvSpPr>
        <p:spPr>
          <a:xfrm>
            <a:off x="10479024" y="4206240"/>
            <a:ext cx="804672" cy="804672"/>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6" name="Text 14">
            <a:hlinkClick r:id="rId3" tooltip=""/>
          </p:cNvPr>
          <p:cNvSpPr/>
          <p:nvPr/>
        </p:nvSpPr>
        <p:spPr>
          <a:xfrm>
            <a:off x="10140696" y="504748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github.com/uw-loci/qupath-extension-classify-object-subset</a:t>
            </a:r>
            <a:endParaRPr lang="en-US" sz="750" dirty="0"/>
          </a:p>
        </p:txBody>
      </p:sp>
      <p:sp>
        <p:nvSpPr>
          <p:cNvPr id="17" name="Text 15"/>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Dialog Position Manager — remembers where your titled dialogs were and puts them back next session</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Recovers windows stranded on a monitor you have since unplugged, and points several workstations at one shared file so a facility opens with the same layout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Channel Names Viewer — a floating, color-coded legend of the selected channels, so you are not re-reading the brightness dialog to find out which is which</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Classify Object Subset — run a saved classifier on a chosen subset, with a live count before you commit</a:t>
            </a:r>
            <a:endParaRPr lang="en-US" sz="2000" dirty="0"/>
          </a:p>
        </p:txBody>
      </p:sp>
      <p:sp>
        <p:nvSpPr>
          <p:cNvPr id="18" name="Shape 16"/>
          <p:cNvSpPr/>
          <p:nvPr/>
        </p:nvSpPr>
        <p:spPr>
          <a:xfrm>
            <a:off x="566928" y="5650992"/>
            <a:ext cx="11055096" cy="566928"/>
          </a:xfrm>
          <a:prstGeom prst="rect">
            <a:avLst/>
          </a:prstGeom>
          <a:solidFill>
            <a:srgbClr val="F4F8FD"/>
          </a:solidFill>
          <a:ln w="9525">
            <a:solidFill>
              <a:srgbClr val="3674C1"/>
            </a:solidFill>
            <a:prstDash val="solid"/>
          </a:ln>
        </p:spPr>
      </p:sp>
      <p:sp>
        <p:nvSpPr>
          <p:cNvPr id="19" name="Text 17"/>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last two grew out of Groovy scripts from Sara McArdle — the channel legend from one originally written by Pete Bankhead at the 2022 QuPath Hackathon. She demonstrated both on Monday.</a:t>
            </a:r>
            <a:endParaRPr lang="en-US" sz="1600" dirty="0"/>
          </a:p>
        </p:txBody>
      </p:sp>
      <p:sp>
        <p:nvSpPr>
          <p:cNvPr id="20" name="Text 1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wands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QuPath’s own wand is untouched — both of these install as separate tools you can ignore.</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Wizard Wand</a:t>
            </a:r>
            <a:endParaRPr lang="en-US" sz="1000" dirty="0"/>
          </a:p>
        </p:txBody>
      </p:sp>
      <p:sp>
        <p:nvSpPr>
          <p:cNvPr id="6" name="Shape 4"/>
          <p:cNvSpPr/>
          <p:nvPr/>
        </p:nvSpPr>
        <p:spPr>
          <a:xfrm>
            <a:off x="10355580" y="1536192"/>
            <a:ext cx="1051560" cy="1051560"/>
          </a:xfrm>
          <a:prstGeom prst="rect">
            <a:avLst/>
          </a:prstGeom>
          <a:solidFill>
            <a:srgbClr val="FFFFFF"/>
          </a:solidFill>
          <a:ln w="9525">
            <a:solidFill>
              <a:srgbClr val="3674C1"/>
            </a:solidFill>
            <a:prstDash val="dash"/>
          </a:ln>
        </p:spPr>
      </p:sp>
      <p:sp>
        <p:nvSpPr>
          <p:cNvPr id="7" name="Text 5"/>
          <p:cNvSpPr/>
          <p:nvPr/>
        </p:nvSpPr>
        <p:spPr>
          <a:xfrm>
            <a:off x="10355580" y="1536192"/>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62432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github.com/uw-loci/qupath-extension-wizard-wand</a:t>
            </a:r>
            <a:endParaRPr lang="en-US" sz="750" dirty="0"/>
          </a:p>
        </p:txBody>
      </p:sp>
      <p:sp>
        <p:nvSpPr>
          <p:cNvPr id="9" name="Text 7"/>
          <p:cNvSpPr/>
          <p:nvPr/>
        </p:nvSpPr>
        <p:spPr>
          <a:xfrm>
            <a:off x="10140696" y="297180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Polyline Wand</a:t>
            </a:r>
            <a:endParaRPr lang="en-US" sz="1000" dirty="0"/>
          </a:p>
        </p:txBody>
      </p:sp>
      <p:sp>
        <p:nvSpPr>
          <p:cNvPr id="10" name="Shape 8"/>
          <p:cNvSpPr/>
          <p:nvPr/>
        </p:nvSpPr>
        <p:spPr>
          <a:xfrm>
            <a:off x="10355580" y="3191256"/>
            <a:ext cx="1051560" cy="1051560"/>
          </a:xfrm>
          <a:prstGeom prst="rect">
            <a:avLst/>
          </a:prstGeom>
          <a:solidFill>
            <a:srgbClr val="FFFFFF"/>
          </a:solidFill>
          <a:ln w="9525">
            <a:solidFill>
              <a:srgbClr val="3674C1"/>
            </a:solidFill>
            <a:prstDash val="dash"/>
          </a:ln>
        </p:spPr>
      </p:sp>
      <p:sp>
        <p:nvSpPr>
          <p:cNvPr id="11" name="Text 9"/>
          <p:cNvSpPr/>
          <p:nvPr/>
        </p:nvSpPr>
        <p:spPr>
          <a:xfrm>
            <a:off x="10355580" y="3191256"/>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2" name="Text 10">
            <a:hlinkClick r:id="rId2" tooltip=""/>
          </p:cNvPr>
          <p:cNvSpPr/>
          <p:nvPr/>
        </p:nvSpPr>
        <p:spPr>
          <a:xfrm>
            <a:off x="10140696" y="427939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github.com/uw-loci/qupath-extension-polyline-wand</a:t>
            </a:r>
            <a:endParaRPr lang="en-US" sz="750" dirty="0"/>
          </a:p>
        </p:txBody>
      </p:sp>
      <p:sp>
        <p:nvSpPr>
          <p:cNvPr id="13" name="Text 11"/>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Wizard Wand — like the built-in wand, with small holes filled and the boundary smoothed by default; hold still and the selection grows on its own</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Four color-space modes: grayscale, RGB, subtle stain differences, or selecting by hue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Tune from selection: draw one area annotation the way you want it, and the wand derives its own settings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Polyline Wand — QuPath’s brush and wand work on areas; this brings the same editing to lines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Push a traced boundary outward, erase backwards from an endpoint, or cut one polyline in two — both halves keep class, name and color</a:t>
            </a:r>
            <a:endParaRPr lang="en-US" sz="2000" dirty="0"/>
          </a:p>
        </p:txBody>
      </p:sp>
      <p:sp>
        <p:nvSpPr>
          <p:cNvPr id="14" name="Shape 12"/>
          <p:cNvSpPr/>
          <p:nvPr/>
        </p:nvSpPr>
        <p:spPr>
          <a:xfrm>
            <a:off x="566928" y="5650992"/>
            <a:ext cx="11055096" cy="566928"/>
          </a:xfrm>
          <a:prstGeom prst="rect">
            <a:avLst/>
          </a:prstGeom>
          <a:solidFill>
            <a:srgbClr val="F4F8FD"/>
          </a:solidFill>
          <a:ln w="9525">
            <a:solidFill>
              <a:srgbClr val="3674C1"/>
            </a:solidFill>
            <a:prstDash val="solid"/>
          </a:ln>
        </p:spPr>
      </p:sp>
      <p:sp>
        <p:nvSpPr>
          <p:cNvPr id="15" name="Text 13"/>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One stroke is one undo step, however long the boundary.</a:t>
            </a:r>
            <a:endParaRPr lang="en-US" sz="1600" dirty="0"/>
          </a:p>
        </p:txBody>
      </p:sp>
      <p:sp>
        <p:nvSpPr>
          <p:cNvPr id="16" name="Text 1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LIVE  ·  10 MIN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Both wands,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Wizard Wand: wand a structure, then tune from a hand-drawn area annotation and do it again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a selection grow on its own instead of dragging to cover it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Polyline Wand: push a traced boundary outward, erase back from an endpoint, then switch mode to smooth a noisy stretch</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Scissors mode — cut one polyline in two, both halves keeping class, name and color</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Compare the result against the built-in tools</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two wands in one sitting — ten minutes. Static screenshots follow if the live version misbehaves.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02</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QuIET — Image Export Toolkit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Publication figures, review images, and machine-learning datasets</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Five export categories, one wizard</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Exporting one image is easy. Exporting forty the same way, with a scale bar, at a stated resolution, is not.</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QuIET</a:t>
            </a:r>
            <a:endParaRPr lang="en-US" sz="1000" dirty="0"/>
          </a:p>
        </p:txBody>
      </p:sp>
      <p:sp>
        <p:nvSpPr>
          <p:cNvPr id="6" name="Shape 4"/>
          <p:cNvSpPr/>
          <p:nvPr/>
        </p:nvSpPr>
        <p:spPr>
          <a:xfrm>
            <a:off x="10264140" y="1536192"/>
            <a:ext cx="1234440" cy="1234440"/>
          </a:xfrm>
          <a:prstGeom prst="rect">
            <a:avLst/>
          </a:prstGeom>
          <a:solidFill>
            <a:srgbClr val="FFFFFF"/>
          </a:solidFill>
          <a:ln w="9525">
            <a:solidFill>
              <a:srgbClr val="3674C1"/>
            </a:solidFill>
            <a:prstDash val="dash"/>
          </a:ln>
        </p:spPr>
      </p:sp>
      <p:sp>
        <p:nvSpPr>
          <p:cNvPr id="7" name="Text 5"/>
          <p:cNvSpPr/>
          <p:nvPr/>
        </p:nvSpPr>
        <p:spPr>
          <a:xfrm>
            <a:off x="10264140" y="1536192"/>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80720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github.com/uw-loci/qupath-extension-image-export-toolkit</a:t>
            </a:r>
            <a:endParaRPr lang="en-US" sz="750" dirty="0"/>
          </a:p>
        </p:txBody>
      </p:sp>
      <p:sp>
        <p:nvSpPr>
          <p:cNvPr id="9" name="Text 7"/>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Five export categories, one three-step wizard</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Rendered figures  ·  label masks  ·  raw pixel data  ·  image and label tile pairs  ·  per-object crops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separate wizard builds multi-panel montage figures from several project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Batch across a project, without writing an export script</a:t>
            </a:r>
            <a:endParaRPr lang="en-US" sz="20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it is a reproducibility tool, not a convenience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Catch “what magnification was that, and is there a scale bar?” while you can still fix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Whatever you clicked in the wizard comes back out as a Groovy script that uses only the QuPath API</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it, version it, re-run it next year, send it to a collaborator who does not have QuIET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QUAREP-LiMi reporting guidance appears beside the settings, driven by your project’s actual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Publication advice is shown before you export, not after review</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Montage figures are the exception: they record their settings, but the figure is rebuilt through the wizard.</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03</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OCR, Metadata Browser, Class Distribution, Tiles to Pyramid</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Working on four hundred slides rather than four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OCR for Labels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10140696" y="128016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OCR for Labels</a:t>
            </a:r>
            <a:endParaRPr lang="en-US" sz="1000" dirty="0"/>
          </a:p>
        </p:txBody>
      </p:sp>
      <p:sp>
        <p:nvSpPr>
          <p:cNvPr id="5" name="Shape 3"/>
          <p:cNvSpPr/>
          <p:nvPr/>
        </p:nvSpPr>
        <p:spPr>
          <a:xfrm>
            <a:off x="10264140" y="1499616"/>
            <a:ext cx="1234440" cy="1234440"/>
          </a:xfrm>
          <a:prstGeom prst="rect">
            <a:avLst/>
          </a:prstGeom>
          <a:solidFill>
            <a:srgbClr val="FFFFFF"/>
          </a:solidFill>
          <a:ln w="9525">
            <a:solidFill>
              <a:srgbClr val="3674C1"/>
            </a:solidFill>
            <a:prstDash val="dash"/>
          </a:ln>
        </p:spPr>
      </p:sp>
      <p:sp>
        <p:nvSpPr>
          <p:cNvPr id="6" name="Text 4"/>
          <p:cNvSpPr/>
          <p:nvPr/>
        </p:nvSpPr>
        <p:spPr>
          <a:xfrm>
            <a:off x="10264140" y="1499616"/>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7" name="Text 5">
            <a:hlinkClick r:id="rId1" tooltip=""/>
          </p:cNvPr>
          <p:cNvSpPr/>
          <p:nvPr/>
        </p:nvSpPr>
        <p:spPr>
          <a:xfrm>
            <a:off x="10140696" y="277063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github.com/uw-loci/qupath-extension-ocr4labels</a:t>
            </a:r>
            <a:endParaRPr lang="en-US" sz="750" dirty="0"/>
          </a:p>
        </p:txBody>
      </p:sp>
      <p:sp>
        <p:nvSpPr>
          <p:cNvPr id="8" name="Text 6"/>
          <p:cNvSpPr/>
          <p:nvPr/>
        </p:nvSpPr>
        <p:spPr>
          <a:xfrm>
            <a:off x="640080" y="1481328"/>
            <a:ext cx="922629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case ID, stain and block number are already in your slide file, on the label image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 recognition and barcode scanning, straight into project metadata</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a template of field positions, then run it across the whole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Match against a vocabulary of the IDs you actually use, and OCR slips like 0-for-O get corrected</a:t>
            </a:r>
            <a:endParaRPr lang="en-US" sz="2000" dirty="0"/>
          </a:p>
        </p:txBody>
      </p:sp>
      <p:sp>
        <p:nvSpPr>
          <p:cNvPr id="9" name="Shape 7"/>
          <p:cNvSpPr/>
          <p:nvPr/>
        </p:nvSpPr>
        <p:spPr>
          <a:xfrm>
            <a:off x="566928" y="5650992"/>
            <a:ext cx="11055096" cy="566928"/>
          </a:xfrm>
          <a:prstGeom prst="rect">
            <a:avLst/>
          </a:prstGeom>
          <a:solidFill>
            <a:srgbClr val="F4F8FD"/>
          </a:solidFill>
          <a:ln w="9525">
            <a:solidFill>
              <a:srgbClr val="3674C1"/>
            </a:solidFill>
            <a:prstDash val="solid"/>
          </a:ln>
        </p:spPr>
      </p:sp>
      <p:sp>
        <p:nvSpPr>
          <p:cNvPr id="10" name="Text 8"/>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Review before applying. Recognition on a photographed label is good, not correct.</a:t>
            </a:r>
            <a:endParaRPr lang="en-US" sz="1600" dirty="0"/>
          </a:p>
        </p:txBody>
      </p:sp>
      <p:sp>
        <p:nvSpPr>
          <p:cNvPr id="11" name="Text 9"/>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Project Metadata Browser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just ran label recognition across a few hundred slides, this is where you find out whether it worked.</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Metadata Browser</a:t>
            </a:r>
            <a:endParaRPr lang="en-US" sz="1000" dirty="0"/>
          </a:p>
        </p:txBody>
      </p:sp>
      <p:sp>
        <p:nvSpPr>
          <p:cNvPr id="6" name="Shape 4"/>
          <p:cNvSpPr/>
          <p:nvPr/>
        </p:nvSpPr>
        <p:spPr>
          <a:xfrm>
            <a:off x="10264140" y="1536192"/>
            <a:ext cx="1234440" cy="1234440"/>
          </a:xfrm>
          <a:prstGeom prst="rect">
            <a:avLst/>
          </a:prstGeom>
          <a:solidFill>
            <a:srgbClr val="FFFFFF"/>
          </a:solidFill>
          <a:ln w="9525">
            <a:solidFill>
              <a:srgbClr val="3674C1"/>
            </a:solidFill>
            <a:prstDash val="dash"/>
          </a:ln>
        </p:spPr>
      </p:sp>
      <p:sp>
        <p:nvSpPr>
          <p:cNvPr id="7" name="Text 5"/>
          <p:cNvSpPr/>
          <p:nvPr/>
        </p:nvSpPr>
        <p:spPr>
          <a:xfrm>
            <a:off x="10264140" y="1536192"/>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80720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github.com/uw-loci/qupath-extension-project-metadata-browser</a:t>
            </a:r>
            <a:endParaRPr lang="en-US" sz="750" dirty="0"/>
          </a:p>
        </p:txBody>
      </p:sp>
      <p:sp>
        <p:nvSpPr>
          <p:cNvPr id="9" name="Text 7"/>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image a row, every metadata key a column — sortable and filterable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Edits stay in memory until you save, and everything is undoable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Paste a column from a spreadsheet; pull values out of structured filenames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Rename or remove a key across every image in one operation</a:t>
            </a:r>
            <a:endParaRPr lang="en-US" sz="2000" dirty="0"/>
          </a:p>
        </p:txBody>
      </p:sp>
      <p:sp>
        <p:nvSpPr>
          <p:cNvPr id="10" name="Shape 8"/>
          <p:cNvSpPr/>
          <p:nvPr/>
        </p:nvSpPr>
        <p:spPr>
          <a:xfrm>
            <a:off x="566928" y="5650992"/>
            <a:ext cx="11055096" cy="566928"/>
          </a:xfrm>
          <a:prstGeom prst="rect">
            <a:avLst/>
          </a:prstGeom>
          <a:solidFill>
            <a:srgbClr val="F4F8FD"/>
          </a:solidFill>
          <a:ln w="9525">
            <a:solidFill>
              <a:srgbClr val="3674C1"/>
            </a:solidFill>
            <a:prstDash val="solid"/>
          </a:ln>
        </p:spPr>
      </p:sp>
      <p:sp>
        <p:nvSpPr>
          <p:cNvPr id="11" name="Text 9"/>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Sorting by a recognized column makes the bad reads stand out as outliers.</a:t>
            </a:r>
            <a:endParaRPr lang="en-US" sz="16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the metadata is worth filling in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Metadata is not bookkeeping for its own sake. It is how you find an image again.</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QuPath’s own project pane has a “Sort by...” menu: choose a metadata key and the image list groups under it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Four hundred files named by scanner ID become a list grouped by stain, by case, or by block</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pane’s filter box searches name and type only — metadata is what gives you the axis you actually care about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the chain is: read the label, check the reads here, then navigate the project by what is on the slide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Sorting by a recovered column is also the quickest quality check, because bad reads land at the extremes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Nothing here is specific to OCR: paste a column from a spreadsheet, or pull fields out of structured filenames with a regex, and the same sorting applies.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Class Distribution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10140696" y="128016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Class Distribution</a:t>
            </a:r>
            <a:endParaRPr lang="en-US" sz="1000" dirty="0"/>
          </a:p>
        </p:txBody>
      </p:sp>
      <p:sp>
        <p:nvSpPr>
          <p:cNvPr id="5" name="Shape 3"/>
          <p:cNvSpPr/>
          <p:nvPr/>
        </p:nvSpPr>
        <p:spPr>
          <a:xfrm>
            <a:off x="10264140" y="1499616"/>
            <a:ext cx="1234440" cy="1234440"/>
          </a:xfrm>
          <a:prstGeom prst="rect">
            <a:avLst/>
          </a:prstGeom>
          <a:solidFill>
            <a:srgbClr val="FFFFFF"/>
          </a:solidFill>
          <a:ln w="9525">
            <a:solidFill>
              <a:srgbClr val="3674C1"/>
            </a:solidFill>
            <a:prstDash val="dash"/>
          </a:ln>
        </p:spPr>
      </p:sp>
      <p:sp>
        <p:nvSpPr>
          <p:cNvPr id="6" name="Text 4"/>
          <p:cNvSpPr/>
          <p:nvPr/>
        </p:nvSpPr>
        <p:spPr>
          <a:xfrm>
            <a:off x="10264140" y="1499616"/>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7" name="Text 5">
            <a:hlinkClick r:id="rId1" tooltip=""/>
          </p:cNvPr>
          <p:cNvSpPr/>
          <p:nvPr/>
        </p:nvSpPr>
        <p:spPr>
          <a:xfrm>
            <a:off x="10140696" y="277063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github.com/uw-loci/qupath-extension-class-distribution</a:t>
            </a:r>
            <a:endParaRPr lang="en-US" sz="750" dirty="0"/>
          </a:p>
        </p:txBody>
      </p:sp>
      <p:sp>
        <p:nvSpPr>
          <p:cNvPr id="8" name="Text 6"/>
          <p:cNvSpPr/>
          <p:nvPr/>
        </p:nvSpPr>
        <p:spPr>
          <a:xfrm>
            <a:off x="640080" y="1481328"/>
            <a:ext cx="922629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charts of how your annotation classes are distributed across the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And, separately, the training balance those annotations actually imply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Charts update while you annotate, so the feedback arrives while you can still act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Classes badly over- or under-represented are flagged</a:t>
            </a:r>
            <a:endParaRPr lang="en-US" sz="2000" dirty="0"/>
          </a:p>
        </p:txBody>
      </p:sp>
      <p:sp>
        <p:nvSpPr>
          <p:cNvPr id="9" name="Shape 7"/>
          <p:cNvSpPr/>
          <p:nvPr/>
        </p:nvSpPr>
        <p:spPr>
          <a:xfrm>
            <a:off x="566928" y="5650992"/>
            <a:ext cx="11055096" cy="566928"/>
          </a:xfrm>
          <a:prstGeom prst="rect">
            <a:avLst/>
          </a:prstGeom>
          <a:solidFill>
            <a:srgbClr val="F4F8FD"/>
          </a:solidFill>
          <a:ln w="9525">
            <a:solidFill>
              <a:srgbClr val="3674C1"/>
            </a:solidFill>
            <a:prstDash val="solid"/>
          </a:ln>
        </p:spPr>
      </p:sp>
      <p:sp>
        <p:nvSpPr>
          <p:cNvPr id="10" name="Text 8"/>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Annotation count, annotation area, and implied training detections are three different numbers. For an object classifier it is the third that drives training. Flagged at twice, or half, the median class share.</a:t>
            </a:r>
            <a:endParaRPr lang="en-US" sz="1600" dirty="0"/>
          </a:p>
        </p:txBody>
      </p:sp>
      <p:sp>
        <p:nvSpPr>
          <p:cNvPr id="11" name="Text 9"/>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Four captures, one field of view</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3899916" y="1481328"/>
            <a:ext cx="2057400" cy="2057400"/>
          </a:xfrm>
          <a:prstGeom prst="rect">
            <a:avLst/>
          </a:prstGeom>
        </p:spPr>
      </p:pic>
      <p:pic>
        <p:nvPicPr>
          <p:cNvPr id="5" name="tile1" descr="images/tile_1.jpg">    </p:cNvPr>
          <p:cNvPicPr>
            <a:picLocks noChangeAspect="1"/>
          </p:cNvPicPr>
          <p:nvPr/>
        </p:nvPicPr>
        <p:blipFill>
          <a:blip r:embed="rId2"/>
          <a:stretch>
            <a:fillRect/>
          </a:stretch>
        </p:blipFill>
        <p:spPr>
          <a:xfrm>
            <a:off x="6231636" y="1481328"/>
            <a:ext cx="2057400" cy="2057400"/>
          </a:xfrm>
          <a:prstGeom prst="rect">
            <a:avLst/>
          </a:prstGeom>
        </p:spPr>
      </p:pic>
      <p:pic>
        <p:nvPicPr>
          <p:cNvPr id="6" name="tile2" descr="images/tile_2.jpg">    </p:cNvPr>
          <p:cNvPicPr>
            <a:picLocks noChangeAspect="1"/>
          </p:cNvPicPr>
          <p:nvPr/>
        </p:nvPicPr>
        <p:blipFill>
          <a:blip r:embed="rId3"/>
          <a:stretch>
            <a:fillRect/>
          </a:stretch>
        </p:blipFill>
        <p:spPr>
          <a:xfrm>
            <a:off x="6231636" y="3813048"/>
            <a:ext cx="2057400" cy="2057400"/>
          </a:xfrm>
          <a:prstGeom prst="rect">
            <a:avLst/>
          </a:prstGeom>
        </p:spPr>
      </p:pic>
      <p:pic>
        <p:nvPicPr>
          <p:cNvPr id="7" name="tile3" descr="images/tile_3.jpg">    </p:cNvPr>
          <p:cNvPicPr>
            <a:picLocks noChangeAspect="1"/>
          </p:cNvPicPr>
          <p:nvPr/>
        </p:nvPicPr>
        <p:blipFill>
          <a:blip r:embed="rId4"/>
          <a:stretch>
            <a:fillRect/>
          </a:stretch>
        </p:blipFill>
        <p:spPr>
          <a:xfrm>
            <a:off x="3899916" y="3813048"/>
            <a:ext cx="2057400" cy="2057400"/>
          </a:xfrm>
          <a:prstGeom prst="rect">
            <a:avLst/>
          </a:prstGeom>
        </p:spPr>
      </p:pic>
      <p:sp>
        <p:nvSpPr>
          <p:cNvPr id="8"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Each tile is a separate exposure. The stage moved between them, and every neighboring pair was told to share about 10% of its width so there is common tissue to match on.</a:t>
            </a:r>
            <a:endParaRPr lang="en-US" sz="1500" dirty="0"/>
          </a:p>
        </p:txBody>
      </p:sp>
      <p:sp>
        <p:nvSpPr>
          <p:cNvPr id="9"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4140046" y="1481328"/>
            <a:ext cx="2057400" cy="2057400"/>
          </a:xfrm>
          <a:prstGeom prst="rect">
            <a:avLst/>
          </a:prstGeom>
        </p:spPr>
      </p:pic>
      <p:sp>
        <p:nvSpPr>
          <p:cNvPr id="5"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The first tile lands at the position the stage reported.</a:t>
            </a:r>
            <a:endParaRPr lang="en-US" sz="1500" dirty="0"/>
          </a:p>
        </p:txBody>
      </p:sp>
      <p:sp>
        <p:nvSpPr>
          <p:cNvPr id="6"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4140046" y="1481328"/>
            <a:ext cx="2057400" cy="2057400"/>
          </a:xfrm>
          <a:prstGeom prst="rect">
            <a:avLst/>
          </a:prstGeom>
        </p:spPr>
      </p:pic>
      <p:pic>
        <p:nvPicPr>
          <p:cNvPr id="5" name="tile1" descr="images/tile_1.jpg">    </p:cNvPr>
          <p:cNvPicPr>
            <a:picLocks noChangeAspect="1"/>
          </p:cNvPicPr>
          <p:nvPr/>
        </p:nvPicPr>
        <p:blipFill>
          <a:blip r:embed="rId2"/>
          <a:stretch>
            <a:fillRect/>
          </a:stretch>
        </p:blipFill>
        <p:spPr>
          <a:xfrm>
            <a:off x="5991506" y="1481328"/>
            <a:ext cx="2057400" cy="2057400"/>
          </a:xfrm>
          <a:prstGeom prst="rect">
            <a:avLst/>
          </a:prstGeom>
        </p:spPr>
      </p:pic>
      <p:sp>
        <p:nvSpPr>
          <p:cNvPr id="6"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The second overlaps the first. That shared strip is the only evidence available for whether the stage was right.</a:t>
            </a:r>
            <a:endParaRPr lang="en-US" sz="1500" dirty="0"/>
          </a:p>
        </p:txBody>
      </p:sp>
      <p:sp>
        <p:nvSpPr>
          <p:cNvPr id="7"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991506" y="1481328"/>
            <a:ext cx="205941" cy="3908859"/>
          </a:xfrm>
          <a:prstGeom prst="rect">
            <a:avLst/>
          </a:prstGeom>
          <a:solidFill>
            <a:srgbClr val="3674C1">
              <a:alpha val="38000"/>
            </a:srgbClr>
          </a:solidFill>
          <a:ln/>
        </p:spPr>
      </p:sp>
      <p:sp>
        <p:nvSpPr>
          <p:cNvPr id="5" name="Shape 3"/>
          <p:cNvSpPr/>
          <p:nvPr/>
        </p:nvSpPr>
        <p:spPr>
          <a:xfrm>
            <a:off x="4140046" y="3332787"/>
            <a:ext cx="3908859" cy="205941"/>
          </a:xfrm>
          <a:prstGeom prst="rect">
            <a:avLst/>
          </a:prstGeom>
          <a:solidFill>
            <a:srgbClr val="3674C1">
              <a:alpha val="38000"/>
            </a:srgbClr>
          </a:solidFill>
          <a:ln/>
        </p:spPr>
      </p:sp>
      <p:pic>
        <p:nvPicPr>
          <p:cNvPr id="6" name="tile0" descr="images/tile_0.jpg">    </p:cNvPr>
          <p:cNvPicPr>
            <a:picLocks noChangeAspect="1"/>
          </p:cNvPicPr>
          <p:nvPr/>
        </p:nvPicPr>
        <p:blipFill>
          <a:blip r:embed="rId1"/>
          <a:stretch>
            <a:fillRect/>
          </a:stretch>
        </p:blipFill>
        <p:spPr>
          <a:xfrm>
            <a:off x="4140046" y="1481328"/>
            <a:ext cx="2057400" cy="2057400"/>
          </a:xfrm>
          <a:prstGeom prst="rect">
            <a:avLst/>
          </a:prstGeom>
        </p:spPr>
      </p:pic>
      <p:pic>
        <p:nvPicPr>
          <p:cNvPr id="7" name="tile1" descr="images/tile_1.jpg">    </p:cNvPr>
          <p:cNvPicPr>
            <a:picLocks noChangeAspect="1"/>
          </p:cNvPicPr>
          <p:nvPr/>
        </p:nvPicPr>
        <p:blipFill>
          <a:blip r:embed="rId2"/>
          <a:stretch>
            <a:fillRect/>
          </a:stretch>
        </p:blipFill>
        <p:spPr>
          <a:xfrm>
            <a:off x="5991506" y="1481328"/>
            <a:ext cx="2057400" cy="2057400"/>
          </a:xfrm>
          <a:prstGeom prst="rect">
            <a:avLst/>
          </a:prstGeom>
        </p:spPr>
      </p:pic>
      <p:pic>
        <p:nvPicPr>
          <p:cNvPr id="8" name="tile2" descr="images/tile_2.jpg">    </p:cNvPr>
          <p:cNvPicPr>
            <a:picLocks noChangeAspect="1"/>
          </p:cNvPicPr>
          <p:nvPr/>
        </p:nvPicPr>
        <p:blipFill>
          <a:blip r:embed="rId3"/>
          <a:stretch>
            <a:fillRect/>
          </a:stretch>
        </p:blipFill>
        <p:spPr>
          <a:xfrm>
            <a:off x="5991506" y="3332787"/>
            <a:ext cx="2057400" cy="2057400"/>
          </a:xfrm>
          <a:prstGeom prst="rect">
            <a:avLst/>
          </a:prstGeom>
        </p:spPr>
      </p:pic>
      <p:pic>
        <p:nvPicPr>
          <p:cNvPr id="9" name="tile3" descr="images/tile_3.jpg">    </p:cNvPr>
          <p:cNvPicPr>
            <a:picLocks noChangeAspect="1"/>
          </p:cNvPicPr>
          <p:nvPr/>
        </p:nvPicPr>
        <p:blipFill>
          <a:blip r:embed="rId4"/>
          <a:stretch>
            <a:fillRect/>
          </a:stretch>
        </p:blipFill>
        <p:spPr>
          <a:xfrm>
            <a:off x="4140046" y="3332787"/>
            <a:ext cx="2057400" cy="2057400"/>
          </a:xfrm>
          <a:prstGeom prst="rect">
            <a:avLst/>
          </a:prstGeom>
        </p:spPr>
      </p:pic>
      <p:sp>
        <p:nvSpPr>
          <p:cNvPr id="10" name="Text 4"/>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All four, placed on the recorded coordinates alone. Every neighboring pair now shares a strip.</a:t>
            </a:r>
            <a:endParaRPr lang="en-US" sz="1500" dirty="0"/>
          </a:p>
        </p:txBody>
      </p:sp>
      <p:sp>
        <p:nvSpPr>
          <p:cNvPr id="11"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Measure on the clearest channel, reuse on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768096" y="1316736"/>
            <a:ext cx="5120640" cy="402336"/>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on the stage’s own coordinates</a:t>
            </a:r>
            <a:endParaRPr lang="en-US" sz="1700" dirty="0"/>
          </a:p>
        </p:txBody>
      </p:sp>
      <p:pic>
        <p:nvPicPr>
          <p:cNvPr id="5" name="Image 0" descr="images/stitch_if_nominal.jpg">    </p:cNvPr>
          <p:cNvPicPr>
            <a:picLocks noChangeAspect="1"/>
          </p:cNvPicPr>
          <p:nvPr/>
        </p:nvPicPr>
        <p:blipFill>
          <a:blip r:embed="rId1"/>
          <a:stretch>
            <a:fillRect/>
          </a:stretch>
        </p:blipFill>
        <p:spPr>
          <a:xfrm>
            <a:off x="768096" y="1783080"/>
            <a:ext cx="5120640" cy="3925824"/>
          </a:xfrm>
          <a:prstGeom prst="rect">
            <a:avLst/>
          </a:prstGeom>
        </p:spPr>
      </p:pic>
      <p:sp>
        <p:nvSpPr>
          <p:cNvPr id="6" name="Text 3"/>
          <p:cNvSpPr/>
          <p:nvPr/>
        </p:nvSpPr>
        <p:spPr>
          <a:xfrm>
            <a:off x="6300216" y="1316736"/>
            <a:ext cx="5120640" cy="402336"/>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on positions measured from the image</a:t>
            </a:r>
            <a:endParaRPr lang="en-US" sz="1700" dirty="0"/>
          </a:p>
        </p:txBody>
      </p:sp>
      <p:pic>
        <p:nvPicPr>
          <p:cNvPr id="7" name="Image 1" descr="images/stitch_if_registered.jpg">    </p:cNvPr>
          <p:cNvPicPr>
            <a:picLocks noChangeAspect="1"/>
          </p:cNvPicPr>
          <p:nvPr/>
        </p:nvPicPr>
        <p:blipFill>
          <a:blip r:embed="rId2"/>
          <a:stretch>
            <a:fillRect/>
          </a:stretch>
        </p:blipFill>
        <p:spPr>
          <a:xfrm>
            <a:off x="6300216" y="1783080"/>
            <a:ext cx="5120640" cy="3925824"/>
          </a:xfrm>
          <a:prstGeom prst="rect">
            <a:avLst/>
          </a:prstGeom>
        </p:spPr>
      </p:pic>
      <p:sp>
        <p:nvSpPr>
          <p:cNvPr id="8" name="Text 4"/>
          <p:cNvSpPr/>
          <p:nvPr/>
        </p:nvSpPr>
        <p:spPr>
          <a:xfrm>
            <a:off x="566928" y="581863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Both panels are Tiles to Pyramid’s own output, at the same place in the same overlap. The stage was about 5 px out; because the tiles are feathered together, that error does not show up as a seam, it shows up as blur — smeared puncta and soft filaments on the left, crisp on the right. Positions were solved once on DAPI and reused unchanged for green and red.</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stitching two tiles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As acquired: neighboring tiles share a strip of the same tissue (shaded)</a:t>
            </a:r>
            <a:endParaRPr lang="en-US" sz="1700" dirty="0"/>
          </a:p>
        </p:txBody>
      </p:sp>
      <p:pic>
        <p:nvPicPr>
          <p:cNvPr id="5" name="Image 0" descr="images/stitch_ppm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the join is placed by matching the image content in that strip</a:t>
            </a:r>
            <a:endParaRPr lang="en-US" sz="1700" dirty="0"/>
          </a:p>
        </p:txBody>
      </p:sp>
      <p:pic>
        <p:nvPicPr>
          <p:cNvPr id="7" name="Image 1" descr="images/stitch_ppm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Pancreatic cancer, polarized light. The stage recorded this tile about 5 px (0.9 µm) away from where it really was — the worst of 17 seams in this grid, which ran to a 2.2 px median. Registration measured that from the overlap and closed every seam to under a pixel. It is a tick-box: left off, tiles go where the stage said.</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23</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 how the mosaic is assembled</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Memory stops tracking the size of the mosaic, which is what lets thousands of tiles stitch on an ordinary machine.</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Tiles to Pyramid</a:t>
            </a:r>
            <a:endParaRPr lang="en-US" sz="1000" dirty="0"/>
          </a:p>
        </p:txBody>
      </p:sp>
      <p:sp>
        <p:nvSpPr>
          <p:cNvPr id="6" name="Shape 4"/>
          <p:cNvSpPr/>
          <p:nvPr/>
        </p:nvSpPr>
        <p:spPr>
          <a:xfrm>
            <a:off x="10264140" y="1536192"/>
            <a:ext cx="1234440" cy="1234440"/>
          </a:xfrm>
          <a:prstGeom prst="rect">
            <a:avLst/>
          </a:prstGeom>
          <a:solidFill>
            <a:srgbClr val="FFFFFF"/>
          </a:solidFill>
          <a:ln w="9525">
            <a:solidFill>
              <a:srgbClr val="3674C1"/>
            </a:solidFill>
            <a:prstDash val="dash"/>
          </a:ln>
        </p:spPr>
      </p:sp>
      <p:sp>
        <p:nvSpPr>
          <p:cNvPr id="7" name="Text 5"/>
          <p:cNvSpPr/>
          <p:nvPr/>
        </p:nvSpPr>
        <p:spPr>
          <a:xfrm>
            <a:off x="10264140" y="1536192"/>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80720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github.com/uw-loci/qupath-extension-tiles-to-pyramid</a:t>
            </a:r>
            <a:endParaRPr lang="en-US" sz="750" dirty="0"/>
          </a:p>
        </p:txBody>
      </p:sp>
      <p:sp>
        <p:nvSpPr>
          <p:cNvPr id="9" name="Text 7"/>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overlapping pair is measured against the image content, then all tiles are placed at once by least squares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A spanning tree would keep 99 of the 180 neighbor edges on a 10×10 grid and throw away 81, so nothing is ever asked to close a loop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tile is also pulled toward its recorded stage position, so a tile with no accepted edges stays exactly where the stage put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output is written chunk by chunk, and only the one to four tiles overlapping the current chunk are ever in memory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Measured: 144 tiles (125 MP) stitch in the same 227 MB as 64 tiles (56 MP)</a:t>
            </a:r>
            <a:endParaRPr lang="en-US" sz="2000" dirty="0"/>
          </a:p>
        </p:txBody>
      </p:sp>
      <p:sp>
        <p:nvSpPr>
          <p:cNvPr id="10" name="Shape 8"/>
          <p:cNvSpPr/>
          <p:nvPr/>
        </p:nvSpPr>
        <p:spPr>
          <a:xfrm>
            <a:off x="566928" y="5650992"/>
            <a:ext cx="11055096" cy="566928"/>
          </a:xfrm>
          <a:prstGeom prst="rect">
            <a:avLst/>
          </a:prstGeom>
          <a:solidFill>
            <a:srgbClr val="F4F8FD"/>
          </a:solidFill>
          <a:ln w="9525">
            <a:solidFill>
              <a:srgbClr val="3674C1"/>
            </a:solidFill>
            <a:prstDash val="solid"/>
          </a:ln>
        </p:spPr>
      </p:sp>
      <p:sp>
        <p:nvSpPr>
          <p:cNvPr id="11" name="Text 9"/>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Measured with the extension’s own benchmark: 1024 px 16-bit tiles, 10% overlap. The older load-everything path needed 2–4 GB and ran out of memory past about 1600 tiles.</a:t>
            </a:r>
            <a:endParaRPr lang="en-US" sz="16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04</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Confusion Matrix</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Classifier validation you can put in a paper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DEMO ONLY  ·  5 MIN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Reading the matrix</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Click the largest off-diagonal cell — those cells highlight on the slide</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classifier is 87% accurate" becomes "it confuses these two things, for this reason"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Across a project: per-image breakdown, with divergent images flagged automatically</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 flagged image points at the ground truth, the staining, or the classifier’s generalisation — the breakdown tells you which</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Originated by Kristin Gallik — concept and initial scripts; built out at LOCI.  ·  Demo only: the repository is currently private.</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05</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DL Pixel Classifier and QP-CAT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Pixel classification, cell phenotyping, and knowing when not to trust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Deep learning pixel classification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when the built-in classifier is not enough: subtle textures, classes that differ by architecture rather than color.</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DL Pixel Classifier</a:t>
            </a:r>
            <a:endParaRPr lang="en-US" sz="1000" dirty="0"/>
          </a:p>
        </p:txBody>
      </p:sp>
      <p:sp>
        <p:nvSpPr>
          <p:cNvPr id="6" name="Shape 4"/>
          <p:cNvSpPr/>
          <p:nvPr/>
        </p:nvSpPr>
        <p:spPr>
          <a:xfrm>
            <a:off x="10264140" y="1536192"/>
            <a:ext cx="1234440" cy="1234440"/>
          </a:xfrm>
          <a:prstGeom prst="rect">
            <a:avLst/>
          </a:prstGeom>
          <a:solidFill>
            <a:srgbClr val="FFFFFF"/>
          </a:solidFill>
          <a:ln w="9525">
            <a:solidFill>
              <a:srgbClr val="3674C1"/>
            </a:solidFill>
            <a:prstDash val="dash"/>
          </a:ln>
        </p:spPr>
      </p:sp>
      <p:sp>
        <p:nvSpPr>
          <p:cNvPr id="7" name="Text 5"/>
          <p:cNvSpPr/>
          <p:nvPr/>
        </p:nvSpPr>
        <p:spPr>
          <a:xfrm>
            <a:off x="10264140" y="1536192"/>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80720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github.com/uw-loci/qupath-extension-dl-pixel-classifier</a:t>
            </a:r>
            <a:endParaRPr lang="en-US" sz="750" dirty="0"/>
          </a:p>
        </p:txBody>
      </p:sp>
      <p:sp>
        <p:nvSpPr>
          <p:cNvPr id="9" name="Text 7"/>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Same interaction as the built-in classifier: draw a few sparse regions per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extension samples training tiles from what you marked — you are steering a sampler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and multi-channel fluorescence, with channel selection and intensity normalization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Train across several project images at once for representative sampling</a:t>
            </a:r>
            <a:endParaRPr lang="en-US" sz="20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28</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features that tell you when not to trust 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Domain shift — a new scanner, a new stain, a new batch — is the practical problem, far more often than model architecture.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Full per-pixel confidence, not just the winning class — the model’s certainty rendered pixel by pixel</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The honest uncertainty is at the boundaries between classes — go and look at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 out-of-distribution warning before inference, when an image no longer resembles the training data</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Catches the stain, exposure and sensor changes that would quietly degrade predictions; it will not catch subtle texture drift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When it fires, recalibrating to the current image needs no retraining at all</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Try recalibration before you commit to retraining. It is cheap, and it costs you nothing to find out.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29</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QP-CAT — multiplexed cell analysis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usual workflow loses the link back to the tissue. This keeps it.</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QP-CAT</a:t>
            </a:r>
            <a:endParaRPr lang="en-US" sz="1000" dirty="0"/>
          </a:p>
        </p:txBody>
      </p:sp>
      <p:sp>
        <p:nvSpPr>
          <p:cNvPr id="6" name="Shape 4"/>
          <p:cNvSpPr/>
          <p:nvPr/>
        </p:nvSpPr>
        <p:spPr>
          <a:xfrm>
            <a:off x="10355580" y="1536192"/>
            <a:ext cx="1051560" cy="1051560"/>
          </a:xfrm>
          <a:prstGeom prst="rect">
            <a:avLst/>
          </a:prstGeom>
          <a:solidFill>
            <a:srgbClr val="FFFFFF"/>
          </a:solidFill>
          <a:ln w="9525">
            <a:solidFill>
              <a:srgbClr val="3674C1"/>
            </a:solidFill>
            <a:prstDash val="dash"/>
          </a:ln>
        </p:spPr>
      </p:sp>
      <p:sp>
        <p:nvSpPr>
          <p:cNvPr id="7" name="Text 5"/>
          <p:cNvSpPr/>
          <p:nvPr/>
        </p:nvSpPr>
        <p:spPr>
          <a:xfrm>
            <a:off x="10355580" y="1536192"/>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62432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github.com/uw-loci/qupath-extension-cell-analysis-tools</a:t>
            </a:r>
            <a:endParaRPr lang="en-US" sz="750" dirty="0"/>
          </a:p>
        </p:txBody>
      </p:sp>
      <p:sp>
        <p:nvSpPr>
          <p:cNvPr id="9" name="Text 7"/>
          <p:cNvSpPr/>
          <p:nvPr/>
        </p:nvSpPr>
        <p:spPr>
          <a:xfrm>
            <a:off x="10140696" y="297180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Cluster 3D Nav</a:t>
            </a:r>
            <a:endParaRPr lang="en-US" sz="1000" dirty="0"/>
          </a:p>
        </p:txBody>
      </p:sp>
      <p:sp>
        <p:nvSpPr>
          <p:cNvPr id="10" name="Shape 8"/>
          <p:cNvSpPr/>
          <p:nvPr/>
        </p:nvSpPr>
        <p:spPr>
          <a:xfrm>
            <a:off x="10355580" y="3191256"/>
            <a:ext cx="1051560" cy="1051560"/>
          </a:xfrm>
          <a:prstGeom prst="rect">
            <a:avLst/>
          </a:prstGeom>
          <a:solidFill>
            <a:srgbClr val="FFFFFF"/>
          </a:solidFill>
          <a:ln w="9525">
            <a:solidFill>
              <a:srgbClr val="3674C1"/>
            </a:solidFill>
            <a:prstDash val="dash"/>
          </a:ln>
        </p:spPr>
      </p:sp>
      <p:sp>
        <p:nvSpPr>
          <p:cNvPr id="11" name="Text 9"/>
          <p:cNvSpPr/>
          <p:nvPr/>
        </p:nvSpPr>
        <p:spPr>
          <a:xfrm>
            <a:off x="10355580" y="3191256"/>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2" name="Text 10">
            <a:hlinkClick r:id="rId2" tooltip=""/>
          </p:cNvPr>
          <p:cNvSpPr/>
          <p:nvPr/>
        </p:nvSpPr>
        <p:spPr>
          <a:xfrm>
            <a:off x="10140696" y="427939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github.com/uw-loci/qupath-extension-cluster-3d-navigator</a:t>
            </a:r>
            <a:endParaRPr lang="en-US" sz="750" dirty="0"/>
          </a:p>
        </p:txBody>
      </p:sp>
      <p:sp>
        <p:nvSpPr>
          <p:cNvPr id="13" name="Text 11"/>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full scientific Python stack embedded in QuPath. No conda, no command line — one click, 1.5–2.5 GB, 5–15 minutes, once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marker gating with suggested thresholds, spatial statistics, batch correction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Label a small subset by hand and have the rest of the project labeled for you — no object classifier involved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polygon around a region of the embedding and those cells are selected in the viewer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Configure independent areas and no spatial graph edge crosses two TMA cores, so separate tissue stays separate</a:t>
            </a:r>
            <a:endParaRPr lang="en-US" sz="2000" dirty="0"/>
          </a:p>
        </p:txBody>
      </p:sp>
      <p:sp>
        <p:nvSpPr>
          <p:cNvPr id="14" name="Shape 12"/>
          <p:cNvSpPr/>
          <p:nvPr/>
        </p:nvSpPr>
        <p:spPr>
          <a:xfrm>
            <a:off x="566928" y="5650992"/>
            <a:ext cx="11055096" cy="566928"/>
          </a:xfrm>
          <a:prstGeom prst="rect">
            <a:avLst/>
          </a:prstGeom>
          <a:solidFill>
            <a:srgbClr val="F4F8FD"/>
          </a:solidFill>
          <a:ln w="9525">
            <a:solidFill>
              <a:srgbClr val="3674C1"/>
            </a:solidFill>
            <a:prstDash val="solid"/>
          </a:ln>
        </p:spPr>
      </p:sp>
      <p:sp>
        <p:nvSpPr>
          <p:cNvPr id="15" name="Text 13"/>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Author’s own README, first line: many of the features are lightly tested or entirely untested. Treat results as a starting point.</a:t>
            </a:r>
            <a:endParaRPr lang="en-US" sz="1600" dirty="0"/>
          </a:p>
        </p:txBody>
      </p:sp>
      <p:sp>
        <p:nvSpPr>
          <p:cNvPr id="16" name="Text 1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30</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06</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Fiber Analysis and TME-Quant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Collagen architecture, not just presence</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31</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fiber architecture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Conklin et al. 2011, American Journal of Pathology 178:1221.</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Collagen is not simply present or absent — the arrangement carries the biology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Wavy versus straightened; aligned versus isotropic; and how that changes at a boundary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 breast pathology, straightened fibers running perpendicular to the tumor boundary act as tracks for invading cells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Hazard ratios of 3.0–3.9 for disease-specific and disease-free survival, independent of grade, size, receptor and node status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same wavy-to-straight axis turns up wherever collagen bears load, which is why the measures travel beyond breast.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32</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complementary tools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10140696" y="128016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Fiber Analysis</a:t>
            </a:r>
            <a:endParaRPr lang="en-US" sz="1000" dirty="0"/>
          </a:p>
        </p:txBody>
      </p:sp>
      <p:sp>
        <p:nvSpPr>
          <p:cNvPr id="5" name="Shape 3"/>
          <p:cNvSpPr/>
          <p:nvPr/>
        </p:nvSpPr>
        <p:spPr>
          <a:xfrm>
            <a:off x="10355580" y="1499616"/>
            <a:ext cx="1051560" cy="1051560"/>
          </a:xfrm>
          <a:prstGeom prst="rect">
            <a:avLst/>
          </a:prstGeom>
          <a:solidFill>
            <a:srgbClr val="FFFFFF"/>
          </a:solidFill>
          <a:ln w="9525">
            <a:solidFill>
              <a:srgbClr val="3674C1"/>
            </a:solidFill>
            <a:prstDash val="dash"/>
          </a:ln>
        </p:spPr>
      </p:sp>
      <p:sp>
        <p:nvSpPr>
          <p:cNvPr id="6" name="Text 4"/>
          <p:cNvSpPr/>
          <p:nvPr/>
        </p:nvSpPr>
        <p:spPr>
          <a:xfrm>
            <a:off x="10355580" y="1499616"/>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7" name="Text 5">
            <a:hlinkClick r:id="rId1" tooltip=""/>
          </p:cNvPr>
          <p:cNvSpPr/>
          <p:nvPr/>
        </p:nvSpPr>
        <p:spPr>
          <a:xfrm>
            <a:off x="10140696" y="258775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github.com/uw-loci/qupath-extension-fiber-analysis</a:t>
            </a:r>
            <a:endParaRPr lang="en-US" sz="750" dirty="0"/>
          </a:p>
        </p:txBody>
      </p:sp>
      <p:sp>
        <p:nvSpPr>
          <p:cNvPr id="8" name="Text 6"/>
          <p:cNvSpPr/>
          <p:nvPr/>
        </p:nvSpPr>
        <p:spPr>
          <a:xfrm>
            <a:off x="10140696" y="2935224"/>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TME-Quant</a:t>
            </a:r>
            <a:endParaRPr lang="en-US" sz="1000" dirty="0"/>
          </a:p>
        </p:txBody>
      </p:sp>
      <p:sp>
        <p:nvSpPr>
          <p:cNvPr id="9" name="Shape 7"/>
          <p:cNvSpPr/>
          <p:nvPr/>
        </p:nvSpPr>
        <p:spPr>
          <a:xfrm>
            <a:off x="10355580" y="3154680"/>
            <a:ext cx="1051560" cy="1051560"/>
          </a:xfrm>
          <a:prstGeom prst="rect">
            <a:avLst/>
          </a:prstGeom>
          <a:solidFill>
            <a:srgbClr val="FFFFFF"/>
          </a:solidFill>
          <a:ln w="9525">
            <a:solidFill>
              <a:srgbClr val="3674C1"/>
            </a:solidFill>
            <a:prstDash val="dash"/>
          </a:ln>
        </p:spPr>
      </p:sp>
      <p:sp>
        <p:nvSpPr>
          <p:cNvPr id="10" name="Text 8"/>
          <p:cNvSpPr/>
          <p:nvPr/>
        </p:nvSpPr>
        <p:spPr>
          <a:xfrm>
            <a:off x="10355580" y="3154680"/>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1" name="Text 9">
            <a:hlinkClick r:id="rId2" tooltip=""/>
          </p:cNvPr>
          <p:cNvSpPr/>
          <p:nvPr/>
        </p:nvSpPr>
        <p:spPr>
          <a:xfrm>
            <a:off x="10140696" y="4242816"/>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github.com/MichaelSNelson/qupath-extension-TME-Quant</a:t>
            </a:r>
            <a:endParaRPr lang="en-US" sz="750" dirty="0"/>
          </a:p>
        </p:txBody>
      </p:sp>
      <p:sp>
        <p:nvSpPr>
          <p:cNvPr id="12" name="Shape 10"/>
          <p:cNvSpPr/>
          <p:nvPr/>
        </p:nvSpPr>
        <p:spPr>
          <a:xfrm>
            <a:off x="566928" y="1554480"/>
            <a:ext cx="4430268" cy="530352"/>
          </a:xfrm>
          <a:prstGeom prst="rect">
            <a:avLst/>
          </a:prstGeom>
          <a:solidFill>
            <a:srgbClr val="E8F0FA"/>
          </a:solidFill>
          <a:ln/>
        </p:spPr>
      </p:sp>
      <p:sp>
        <p:nvSpPr>
          <p:cNvPr id="13" name="Text 11"/>
          <p:cNvSpPr/>
          <p:nvPr/>
        </p:nvSpPr>
        <p:spPr>
          <a:xfrm>
            <a:off x="731520" y="1554480"/>
            <a:ext cx="410108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Fiber Analysis — measure a zone</a:t>
            </a:r>
            <a:endParaRPr lang="en-US" sz="2000" dirty="0"/>
          </a:p>
        </p:txBody>
      </p:sp>
      <p:sp>
        <p:nvSpPr>
          <p:cNvPr id="14" name="Text 12"/>
          <p:cNvSpPr/>
          <p:nvPr/>
        </p:nvSpPr>
        <p:spPr>
          <a:xfrm>
            <a:off x="658368" y="2240280"/>
            <a:ext cx="424738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 band of chosen width inside, outside, or across an annotation boundary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Straightness: wavy versus straightened fibers, per window and per ROI</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Morphometrics: coverage, length, branching, fractal dimension, gaps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Texture: the information fiber-tracing misses entirely</a:t>
            </a:r>
            <a:endParaRPr lang="en-US" sz="1800" dirty="0"/>
          </a:p>
        </p:txBody>
      </p:sp>
      <p:sp>
        <p:nvSpPr>
          <p:cNvPr id="15" name="Shape 13"/>
          <p:cNvSpPr/>
          <p:nvPr/>
        </p:nvSpPr>
        <p:spPr>
          <a:xfrm>
            <a:off x="5454396" y="1554480"/>
            <a:ext cx="4430268" cy="530352"/>
          </a:xfrm>
          <a:prstGeom prst="rect">
            <a:avLst/>
          </a:prstGeom>
          <a:solidFill>
            <a:srgbClr val="E8F0FA"/>
          </a:solidFill>
          <a:ln/>
        </p:spPr>
      </p:sp>
      <p:sp>
        <p:nvSpPr>
          <p:cNvPr id="16" name="Text 14"/>
          <p:cNvSpPr/>
          <p:nvPr/>
        </p:nvSpPr>
        <p:spPr>
          <a:xfrm>
            <a:off x="5618988" y="1554480"/>
            <a:ext cx="410108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TME-Quant — trace the fibers</a:t>
            </a:r>
            <a:endParaRPr lang="en-US" sz="2000" dirty="0"/>
          </a:p>
        </p:txBody>
      </p:sp>
      <p:sp>
        <p:nvSpPr>
          <p:cNvPr id="17" name="Text 15"/>
          <p:cNvSpPr/>
          <p:nvPr/>
        </p:nvSpPr>
        <p:spPr>
          <a:xfrm>
            <a:off x="5545836" y="2240280"/>
            <a:ext cx="424738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Individual fibers extracted and committed back as objects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Set the threshold by eye, with the mask shown before you commit</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Trace a few real fibers yourself, and it tunes its own parameters to match</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Fibers classified by orientation relative to a tumor boundary</a:t>
            </a:r>
            <a:endParaRPr lang="en-US" sz="1800" dirty="0"/>
          </a:p>
        </p:txBody>
      </p:sp>
      <p:sp>
        <p:nvSpPr>
          <p:cNvPr id="18" name="Text 1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33</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Please cite the methods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tools implement other people’s methods — cite the methods, not just the tools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CT-FIRE — Bredfeldt et al. 2014, Journal of Biomedical Optics 19(1):016007</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CurveAlign — LOCI, University of Wisconsin–Madison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TACS — Provenzano et al. 2006, BMC Medicine 4:38; Conklin et al. 2011</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TWOMBLI — Wershof et al. 2021, Life Science Alliance 4(3):e202000880</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Fiber Analysis re-implements TWOMBLI’s cheap metrics natively rather than bundling its FIJI plugins, so its fractal dimension and lacunarity diverge from TWOMBLI’s by roughly 20–40%. Do not compare them with published TWOMBLI numbers.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34</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07</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QPSC — QuPath Scope Control</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The most complex thing here, and the reason for the rest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35</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Draw a box, the microscope acquires 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10140696" y="128016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QPSC</a:t>
            </a:r>
            <a:endParaRPr lang="en-US" sz="1000" dirty="0"/>
          </a:p>
        </p:txBody>
      </p:sp>
      <p:sp>
        <p:nvSpPr>
          <p:cNvPr id="5" name="Shape 3"/>
          <p:cNvSpPr/>
          <p:nvPr/>
        </p:nvSpPr>
        <p:spPr>
          <a:xfrm>
            <a:off x="10264140" y="1499616"/>
            <a:ext cx="1234440" cy="1234440"/>
          </a:xfrm>
          <a:prstGeom prst="rect">
            <a:avLst/>
          </a:prstGeom>
          <a:solidFill>
            <a:srgbClr val="FFFFFF"/>
          </a:solidFill>
          <a:ln w="9525">
            <a:solidFill>
              <a:srgbClr val="3674C1"/>
            </a:solidFill>
            <a:prstDash val="dash"/>
          </a:ln>
        </p:spPr>
      </p:sp>
      <p:sp>
        <p:nvSpPr>
          <p:cNvPr id="6" name="Text 4"/>
          <p:cNvSpPr/>
          <p:nvPr/>
        </p:nvSpPr>
        <p:spPr>
          <a:xfrm>
            <a:off x="10264140" y="1499616"/>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7" name="Text 5">
            <a:hlinkClick r:id="rId1" tooltip=""/>
          </p:cNvPr>
          <p:cNvSpPr/>
          <p:nvPr/>
        </p:nvSpPr>
        <p:spPr>
          <a:xfrm>
            <a:off x="10140696" y="277063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github.com/uw-loci/qupath-extension-qpsc</a:t>
            </a:r>
            <a:endParaRPr lang="en-US" sz="750" dirty="0"/>
          </a:p>
        </p:txBody>
      </p:sp>
      <p:sp>
        <p:nvSpPr>
          <p:cNvPr id="8" name="Text 6"/>
          <p:cNvSpPr/>
          <p:nvPr/>
        </p:nvSpPr>
        <p:spPr>
          <a:xfrm>
            <a:off x="640080" y="1481328"/>
            <a:ext cx="922629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box around a region in QuPath. The stage moves, the tiles are captured and stitched, and the image appears back in your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Target specific annotations on a slide you already scanned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camera view, stage map, saved points, and a virtual joystick</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multi-channel fluorescence, and combined passes on a single-camera scope</a:t>
            </a:r>
            <a:endParaRPr lang="en-US" sz="20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36</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this changes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region you analyzed is the region you acquire at high resolution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metadata arrives in the project, not in a folder that gets separated from the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Stitching is a step in this pipeline, and it works on its own, which is why it is in your hands-on hour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Once acquisition is driven from QuPath, "acquisition software" and "analysis software" stop being separate places your data lives.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37</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SHOWN  ·  NOT YOURS TO RUN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Acquisition,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Draw a bounding box on a slide overview</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the stage move and the tiles come 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Stitched pyramidal image lands back in the project, with its metadata</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Then open it and annotate it — the loop closes</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stitching half — Tiles to Pyramid — you can install and use today, no microscope needed</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You watch this one: it needs a microscope, so nobody in the room runs it. About five minutes, with a recorded fallback if the network or the hardware disagrees.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38</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2194560"/>
            <a:ext cx="10268712" cy="1280160"/>
          </a:xfrm>
          <a:prstGeom prst="rect">
            <a:avLst/>
          </a:prstGeom>
          <a:noFill/>
          <a:ln/>
        </p:spPr>
        <p:txBody>
          <a:bodyPr wrap="square" rtlCol="0" anchor="ctr"/>
          <a:lstStyle/>
          <a:p>
            <a:pPr indent="0" marL="0">
              <a:buNone/>
            </a:pPr>
            <a:r>
              <a:rPr lang="en-US" sz="5400" b="1" dirty="0">
                <a:solidFill>
                  <a:srgbClr val="1F4C86"/>
                </a:solidFill>
                <a:latin typeface="Trebuchet MS" pitchFamily="34" charset="0"/>
                <a:ea typeface="Trebuchet MS" pitchFamily="34" charset="-122"/>
                <a:cs typeface="Trebuchet MS" pitchFamily="34" charset="-120"/>
              </a:rPr>
              <a:t>Questions?</a:t>
            </a:r>
            <a:endParaRPr lang="en-US" sz="5400" dirty="0"/>
          </a:p>
        </p:txBody>
      </p:sp>
      <p:sp>
        <p:nvSpPr>
          <p:cNvPr id="4" name="Text 2"/>
          <p:cNvSpPr/>
          <p:nvPr/>
        </p:nvSpPr>
        <p:spPr>
          <a:xfrm>
            <a:off x="960120" y="3566160"/>
            <a:ext cx="10268712" cy="548640"/>
          </a:xfrm>
          <a:prstGeom prst="rect">
            <a:avLst/>
          </a:prstGeom>
          <a:noFill/>
          <a:ln/>
        </p:spPr>
        <p:txBody>
          <a:bodyPr wrap="square" rtlCol="0" anchor="ctr"/>
          <a:lstStyle/>
          <a:p>
            <a:pPr indent="0" marL="0">
              <a:buNone/>
            </a:pPr>
            <a:r>
              <a:rPr lang="en-US" sz="2200" b="1" dirty="0">
                <a:solidFill>
                  <a:srgbClr val="3674C1"/>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5" name="Text 3"/>
          <p:cNvSpPr/>
          <p:nvPr/>
        </p:nvSpPr>
        <p:spPr>
          <a:xfrm>
            <a:off x="960120" y="4206240"/>
            <a:ext cx="9811512" cy="457200"/>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Everything after this slide is backup, kept for the questions it answers.</a:t>
            </a:r>
            <a:endParaRPr lang="en-US" sz="17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39</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B</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Backup</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Cut for time. Here if a question needs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40</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claim</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is usually treated as post-acquisition analysis software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Its extension mechanism reaches much further than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 analysis → validation → publication, in one environment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One project. One place your metadata lives. One place your figures come from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Sixteen extensions built at LOCI — thirteen you can install this afternoon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41</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extensions, one person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part of this talk most likely to be useful outside QuPath.</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That is not a normal output, and it is fair to ask how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large fraction of the code was written by an LLM coding agent under close direction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Several of you will go home and try this, so here is the honest version</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42</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worked, and what did not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Worked</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Give the model the real API, and require it to compile — a failing build is a free, correct signal</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Write the documentation first and treat it as the specification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Keep a persistent map of the codebase so each session does not re-derive it badly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Automate the tedious checks — API compatibility across sixteen repositories</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Did not</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"Build me an extension that does X" — compiles, and is wrong in ways you find in front of an audience</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Scientific correctness — a bootstrap that runs, looks plausible, and resamples the wrong axis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GUI behavior — nothing catches a dialog opening off-screen except a human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Licensing — get it wrong and you cannot distribute your work</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43</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honest summary</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AI assistance changed the cost of building an extension by about an order of magnitude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changed the correctness of one not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bottleneck moved from "can I write this Java" to "do I know what this should do, and can I tell when it is lying to me"</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better bottleneck to have. Still a bottleneck, and still yours.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44</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is underneath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Your choice of encoder, from lightweight convolutional networks to vision transformers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Start from weights pretrained on histology rather than on everyday photographs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from pathology foundation models, downloaded on demand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Normalization statistics sampled across the image, or reused from training, so every tile is scaled the same way</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Training really wants a GPU — on CPU it is hours instead of minutes, and CPU is the default install. That is why training is a demonstration and inference is the exercise.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45</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we are not covering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Two halves of the same workflow, in the right order — hers first, then this.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already has object classification — train on measurements, or threshold a single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We are not re-teaching it. Sara’s Monday session was the hi-plex classification half</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 follows are alternative mechanisms for getting a class onto a cell: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Unsupervised clustering · rule-based marker gating · propagation from a small hand-labeled subset · applying an existing classifier to a chosen subset instead of everything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Then: what those classified cells are actually telling you — which sit next to which, and whether that differs between images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If you missed hers, the two extensions she demonstrated are documented on our site too.</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46</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it is put together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easy part is the QuPath extension. Budget your time for the microscope side.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talks to a small command server, which drives Micro-Manager, which drives the hardware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instrument is described by its own YAML — the QuPath side carries no per-instrument code, only per-modality handlers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Micro-Manager remains the device layer. We did not reinvent it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47</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777240"/>
            <a:ext cx="10268712" cy="82296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Everything is here</a:t>
            </a:r>
            <a:endParaRPr lang="en-US" sz="4000" dirty="0"/>
          </a:p>
        </p:txBody>
      </p:sp>
      <p:sp>
        <p:nvSpPr>
          <p:cNvPr id="4" name="Shape 2"/>
          <p:cNvSpPr/>
          <p:nvPr/>
        </p:nvSpPr>
        <p:spPr>
          <a:xfrm>
            <a:off x="960120" y="1691640"/>
            <a:ext cx="8686800" cy="713232"/>
          </a:xfrm>
          <a:prstGeom prst="rect">
            <a:avLst/>
          </a:prstGeom>
          <a:solidFill>
            <a:srgbClr val="E8F0FA"/>
          </a:solidFill>
          <a:ln/>
        </p:spPr>
      </p:sp>
      <p:sp>
        <p:nvSpPr>
          <p:cNvPr id="5" name="Text 3"/>
          <p:cNvSpPr/>
          <p:nvPr/>
        </p:nvSpPr>
        <p:spPr>
          <a:xfrm>
            <a:off x="1188720" y="1691640"/>
            <a:ext cx="8412480" cy="713232"/>
          </a:xfrm>
          <a:prstGeom prst="rect">
            <a:avLst/>
          </a:prstGeom>
          <a:noFill/>
          <a:ln/>
        </p:spPr>
        <p:txBody>
          <a:bodyPr wrap="square" rtlCol="0" anchor="ctr"/>
          <a:lstStyle/>
          <a:p>
            <a:pPr indent="0" marL="0">
              <a:buNone/>
            </a:pPr>
            <a:r>
              <a:rPr lang="en-US" sz="2200" b="1" dirty="0">
                <a:solidFill>
                  <a:srgbClr val="1F4C86"/>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6" name="Text 4"/>
          <p:cNvSpPr/>
          <p:nvPr/>
        </p:nvSpPr>
        <p:spPr>
          <a:xfrm>
            <a:off x="960120" y="2697480"/>
            <a:ext cx="9811512" cy="2560320"/>
          </a:xfrm>
          <a:prstGeom prst="rect">
            <a:avLst/>
          </a:prstGeom>
          <a:noFill/>
          <a:ln/>
        </p:spPr>
        <p:txBody>
          <a:bodyPr wrap="square" rtlCol="0" anchor="t"/>
          <a:lstStyle/>
          <a:p>
            <a:pPr indent="0" marL="0">
              <a:spcAft>
                <a:spcPts val="1000"/>
              </a:spcAft>
              <a:buNone/>
            </a:pPr>
            <a:r>
              <a:rPr lang="en-US" sz="1900" dirty="0">
                <a:solidFill>
                  <a:srgbClr val="1F2933"/>
                </a:solidFill>
                <a:latin typeface="Calibri" pitchFamily="34" charset="0"/>
                <a:ea typeface="Calibri" pitchFamily="34" charset="-122"/>
                <a:cs typeface="Calibri" pitchFamily="34" charset="-120"/>
              </a:rPr>
              <a:t>A written walkthrough for every tool, videos to follow  ·  setup instructions  ·  sample data  ·  these slides
</a:t>
            </a:r>
            <a:pPr indent="0" marL="0">
              <a:spcAft>
                <a:spcPts val="600"/>
              </a:spcAft>
              <a:buNone/>
            </a:pPr>
            <a:r>
              <a:rPr lang="en-US" sz="1900" dirty="0">
                <a:solidFill>
                  <a:srgbClr val="1F2933"/>
                </a:solidFill>
                <a:latin typeface="Calibri" pitchFamily="34" charset="0"/>
                <a:ea typeface="Calibri" pitchFamily="34" charset="-122"/>
                <a:cs typeface="Calibri" pitchFamily="34" charset="-120"/>
              </a:rPr>
              <a:t>Add one catalog in QuPath, install only what interests you, and restart:
</a:t>
            </a:r>
            <a:pPr indent="0" marL="0">
              <a:spcAft>
                <a:spcPts val="400"/>
              </a:spcAft>
              <a:buNone/>
            </a:pPr>
            <a:r>
              <a:rPr lang="en-US" sz="1800" b="1" dirty="0">
                <a:solidFill>
                  <a:srgbClr val="1F4C86"/>
                </a:solidFill>
                <a:latin typeface="Calibri" pitchFamily="34" charset="0"/>
                <a:ea typeface="Calibri" pitchFamily="34" charset="-122"/>
                <a:cs typeface="Calibri" pitchFamily="34" charset="-120"/>
              </a:rPr>
              <a:t>github.com/uw-loci/qupath-catalog-mikenelson
</a:t>
            </a:r>
            <a:pPr indent="0" marL="0">
              <a:spcAft>
                <a:spcPts val="1400"/>
              </a:spcAft>
              <a:buNone/>
            </a:pPr>
            <a:r>
              <a:rPr lang="en-US" sz="1700" i="1" dirty="0">
                <a:solidFill>
                  <a:srgbClr val="5A6675"/>
                </a:solidFill>
                <a:latin typeface="Calibri" pitchFamily="34" charset="0"/>
                <a:ea typeface="Calibri" pitchFamily="34" charset="-122"/>
                <a:cs typeface="Calibri" pitchFamily="34" charset="-120"/>
              </a:rPr>
              <a:t>Adding it installs nothing — you pick from the list. Two entries download 1.5–4 GB.
</a:t>
            </a:r>
            <a:pPr indent="0" marL="0">
              <a:buNone/>
            </a:pPr>
            <a:r>
              <a:rPr lang="en-US" sz="1900" b="1" dirty="0">
                <a:solidFill>
                  <a:srgbClr val="1F4C86"/>
                </a:solidFill>
                <a:latin typeface="Calibri" pitchFamily="34" charset="0"/>
                <a:ea typeface="Calibri" pitchFamily="34" charset="-122"/>
                <a:cs typeface="Calibri" pitchFamily="34" charset="-120"/>
              </a:rPr>
              <a:t>Whatever we did not reach today, the walkthrough and the video are waiting for you.</a:t>
            </a:r>
            <a:endParaRPr lang="en-US" sz="1900" dirty="0"/>
          </a:p>
        </p:txBody>
      </p:sp>
      <p:sp>
        <p:nvSpPr>
          <p:cNvPr id="7" name="Text 5"/>
          <p:cNvSpPr/>
          <p:nvPr/>
        </p:nvSpPr>
        <p:spPr>
          <a:xfrm>
            <a:off x="960120" y="5230368"/>
            <a:ext cx="9811512" cy="365760"/>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Slide-label images courtesy of Sara McArdle and Zbigniew Mikulski, La Jolla Institute for Immunology. Other data: public images, a CC0 synthetic set, and tiles acquired at LOCI.</a:t>
            </a:r>
            <a:endParaRPr lang="en-US" sz="1600" dirty="0"/>
          </a:p>
        </p:txBody>
      </p:sp>
      <p:sp>
        <p:nvSpPr>
          <p:cNvPr id="8" name="Text 6"/>
          <p:cNvSpPr/>
          <p:nvPr/>
        </p:nvSpPr>
        <p:spPr>
          <a:xfrm>
            <a:off x="960120" y="5532120"/>
            <a:ext cx="9811512" cy="457200"/>
          </a:xfrm>
          <a:prstGeom prst="rect">
            <a:avLst/>
          </a:prstGeom>
          <a:noFill/>
          <a:ln/>
        </p:spPr>
        <p:txBody>
          <a:bodyPr wrap="square" rtlCol="0" anchor="ctr"/>
          <a:lstStyle/>
          <a:p>
            <a:pPr indent="0" marL="0">
              <a:buNone/>
            </a:pPr>
            <a:r>
              <a:rPr lang="en-US" sz="1800" i="1" dirty="0">
                <a:solidFill>
                  <a:srgbClr val="5A6675"/>
                </a:solidFill>
                <a:latin typeface="Calibri" pitchFamily="34" charset="0"/>
                <a:ea typeface="Calibri" pitchFamily="34" charset="-122"/>
                <a:cs typeface="Calibri" pitchFamily="34" charset="-120"/>
              </a:rPr>
              <a:t>Questions welcome now, during the hands-on hour, or by email afterwards.</a:t>
            </a:r>
            <a:endParaRPr lang="en-US" sz="18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48</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LOCI, University of Wisconsin-Madison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 Extensions for QuPath</dc:title>
  <dc:subject>PptxGenJS Presentation</dc:subject>
  <dc:creator>Michael S. Nelson</dc:creator>
  <cp:lastModifiedBy>Michael S. Nelson</cp:lastModifiedBy>
  <cp:revision>1</cp:revision>
  <dcterms:created xsi:type="dcterms:W3CDTF">2026-09-21T22:55:51Z</dcterms:created>
  <dcterms:modified xsi:type="dcterms:W3CDTF">2026-09-21T22:55:51Z</dcterms:modified>
</cp:coreProperties>
</file>