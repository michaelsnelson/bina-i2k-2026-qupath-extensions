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</p:sldIdLst>
  <p:notesMasterIdLst>
    <p:notesMasterId r:id="rId5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notesMaster" Target="notesMasters/notesMaster1.xml"/><Relationship Id="rId52" Type="http://schemas.openxmlformats.org/officeDocument/2006/relationships/presProps" Target="presProps.xml"/><Relationship Id="rId53" Type="http://schemas.openxmlformats.org/officeDocument/2006/relationships/viewProps" Target="viewProps.xml"/><Relationship Id="rId54" Type="http://schemas.openxmlformats.org/officeDocument/2006/relationships/theme" Target="theme/theme1.xml"/><Relationship Id="rId5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74320" cy="6858000"/>
          </a:xfrm>
          <a:prstGeom prst="rect">
            <a:avLst/>
          </a:prstGeom>
          <a:solidFill>
            <a:srgbClr val="3674C1"/>
          </a:solidFill>
          <a:ln/>
        </p:spPr>
      </p:sp>
      <p:sp>
        <p:nvSpPr>
          <p:cNvPr id="3" name="Text 1"/>
          <p:cNvSpPr/>
          <p:nvPr/>
        </p:nvSpPr>
        <p:spPr>
          <a:xfrm>
            <a:off x="960120" y="1051560"/>
            <a:ext cx="10268712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spc="150" kern="0" dirty="0">
                <a:solidFill>
                  <a:srgbClr val="3674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I2K  ·  BioImaging North America Congress 2026</a:t>
            </a:r>
            <a:endParaRPr lang="en-US" sz="1700" dirty="0"/>
          </a:p>
        </p:txBody>
      </p:sp>
      <p:sp>
        <p:nvSpPr>
          <p:cNvPr id="4" name="Text 2"/>
          <p:cNvSpPr/>
          <p:nvPr/>
        </p:nvSpPr>
        <p:spPr>
          <a:xfrm>
            <a:off x="960120" y="1481328"/>
            <a:ext cx="10268712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1F4C8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New Extensions for QuPath</a:t>
            </a:r>
            <a:endParaRPr lang="en-US" sz="4600" dirty="0"/>
          </a:p>
        </p:txBody>
      </p:sp>
      <p:sp>
        <p:nvSpPr>
          <p:cNvPr id="5" name="Text 3"/>
          <p:cNvSpPr/>
          <p:nvPr/>
        </p:nvSpPr>
        <p:spPr>
          <a:xfrm>
            <a:off x="960120" y="2578608"/>
            <a:ext cx="9445752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2100" dirty="0">
                <a:solidFill>
                  <a:srgbClr val="5A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simple (dialog manager, wizard wand, image export)</a:t>
            </a:r>
            <a:endParaRPr lang="en-US" sz="21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100" dirty="0">
                <a:solidFill>
                  <a:srgbClr val="5A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complex (DL cell and pixel classifiers, microscope control)</a:t>
            </a:r>
            <a:endParaRPr lang="en-US" sz="2100" dirty="0"/>
          </a:p>
        </p:txBody>
      </p:sp>
      <p:sp>
        <p:nvSpPr>
          <p:cNvPr id="6" name="Shape 4"/>
          <p:cNvSpPr/>
          <p:nvPr/>
        </p:nvSpPr>
        <p:spPr>
          <a:xfrm>
            <a:off x="960120" y="3657600"/>
            <a:ext cx="2377440" cy="54864"/>
          </a:xfrm>
          <a:prstGeom prst="rect">
            <a:avLst/>
          </a:prstGeom>
          <a:solidFill>
            <a:srgbClr val="3674C1"/>
          </a:solidFill>
          <a:ln/>
        </p:spPr>
      </p:sp>
      <p:sp>
        <p:nvSpPr>
          <p:cNvPr id="7" name="Text 5"/>
          <p:cNvSpPr/>
          <p:nvPr/>
        </p:nvSpPr>
        <p:spPr>
          <a:xfrm>
            <a:off x="960120" y="3886200"/>
            <a:ext cx="73152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293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Michael S. Nelson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960120" y="4279392"/>
            <a:ext cx="7315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700" dirty="0">
                <a:solidFill>
                  <a:srgbClr val="5A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Laboratory for Optical and Computational Instrumentation (LOCI)</a:t>
            </a:r>
            <a:endParaRPr lang="en-US" sz="17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700" dirty="0">
                <a:solidFill>
                  <a:srgbClr val="5A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University of Wisconsin–Madison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960120" y="5257800"/>
            <a:ext cx="6949440" cy="566928"/>
          </a:xfrm>
          <a:prstGeom prst="rect">
            <a:avLst/>
          </a:prstGeom>
          <a:solidFill>
            <a:srgbClr val="E8F0FA"/>
          </a:solidFill>
          <a:ln/>
        </p:spPr>
      </p:sp>
      <p:sp>
        <p:nvSpPr>
          <p:cNvPr id="10" name="Text 8"/>
          <p:cNvSpPr/>
          <p:nvPr/>
        </p:nvSpPr>
        <p:spPr>
          <a:xfrm>
            <a:off x="1143000" y="5257800"/>
            <a:ext cx="667512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michaelsnelson.github.io/BINA-I2K-2026-QuPath-Extensions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7525512" y="5257800"/>
            <a:ext cx="4023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5A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Tuesday 29 September 2026  ·  10:30–12:30</a:t>
            </a:r>
            <a:endParaRPr lang="en-US" sz="1500" dirty="0"/>
          </a:p>
          <a:p>
            <a:pPr algn="r"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5A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Morgridge Hall, WARF Seminar Hub — Rm. 7560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11274552" y="6291072"/>
            <a:ext cx="457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A8B2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55096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4C8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Who this is for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66928" y="1097280"/>
            <a:ext cx="1920240" cy="50292"/>
          </a:xfrm>
          <a:prstGeom prst="rect">
            <a:avLst/>
          </a:prstGeom>
          <a:solidFill>
            <a:srgbClr val="3674C1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81328"/>
            <a:ext cx="10963656" cy="45537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Anyone who already uses QuPath and has run into its edges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Biologists, pathologists, core facility staff, graduate students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programming required — nothing today asks you to write a script</a:t>
            </a:r>
            <a:endParaRPr lang="en-US" sz="2000" dirty="0"/>
          </a:p>
          <a:p>
            <a:pPr lvl="1" marL="685800" indent="-342900">
              <a:lnSpc>
                <a:spcPct val="105000"/>
              </a:lnSpc>
              <a:spcAft>
                <a:spcPts val="800"/>
              </a:spcAft>
              <a:buSzPct val="100000"/>
              <a:buChar char="▪"/>
            </a:pPr>
            <a:r>
              <a:rPr lang="en-US" sz="1700" dirty="0">
                <a:solidFill>
                  <a:srgbClr val="5A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few tools generate scripts for you; you never have to write one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Helpful if you have opened a project, drawn an annotation, run cell detection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566928" y="5650992"/>
            <a:ext cx="11055096" cy="566928"/>
          </a:xfrm>
          <a:prstGeom prst="rect">
            <a:avLst/>
          </a:prstGeom>
          <a:solidFill>
            <a:srgbClr val="F4F8FD"/>
          </a:solidFill>
          <a:ln w="9525">
            <a:solidFill>
              <a:srgbClr val="3674C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68096" y="5650992"/>
            <a:ext cx="106527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4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shown today is free, open source, and installable from inside QuPath.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1274552" y="6291072"/>
            <a:ext cx="457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A8B2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55096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4C8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 claim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66928" y="1097280"/>
            <a:ext cx="1920240" cy="50292"/>
          </a:xfrm>
          <a:prstGeom prst="rect">
            <a:avLst/>
          </a:prstGeom>
          <a:solidFill>
            <a:srgbClr val="3674C1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81328"/>
            <a:ext cx="10963656" cy="45537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QuPath is usually treated as post-acquisition analysis software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Its extension mechanism reaches much further than that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Acquisition → analysis → validation → publication, in one environment</a:t>
            </a:r>
            <a:endParaRPr lang="en-US" sz="2000" dirty="0"/>
          </a:p>
          <a:p>
            <a:pPr lvl="1" marL="685800" indent="-342900">
              <a:lnSpc>
                <a:spcPct val="105000"/>
              </a:lnSpc>
              <a:spcAft>
                <a:spcPts val="800"/>
              </a:spcAft>
              <a:buSzPct val="100000"/>
              <a:buChar char="▪"/>
            </a:pPr>
            <a:r>
              <a:rPr lang="en-US" sz="1700" dirty="0">
                <a:solidFill>
                  <a:srgbClr val="5A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project. One place your metadata lives. One place your figures come from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Sixteen extensions built at LOCI — thirteen you can install this afternoon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11274552" y="6291072"/>
            <a:ext cx="457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A8B2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55096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4C8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How the hour runs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66928" y="1097280"/>
            <a:ext cx="1920240" cy="50292"/>
          </a:xfrm>
          <a:prstGeom prst="rect">
            <a:avLst/>
          </a:prstGeom>
          <a:solidFill>
            <a:srgbClr val="3674C1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81328"/>
            <a:ext cx="10963656" cy="45537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Simple first, complex last — exactly as the session title promises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 quality-of-life tools → export → project-scale work → deep learning → microscope control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things are demonstrated but not practised. I will say why each time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Second hour is optional, hands-on, and self-directed — four tracks, or bring your own data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566928" y="5650992"/>
            <a:ext cx="11055096" cy="566928"/>
          </a:xfrm>
          <a:prstGeom prst="rect">
            <a:avLst/>
          </a:prstGeom>
          <a:solidFill>
            <a:srgbClr val="F4F8FD"/>
          </a:solidFill>
          <a:ln w="9525">
            <a:solidFill>
              <a:srgbClr val="3674C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68096" y="5650992"/>
            <a:ext cx="106527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4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Slides, guides, exercises and sample data all live at the address above.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1274552" y="6291072"/>
            <a:ext cx="457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A8B2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55096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4C8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Sixteen tools, two hours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66928" y="1097280"/>
            <a:ext cx="1920240" cy="50292"/>
          </a:xfrm>
          <a:prstGeom prst="rect">
            <a:avLst/>
          </a:prstGeom>
          <a:solidFill>
            <a:srgbClr val="3674C1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243584"/>
            <a:ext cx="1105509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5A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Being up front about this now, rather than rushing at 11:20.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640080" y="1755648"/>
            <a:ext cx="10963656" cy="42793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There is time for a handful of tools done properly, not sixteen done badly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So: every tool has a full written walkthrough, and a video of me doing it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Nothing depends on being in the room when your tool comes up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ones we demo live is up to you — vote on the next slide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566928" y="5650992"/>
            <a:ext cx="11055096" cy="566928"/>
          </a:xfrm>
          <a:prstGeom prst="rect">
            <a:avLst/>
          </a:prstGeom>
          <a:solidFill>
            <a:srgbClr val="F4F8FD"/>
          </a:solidFill>
          <a:ln w="9525">
            <a:solidFill>
              <a:srgbClr val="3674C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68096" y="5650992"/>
            <a:ext cx="106527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4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Walkthroughs and videos for all sixteen: michaelsnelson.github.io/BINA-I2K-2026-QuPath-Extensions/docs/walkthroughs.html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1274552" y="6291072"/>
            <a:ext cx="457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A8B2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822960"/>
            <a:ext cx="11055096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F4C8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Vote for what you want to see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566928" y="1691640"/>
            <a:ext cx="1920240" cy="50292"/>
          </a:xfrm>
          <a:prstGeom prst="rect">
            <a:avLst/>
          </a:prstGeom>
          <a:solidFill>
            <a:srgbClr val="3674C1"/>
          </a:solidFill>
          <a:ln/>
        </p:spPr>
      </p:sp>
      <p:sp>
        <p:nvSpPr>
          <p:cNvPr id="4" name="Shape 2"/>
          <p:cNvSpPr/>
          <p:nvPr/>
        </p:nvSpPr>
        <p:spPr>
          <a:xfrm>
            <a:off x="566928" y="2148840"/>
            <a:ext cx="11055096" cy="1371600"/>
          </a:xfrm>
          <a:prstGeom prst="rect">
            <a:avLst/>
          </a:prstGeom>
          <a:solidFill>
            <a:srgbClr val="E8F0FA"/>
          </a:solidFill>
          <a:ln/>
        </p:spPr>
      </p:sp>
      <p:sp>
        <p:nvSpPr>
          <p:cNvPr id="5" name="Text 3"/>
          <p:cNvSpPr/>
          <p:nvPr/>
        </p:nvSpPr>
        <p:spPr>
          <a:xfrm>
            <a:off x="841248" y="2148840"/>
            <a:ext cx="10506456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1F4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%%PADLET_URL%%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566928" y="3749040"/>
            <a:ext cx="11055096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1200"/>
              </a:spcAft>
              <a:buNone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Vote for as many as you like. Add a comment if you have a specific question, or a dataset you are stuck on.
</a:t>
            </a:r>
            <a:pPr indent="0" marL="0">
              <a:spcAft>
                <a:spcPts val="1200"/>
              </a:spcAft>
              <a:buNone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will read it now and adjust the running order.
</a:t>
            </a:r>
            <a:pPr indent="0" marL="0">
              <a:buNone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your tool does not make the cut, its walkthrough and video are on the site — and I am happy to sit down with you in the second hour.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11274552" y="6291072"/>
            <a:ext cx="457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A8B2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1417320"/>
            <a:ext cx="12188952" cy="3108960"/>
          </a:xfrm>
          <a:prstGeom prst="rect">
            <a:avLst/>
          </a:prstGeom>
          <a:solidFill>
            <a:srgbClr val="E8F0F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417320"/>
            <a:ext cx="201168" cy="3108960"/>
          </a:xfrm>
          <a:prstGeom prst="rect">
            <a:avLst/>
          </a:prstGeom>
          <a:solidFill>
            <a:srgbClr val="3674C1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691640"/>
            <a:ext cx="1828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3674C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01</a:t>
            </a:r>
            <a:endParaRPr lang="en-US" sz="5400" dirty="0"/>
          </a:p>
        </p:txBody>
      </p:sp>
      <p:sp>
        <p:nvSpPr>
          <p:cNvPr id="5" name="Text 3"/>
          <p:cNvSpPr/>
          <p:nvPr/>
        </p:nvSpPr>
        <p:spPr>
          <a:xfrm>
            <a:off x="566928" y="2606040"/>
            <a:ext cx="11055096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4C8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Extensions and catalogs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566928" y="3456432"/>
            <a:ext cx="10140696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5A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they are, how you install them, and how this suite got built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566928" y="6199632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8B2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michaelsnelson.github.io/BINA-I2K-2026-QuPath-Extensions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1274552" y="6291072"/>
            <a:ext cx="457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A8B2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55096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4C8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What an extension actually is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66928" y="1097280"/>
            <a:ext cx="1920240" cy="50292"/>
          </a:xfrm>
          <a:prstGeom prst="rect">
            <a:avLst/>
          </a:prstGeom>
          <a:solidFill>
            <a:srgbClr val="3674C1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81328"/>
            <a:ext cx="10963656" cy="45537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single Java component that QuPath loads when it starts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can add menu items, toolbar buttons, dialogs, viewers, whole pipelines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you see today was registered by an extension during startup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install one by dropping it in, or — much better — from a catalog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11274552" y="6291072"/>
            <a:ext cx="457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A8B2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55096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4C8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Three things that bite everyone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66928" y="1097280"/>
            <a:ext cx="1920240" cy="50292"/>
          </a:xfrm>
          <a:prstGeom prst="rect">
            <a:avLst/>
          </a:prstGeom>
          <a:solidFill>
            <a:srgbClr val="3674C1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81328"/>
            <a:ext cx="10963656" cy="45537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must restart QuPath. It copies the extension into place but will not load it until you do</a:t>
            </a:r>
            <a:endParaRPr lang="en-US" sz="2000" dirty="0"/>
          </a:p>
          <a:p>
            <a:pPr lvl="1" marL="685800" indent="-342900">
              <a:lnSpc>
                <a:spcPct val="105000"/>
              </a:lnSpc>
              <a:spcAft>
                <a:spcPts val="800"/>
              </a:spcAft>
              <a:buSzPct val="100000"/>
              <a:buChar char="▪"/>
            </a:pPr>
            <a:r>
              <a:rPr lang="en-US" sz="1700" dirty="0">
                <a:solidFill>
                  <a:srgbClr val="5A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roughly half of all "the menu item is not there" reports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Extensions live per QuPath version — installing 0.7 will not disturb your 0.6 setup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They are compiled against a specific QuPath API, which is why today needs 0.7 or later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566928" y="5650992"/>
            <a:ext cx="11055096" cy="566928"/>
          </a:xfrm>
          <a:prstGeom prst="rect">
            <a:avLst/>
          </a:prstGeom>
          <a:solidFill>
            <a:srgbClr val="F4F8FD"/>
          </a:solidFill>
          <a:ln w="9525">
            <a:solidFill>
              <a:srgbClr val="3674C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68096" y="5650992"/>
            <a:ext cx="106527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4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Workshop requirement: QuPath 0.7.0 or later. Nothing here runs on 0.6.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1274552" y="6291072"/>
            <a:ext cx="457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A8B2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55096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4C8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Catalogs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66928" y="1097280"/>
            <a:ext cx="1920240" cy="50292"/>
          </a:xfrm>
          <a:prstGeom prst="rect">
            <a:avLst/>
          </a:prstGeom>
          <a:solidFill>
            <a:srgbClr val="3674C1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243584"/>
            <a:ext cx="1105509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5A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you remember one slide from this section, make it this one.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640080" y="1755648"/>
            <a:ext cx="10963656" cy="42793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URL. QuPath then handles installing, listing, and updating for you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Extensions &gt; Manage extensions &gt; Manage extension catalogs &gt; Add catalog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LOCI catalog  —  github.com/uw-loci/qupath-catalog-mikenelson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QPSC catalog  —  github.com/uw-loci/qupath-catalog-qpsc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pick what you want from the list. You do not have to install everything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566928" y="5650992"/>
            <a:ext cx="11055096" cy="566928"/>
          </a:xfrm>
          <a:prstGeom prst="rect">
            <a:avLst/>
          </a:prstGeom>
          <a:solidFill>
            <a:srgbClr val="F4F8FD"/>
          </a:solidFill>
          <a:ln w="9525">
            <a:solidFill>
              <a:srgbClr val="3674C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68096" y="5650992"/>
            <a:ext cx="106527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4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Publishing your own catalog takes about twenty minutes and removes a support burden.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1274552" y="6291072"/>
            <a:ext cx="457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A8B2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4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55096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4C8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Sixteen extensions, one person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66928" y="1097280"/>
            <a:ext cx="1920240" cy="50292"/>
          </a:xfrm>
          <a:prstGeom prst="rect">
            <a:avLst/>
          </a:prstGeom>
          <a:solidFill>
            <a:srgbClr val="3674C1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243584"/>
            <a:ext cx="1105509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5A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part of this talk most likely to be useful outside QuPath.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640080" y="1755648"/>
            <a:ext cx="10963656" cy="42793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That is not a normal output, and it is fair to ask how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large fraction of the code was written by an LLM coding agent under close direction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Several of you will go home and try this, so here is the honest version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1274552" y="6291072"/>
            <a:ext cx="457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A8B2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4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55096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4C8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What worked, and what did not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66928" y="1097280"/>
            <a:ext cx="1920240" cy="50292"/>
          </a:xfrm>
          <a:prstGeom prst="rect">
            <a:avLst/>
          </a:prstGeom>
          <a:solidFill>
            <a:srgbClr val="3674C1"/>
          </a:solidFill>
          <a:ln/>
        </p:spPr>
      </p:sp>
      <p:sp>
        <p:nvSpPr>
          <p:cNvPr id="4" name="Shape 2"/>
          <p:cNvSpPr/>
          <p:nvPr/>
        </p:nvSpPr>
        <p:spPr>
          <a:xfrm>
            <a:off x="566928" y="1554480"/>
            <a:ext cx="5298948" cy="530352"/>
          </a:xfrm>
          <a:prstGeom prst="rect">
            <a:avLst/>
          </a:prstGeom>
          <a:solidFill>
            <a:srgbClr val="E8F0FA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1554480"/>
            <a:ext cx="4969764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F4C8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Worked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658368" y="2240280"/>
            <a:ext cx="5116068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100"/>
              </a:spcAft>
              <a:buSzPct val="100000"/>
              <a:buChar char="•"/>
            </a:pPr>
            <a:r>
              <a:rPr lang="en-US" sz="18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Give the model the real API, and require it to compile — a failing build is a free, correct signal</a:t>
            </a:r>
            <a:endParaRPr lang="en-US" sz="1800" dirty="0"/>
          </a:p>
          <a:p>
            <a:pPr marL="342900" indent="-342900">
              <a:spcAft>
                <a:spcPts val="1100"/>
              </a:spcAft>
              <a:buSzPct val="100000"/>
              <a:buChar char="•"/>
            </a:pPr>
            <a:r>
              <a:rPr lang="en-US" sz="18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documentation first and treat it as the specification</a:t>
            </a:r>
            <a:endParaRPr lang="en-US" sz="1800" dirty="0"/>
          </a:p>
          <a:p>
            <a:pPr marL="342900" indent="-342900">
              <a:spcAft>
                <a:spcPts val="1100"/>
              </a:spcAft>
              <a:buSzPct val="100000"/>
              <a:buChar char="•"/>
            </a:pPr>
            <a:r>
              <a:rPr lang="en-US" sz="18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 a persistent map of the codebase so each session does not re-derive it badly</a:t>
            </a:r>
            <a:endParaRPr lang="en-US" sz="1800" dirty="0"/>
          </a:p>
          <a:p>
            <a:pPr marL="342900" indent="-342900">
              <a:spcAft>
                <a:spcPts val="1100"/>
              </a:spcAft>
              <a:buSzPct val="100000"/>
              <a:buChar char="•"/>
            </a:pPr>
            <a:r>
              <a:rPr lang="en-US" sz="18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Automate the tedious checks — API compatibility across sixteen repositories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6323076" y="1554480"/>
            <a:ext cx="5298948" cy="530352"/>
          </a:xfrm>
          <a:prstGeom prst="rect">
            <a:avLst/>
          </a:prstGeom>
          <a:solidFill>
            <a:srgbClr val="E8F0FA"/>
          </a:solidFill>
          <a:ln/>
        </p:spPr>
      </p:sp>
      <p:sp>
        <p:nvSpPr>
          <p:cNvPr id="8" name="Text 6"/>
          <p:cNvSpPr/>
          <p:nvPr/>
        </p:nvSpPr>
        <p:spPr>
          <a:xfrm>
            <a:off x="6487668" y="1554480"/>
            <a:ext cx="4969764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B26A0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Did not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6414516" y="2240280"/>
            <a:ext cx="5116068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100"/>
              </a:spcAft>
              <a:buSzPct val="100000"/>
              <a:buChar char="•"/>
            </a:pPr>
            <a:r>
              <a:rPr lang="en-US" sz="18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"Build me an extension that does X" — compiles, and is wrong in ways you find in front of an audience</a:t>
            </a:r>
            <a:endParaRPr lang="en-US" sz="1800" dirty="0"/>
          </a:p>
          <a:p>
            <a:pPr marL="342900" indent="-342900">
              <a:spcAft>
                <a:spcPts val="1100"/>
              </a:spcAft>
              <a:buSzPct val="100000"/>
              <a:buChar char="•"/>
            </a:pPr>
            <a:r>
              <a:rPr lang="en-US" sz="18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Scientific correctness — a bootstrap that runs, looks plausible, and resamples the wrong axis</a:t>
            </a:r>
            <a:endParaRPr lang="en-US" sz="1800" dirty="0"/>
          </a:p>
          <a:p>
            <a:pPr marL="342900" indent="-342900">
              <a:spcAft>
                <a:spcPts val="1100"/>
              </a:spcAft>
              <a:buSzPct val="100000"/>
              <a:buChar char="•"/>
            </a:pPr>
            <a:r>
              <a:rPr lang="en-US" sz="18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GUI behaviour — nothing catches a dialog opening off-screen except a human</a:t>
            </a:r>
            <a:endParaRPr lang="en-US" sz="1800" dirty="0"/>
          </a:p>
          <a:p>
            <a:pPr marL="342900" indent="-342900">
              <a:spcAft>
                <a:spcPts val="1100"/>
              </a:spcAft>
              <a:buSzPct val="100000"/>
              <a:buChar char="•"/>
            </a:pPr>
            <a:r>
              <a:rPr lang="en-US" sz="18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Licensing — get it wrong and you cannot distribute your work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11274552" y="6291072"/>
            <a:ext cx="457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A8B2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4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55096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4C8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 honest summary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66928" y="1097280"/>
            <a:ext cx="1920240" cy="50292"/>
          </a:xfrm>
          <a:prstGeom prst="rect">
            <a:avLst/>
          </a:prstGeom>
          <a:solidFill>
            <a:srgbClr val="3674C1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81328"/>
            <a:ext cx="10963656" cy="45537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assistance changed the cost of building an extension by about an order of magnitude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changed the correctness of one not at all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bottleneck moved from "can I write this Java" to "do I know what this should do, and can I tell when it is lying to me"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566928" y="5650992"/>
            <a:ext cx="11055096" cy="566928"/>
          </a:xfrm>
          <a:prstGeom prst="rect">
            <a:avLst/>
          </a:prstGeom>
          <a:solidFill>
            <a:srgbClr val="F4F8FD"/>
          </a:solidFill>
          <a:ln w="9525">
            <a:solidFill>
              <a:srgbClr val="3674C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68096" y="5650992"/>
            <a:ext cx="106527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4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better bottleneck to have. Still a bottleneck, and still yours.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1274552" y="6291072"/>
            <a:ext cx="457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A8B2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4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1417320"/>
            <a:ext cx="12188952" cy="3108960"/>
          </a:xfrm>
          <a:prstGeom prst="rect">
            <a:avLst/>
          </a:prstGeom>
          <a:solidFill>
            <a:srgbClr val="E8F0F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417320"/>
            <a:ext cx="201168" cy="3108960"/>
          </a:xfrm>
          <a:prstGeom prst="rect">
            <a:avLst/>
          </a:prstGeom>
          <a:solidFill>
            <a:srgbClr val="3674C1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691640"/>
            <a:ext cx="1828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3674C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02</a:t>
            </a:r>
            <a:endParaRPr lang="en-US" sz="5400" dirty="0"/>
          </a:p>
        </p:txBody>
      </p:sp>
      <p:sp>
        <p:nvSpPr>
          <p:cNvPr id="5" name="Text 3"/>
          <p:cNvSpPr/>
          <p:nvPr/>
        </p:nvSpPr>
        <p:spPr>
          <a:xfrm>
            <a:off x="566928" y="2606040"/>
            <a:ext cx="11055096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4C8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Simple wins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566928" y="3456432"/>
            <a:ext cx="10140696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5A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 extensions that pay for themselves on the first day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566928" y="6199632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8B2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michaelsnelson.github.io/BINA-I2K-2026-QuPath-Extensions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1274552" y="6291072"/>
            <a:ext cx="457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A8B2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4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55096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4C8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Dialog Position Manager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66928" y="1097280"/>
            <a:ext cx="1920240" cy="50292"/>
          </a:xfrm>
          <a:prstGeom prst="rect">
            <a:avLst/>
          </a:prstGeom>
          <a:solidFill>
            <a:srgbClr val="3674C1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243584"/>
            <a:ext cx="1105509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5A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least glamorous tool here, and the one that saves the most support time.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640080" y="1755648"/>
            <a:ext cx="10963656" cy="42793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Remembers where every dialog was, and puts it back next session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Recovers windows stranded on a monitor you have since unplugged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Handles mixed-DPI and display scaling changes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core facility can share one layout across every workstation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566928" y="5650992"/>
            <a:ext cx="11055096" cy="566928"/>
          </a:xfrm>
          <a:prstGeom prst="rect">
            <a:avLst/>
          </a:prstGeom>
          <a:solidFill>
            <a:srgbClr val="F4F8FD"/>
          </a:solidFill>
          <a:ln w="9525">
            <a:solidFill>
              <a:srgbClr val="3674C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68096" y="5650992"/>
            <a:ext cx="106527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4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also exists because this class of bug is invisible to automated testing.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1274552" y="6291072"/>
            <a:ext cx="457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A8B2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14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55096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4C8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Channel Names Viewer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66928" y="1097280"/>
            <a:ext cx="1920240" cy="50292"/>
          </a:xfrm>
          <a:prstGeom prst="rect">
            <a:avLst/>
          </a:prstGeom>
          <a:solidFill>
            <a:srgbClr val="3674C1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81328"/>
            <a:ext cx="10963656" cy="45537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"Which one is the green one?" — answered, permanently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floating legend of the selected channels, each drawn in its display colour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Updates live as you toggle channels; text scales as you resize the window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Shrink it away on a laptop, or make it large enough to read from the back of a room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566928" y="5650992"/>
            <a:ext cx="11055096" cy="566928"/>
          </a:xfrm>
          <a:prstGeom prst="rect">
            <a:avLst/>
          </a:prstGeom>
          <a:solidFill>
            <a:srgbClr val="F4F8FD"/>
          </a:solidFill>
          <a:ln w="9525">
            <a:solidFill>
              <a:srgbClr val="3674C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68096" y="5650992"/>
            <a:ext cx="106527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4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Five minutes to install. Useful every time you present a multiplex image.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1274552" y="6291072"/>
            <a:ext cx="457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A8B2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14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55096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4C8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Wizard Wand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66928" y="1097280"/>
            <a:ext cx="1920240" cy="50292"/>
          </a:xfrm>
          <a:prstGeom prst="rect">
            <a:avLst/>
          </a:prstGeom>
          <a:solidFill>
            <a:srgbClr val="3674C1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243584"/>
            <a:ext cx="1105509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5A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built-in wand is untouched — this installs as a separate tool you can ignore.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640080" y="1755648"/>
            <a:ext cx="10963656" cy="42793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Works like the built-in wand, with holes filled and edges smoothed by default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Hold still and the selection grows on its own, instead of dragging to cover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Colour-space modes for grayscale, subtle stain differences, or selecting by hue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Auto-tuning: draw one annotation the way you want it, and it derives its own settings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566928" y="5650992"/>
            <a:ext cx="11055096" cy="566928"/>
          </a:xfrm>
          <a:prstGeom prst="rect">
            <a:avLst/>
          </a:prstGeom>
          <a:solidFill>
            <a:srgbClr val="F4F8FD"/>
          </a:solidFill>
          <a:ln w="9525">
            <a:solidFill>
              <a:srgbClr val="3674C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68096" y="5650992"/>
            <a:ext cx="106527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4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Auto-tuning is the headline: settings taken from your example beat settings you guessed.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1274552" y="6291072"/>
            <a:ext cx="457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A8B2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14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55096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4C8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Polyline Wand and Brush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66928" y="1097280"/>
            <a:ext cx="1920240" cy="50292"/>
          </a:xfrm>
          <a:prstGeom prst="rect">
            <a:avLst/>
          </a:prstGeom>
          <a:solidFill>
            <a:srgbClr val="3674C1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81328"/>
            <a:ext cx="10963656" cy="45537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QuPath’s brush and wand work on areas. This brings the same editing to lines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Push a section of a traced boundary outward without redrawing it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Overshot the end of a vessel trace? Erase backwards from the endpoint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Scissors mode splits one polyline into two, both keeping class, name and colour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566928" y="5650992"/>
            <a:ext cx="11055096" cy="566928"/>
          </a:xfrm>
          <a:prstGeom prst="rect">
            <a:avLst/>
          </a:prstGeom>
          <a:solidFill>
            <a:srgbClr val="F4F8FD"/>
          </a:solidFill>
          <a:ln w="9525">
            <a:solidFill>
              <a:srgbClr val="3674C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68096" y="5650992"/>
            <a:ext cx="106527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4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stroke is one undo step, even on a ten-thousand-vertex boundary.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1274552" y="6291072"/>
            <a:ext cx="457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A8B2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14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11480"/>
            <a:ext cx="2331720" cy="457200"/>
          </a:xfrm>
          <a:prstGeom prst="roundRect">
            <a:avLst>
              <a:gd name="adj" fmla="val 20000"/>
            </a:avLst>
          </a:prstGeom>
          <a:solidFill>
            <a:srgbClr val="FBF1E0"/>
          </a:solidFill>
          <a:ln w="12700">
            <a:solidFill>
              <a:srgbClr val="B26A0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411480"/>
            <a:ext cx="2331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B26A0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▶  LIVE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566928" y="1024128"/>
            <a:ext cx="11055096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F4C8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Annotation, live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566928" y="1783080"/>
            <a:ext cx="1920240" cy="50292"/>
          </a:xfrm>
          <a:prstGeom prst="rect">
            <a:avLst/>
          </a:prstGeom>
          <a:solidFill>
            <a:srgbClr val="3674C1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2103120"/>
            <a:ext cx="10963656" cy="3017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Wand a structure, then auto-tune from a hand-drawn example and do it again</a:t>
            </a:r>
            <a:endParaRPr lang="en-US" sz="200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Reshape a polyline: push a section out, smooth a noisy stretch, cut it in two</a:t>
            </a:r>
            <a:endParaRPr lang="en-US" sz="200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 the boundary against the built-in tools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566928" y="5650992"/>
            <a:ext cx="11055096" cy="566928"/>
          </a:xfrm>
          <a:prstGeom prst="rect">
            <a:avLst/>
          </a:prstGeom>
          <a:solidFill>
            <a:srgbClr val="F4F8FD"/>
          </a:solidFill>
          <a:ln w="9525">
            <a:solidFill>
              <a:srgbClr val="3674C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68096" y="5650992"/>
            <a:ext cx="106527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4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three minutes. Static screenshots follow if the live version misbehaves.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11274552" y="6291072"/>
            <a:ext cx="457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A8B2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14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1417320"/>
            <a:ext cx="12188952" cy="3108960"/>
          </a:xfrm>
          <a:prstGeom prst="rect">
            <a:avLst/>
          </a:prstGeom>
          <a:solidFill>
            <a:srgbClr val="E8F0F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417320"/>
            <a:ext cx="201168" cy="3108960"/>
          </a:xfrm>
          <a:prstGeom prst="rect">
            <a:avLst/>
          </a:prstGeom>
          <a:solidFill>
            <a:srgbClr val="3674C1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691640"/>
            <a:ext cx="1828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3674C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03</a:t>
            </a:r>
            <a:endParaRPr lang="en-US" sz="5400" dirty="0"/>
          </a:p>
        </p:txBody>
      </p:sp>
      <p:sp>
        <p:nvSpPr>
          <p:cNvPr id="5" name="Text 3"/>
          <p:cNvSpPr/>
          <p:nvPr/>
        </p:nvSpPr>
        <p:spPr>
          <a:xfrm>
            <a:off x="566928" y="2606040"/>
            <a:ext cx="11055096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4C8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Getting things out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566928" y="3456432"/>
            <a:ext cx="10140696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5A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Publication figures, review images, and machine-learning datasets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566928" y="6199632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8B2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michaelsnelson.github.io/BINA-I2K-2026-QuPath-Extensions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1274552" y="6291072"/>
            <a:ext cx="457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A8B2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14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55096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4C8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QuIET — Image Export Toolkit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66928" y="1097280"/>
            <a:ext cx="1920240" cy="50292"/>
          </a:xfrm>
          <a:prstGeom prst="rect">
            <a:avLst/>
          </a:prstGeom>
          <a:solidFill>
            <a:srgbClr val="3674C1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243584"/>
            <a:ext cx="1105509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5A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Exporting one image is easy. Exporting forty the same way, with a scale bar, at a stated resolution, is not.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640080" y="1755648"/>
            <a:ext cx="10963656" cy="42793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Five export categories, one three-step wizard</a:t>
            </a:r>
            <a:endParaRPr lang="en-US" sz="2000" dirty="0"/>
          </a:p>
          <a:p>
            <a:pPr lvl="1" marL="685800" indent="-342900">
              <a:lnSpc>
                <a:spcPct val="105000"/>
              </a:lnSpc>
              <a:spcAft>
                <a:spcPts val="800"/>
              </a:spcAft>
              <a:buSzPct val="100000"/>
              <a:buChar char="▪"/>
            </a:pPr>
            <a:r>
              <a:rPr lang="en-US" sz="1700" dirty="0">
                <a:solidFill>
                  <a:srgbClr val="5A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Rendered figures  ·  label masks  ·  raw pixel data  ·  image and label tile pairs  ·  per-object crops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separate wizard builds multi-panel montage figures from several project images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Batch across a project, without writing an export script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1274552" y="6291072"/>
            <a:ext cx="457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A8B2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14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55096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4C8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Every export writes a script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66928" y="1097280"/>
            <a:ext cx="1920240" cy="50292"/>
          </a:xfrm>
          <a:prstGeom prst="rect">
            <a:avLst/>
          </a:prstGeom>
          <a:solidFill>
            <a:srgbClr val="3674C1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81328"/>
            <a:ext cx="10963656" cy="45537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Whatever you clicked in the wizard comes back out as a self-contained script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Save it, version it, re-run it next year, send it to a collaborator without the extension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wizard is a script generator, not a black box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566928" y="5650992"/>
            <a:ext cx="11055096" cy="566928"/>
          </a:xfrm>
          <a:prstGeom prst="rect">
            <a:avLst/>
          </a:prstGeom>
          <a:solidFill>
            <a:srgbClr val="F4F8FD"/>
          </a:solidFill>
          <a:ln w="9525">
            <a:solidFill>
              <a:srgbClr val="3674C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68096" y="5650992"/>
            <a:ext cx="106527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4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That is the difference between a convenience and a reproducibility tool.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1274552" y="6291072"/>
            <a:ext cx="457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A8B2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lang="en-US" sz="14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55096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4C8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Reporting guidance, in the dialog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66928" y="1097280"/>
            <a:ext cx="1920240" cy="50292"/>
          </a:xfrm>
          <a:prstGeom prst="rect">
            <a:avLst/>
          </a:prstGeom>
          <a:solidFill>
            <a:srgbClr val="3674C1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243584"/>
            <a:ext cx="1105509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5A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Catch "what magnification was that, and is there a scale bar?" while you can still fix it.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640080" y="1755648"/>
            <a:ext cx="10963656" cy="42793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QUAREP-LiMi is the community effort on minimum reporting standards for light microscopy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Guidance appears beside the settings, driven by your project’s actual images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Publication advice is shown before you export, not after review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1274552" y="6291072"/>
            <a:ext cx="457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A8B2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</a:t>
            </a:r>
            <a:endParaRPr lang="en-US" sz="14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1417320"/>
            <a:ext cx="12188952" cy="3108960"/>
          </a:xfrm>
          <a:prstGeom prst="rect">
            <a:avLst/>
          </a:prstGeom>
          <a:solidFill>
            <a:srgbClr val="E8F0F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417320"/>
            <a:ext cx="201168" cy="3108960"/>
          </a:xfrm>
          <a:prstGeom prst="rect">
            <a:avLst/>
          </a:prstGeom>
          <a:solidFill>
            <a:srgbClr val="3674C1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691640"/>
            <a:ext cx="1828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3674C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04</a:t>
            </a:r>
            <a:endParaRPr lang="en-US" sz="5400" dirty="0"/>
          </a:p>
        </p:txBody>
      </p:sp>
      <p:sp>
        <p:nvSpPr>
          <p:cNvPr id="5" name="Text 3"/>
          <p:cNvSpPr/>
          <p:nvPr/>
        </p:nvSpPr>
        <p:spPr>
          <a:xfrm>
            <a:off x="566928" y="2606040"/>
            <a:ext cx="11055096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4C8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 scale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566928" y="3456432"/>
            <a:ext cx="10140696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5A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it is four hundred slides rather than four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566928" y="6199632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8B2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michaelsnelson.github.io/BINA-I2K-2026-QuPath-Extensions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1274552" y="6291072"/>
            <a:ext cx="457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A8B2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</a:t>
            </a:r>
            <a:endParaRPr lang="en-US" sz="14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55096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4C8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OCR for Labels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66928" y="1097280"/>
            <a:ext cx="1920240" cy="50292"/>
          </a:xfrm>
          <a:prstGeom prst="rect">
            <a:avLst/>
          </a:prstGeom>
          <a:solidFill>
            <a:srgbClr val="3674C1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81328"/>
            <a:ext cx="10963656" cy="45537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case ID, stain and block number are already in your slide file, on the label image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 recognition and barcode scanning, straight into project metadata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Save a template of field positions, then run it across the whole project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Vocabulary matching turns "usually right" into "right, or obviously wrong"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566928" y="5650992"/>
            <a:ext cx="11055096" cy="566928"/>
          </a:xfrm>
          <a:prstGeom prst="rect">
            <a:avLst/>
          </a:prstGeom>
          <a:solidFill>
            <a:srgbClr val="F4F8FD"/>
          </a:solidFill>
          <a:ln w="9525">
            <a:solidFill>
              <a:srgbClr val="3674C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68096" y="5650992"/>
            <a:ext cx="106527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4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 before applying. Recognition on a photographed label is good, not correct.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1274552" y="6291072"/>
            <a:ext cx="457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A8B2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</a:t>
            </a:r>
            <a:endParaRPr lang="en-US" sz="14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55096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4C8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Project Metadata Browser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66928" y="1097280"/>
            <a:ext cx="1920240" cy="50292"/>
          </a:xfrm>
          <a:prstGeom prst="rect">
            <a:avLst/>
          </a:prstGeom>
          <a:solidFill>
            <a:srgbClr val="3674C1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243584"/>
            <a:ext cx="1105509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5A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you just ran label recognition across 467 slides, this is where you find out whether it worked.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640080" y="1755648"/>
            <a:ext cx="10963656" cy="42793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image a row, every metadata key a column — sortable and filterable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Edits stay in memory until you save, and everything is undoable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Paste a column from a spreadsheet; pull values out of structured filenames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Rename or remove a key across every image in one operation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566928" y="5650992"/>
            <a:ext cx="11055096" cy="566928"/>
          </a:xfrm>
          <a:prstGeom prst="rect">
            <a:avLst/>
          </a:prstGeom>
          <a:solidFill>
            <a:srgbClr val="F4F8FD"/>
          </a:solidFill>
          <a:ln w="9525">
            <a:solidFill>
              <a:srgbClr val="3674C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68096" y="5650992"/>
            <a:ext cx="106527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4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Sorting by a recognised column is the fastest quality check available — bad reads are outliers.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1274552" y="6291072"/>
            <a:ext cx="457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A8B2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</a:t>
            </a:r>
            <a:endParaRPr lang="en-US" sz="14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55096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4C8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Class Distribution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66928" y="1097280"/>
            <a:ext cx="1920240" cy="50292"/>
          </a:xfrm>
          <a:prstGeom prst="rect">
            <a:avLst/>
          </a:prstGeom>
          <a:solidFill>
            <a:srgbClr val="3674C1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81328"/>
            <a:ext cx="10963656" cy="45537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charts of how your annotation classes are distributed across the project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And, separately, the training balance those annotations actually imply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 update while you annotate, so the feedback arrives while you can still act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Classes badly over- or under-represented are flagged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566928" y="5650992"/>
            <a:ext cx="11055096" cy="566928"/>
          </a:xfrm>
          <a:prstGeom prst="rect">
            <a:avLst/>
          </a:prstGeom>
          <a:solidFill>
            <a:srgbClr val="F4F8FD"/>
          </a:solidFill>
          <a:ln w="9525">
            <a:solidFill>
              <a:srgbClr val="3674C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68096" y="5650992"/>
            <a:ext cx="106527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4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Annotation count, annotation area, and implied training detections are three different numbers. Only the third predicts classifier behaviour.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1274552" y="6291072"/>
            <a:ext cx="457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A8B2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</a:t>
            </a:r>
            <a:endParaRPr lang="en-US" sz="14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55096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4C8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Classify Object Subset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66928" y="1097280"/>
            <a:ext cx="1920240" cy="50292"/>
          </a:xfrm>
          <a:prstGeom prst="rect">
            <a:avLst/>
          </a:prstGeom>
          <a:solidFill>
            <a:srgbClr val="3674C1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243584"/>
            <a:ext cx="1105509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5A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live count tells you how many objects you are about to change.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640080" y="1755648"/>
            <a:ext cx="10963656" cy="42793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a saved classifier on a chosen subset instead of every object in the image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Pick by class, by measurement value, by what you have selected — or all three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Stack classifiers: run the second one only on what the first left unclassified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apply is recorded, so the session converts into a batch script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566928" y="5650992"/>
            <a:ext cx="11055096" cy="566928"/>
          </a:xfrm>
          <a:prstGeom prst="rect">
            <a:avLst/>
          </a:prstGeom>
          <a:solidFill>
            <a:srgbClr val="F4F8FD"/>
          </a:solidFill>
          <a:ln w="9525">
            <a:solidFill>
              <a:srgbClr val="3674C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68096" y="5650992"/>
            <a:ext cx="106527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4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That count is the guard against silently reclassifying work you already did.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1274552" y="6291072"/>
            <a:ext cx="457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A8B2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</a:t>
            </a:r>
            <a:endParaRPr lang="en-US" sz="14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1417320"/>
            <a:ext cx="12188952" cy="3108960"/>
          </a:xfrm>
          <a:prstGeom prst="rect">
            <a:avLst/>
          </a:prstGeom>
          <a:solidFill>
            <a:srgbClr val="E8F0F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417320"/>
            <a:ext cx="201168" cy="3108960"/>
          </a:xfrm>
          <a:prstGeom prst="rect">
            <a:avLst/>
          </a:prstGeom>
          <a:solidFill>
            <a:srgbClr val="3674C1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691640"/>
            <a:ext cx="1828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3674C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05</a:t>
            </a:r>
            <a:endParaRPr lang="en-US" sz="5400" dirty="0"/>
          </a:p>
        </p:txBody>
      </p:sp>
      <p:sp>
        <p:nvSpPr>
          <p:cNvPr id="5" name="Text 3"/>
          <p:cNvSpPr/>
          <p:nvPr/>
        </p:nvSpPr>
        <p:spPr>
          <a:xfrm>
            <a:off x="566928" y="2606040"/>
            <a:ext cx="11055096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4C8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Did it actually work?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566928" y="3456432"/>
            <a:ext cx="10140696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5A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Classifier validation you can put in a paper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566928" y="6199632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8B2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michaelsnelson.github.io/BINA-I2K-2026-QuPath-Extensions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1274552" y="6291072"/>
            <a:ext cx="457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A8B2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</a:t>
            </a:r>
            <a:endParaRPr lang="en-US" sz="14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55096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4C8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 interval, not the estimate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66928" y="1097280"/>
            <a:ext cx="1920240" cy="50292"/>
          </a:xfrm>
          <a:prstGeom prst="rect">
            <a:avLst/>
          </a:prstGeom>
          <a:solidFill>
            <a:srgbClr val="3674C1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81328"/>
            <a:ext cx="10963656" cy="45537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"F1 = 0.87, 95% CI [0.82, 0.91]" instead of "87% accurate"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95% from forty cells and 95% from four thousand cells are not the same claim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Bootstrap confidence intervals on every per-class metric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probability-producing classifiers: is the confidence itself trustworthy, or just the top class?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566928" y="5650992"/>
            <a:ext cx="11055096" cy="566928"/>
          </a:xfrm>
          <a:prstGeom prst="rect">
            <a:avLst/>
          </a:prstGeom>
          <a:solidFill>
            <a:srgbClr val="F4F8FD"/>
          </a:solidFill>
          <a:ln w="9525">
            <a:solidFill>
              <a:srgbClr val="3674C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68096" y="5650992"/>
            <a:ext cx="106527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4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model that is 95% confident and 70% correct is a different problem, needing a different fix.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1274552" y="6291072"/>
            <a:ext cx="457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A8B2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</a:t>
            </a:r>
            <a:endParaRPr lang="en-US" sz="14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11480"/>
            <a:ext cx="2331720" cy="457200"/>
          </a:xfrm>
          <a:prstGeom prst="roundRect">
            <a:avLst>
              <a:gd name="adj" fmla="val 20000"/>
            </a:avLst>
          </a:prstGeom>
          <a:solidFill>
            <a:srgbClr val="FBF1E0"/>
          </a:solidFill>
          <a:ln w="12700">
            <a:solidFill>
              <a:srgbClr val="B26A0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411480"/>
            <a:ext cx="2331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B26A0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▶  DEMO ONLY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566928" y="1024128"/>
            <a:ext cx="11055096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F4C8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Confusion Matrix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566928" y="1783080"/>
            <a:ext cx="1920240" cy="50292"/>
          </a:xfrm>
          <a:prstGeom prst="rect">
            <a:avLst/>
          </a:prstGeom>
          <a:solidFill>
            <a:srgbClr val="3674C1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2103120"/>
            <a:ext cx="10963656" cy="3017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Click the largest off-diagonal cell — those cells highlight on the slide</a:t>
            </a:r>
            <a:endParaRPr lang="en-US" sz="200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"The classifier is 87% accurate" becomes "it confuses these two things, for this reason"</a:t>
            </a:r>
            <a:endParaRPr lang="en-US" sz="200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Across a project: per-image breakdown, with divergent images flagged automatically</a:t>
            </a:r>
            <a:endParaRPr lang="en-US" sz="200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Flagged images usually mean a staining or scanning problem, not a classifier problem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566928" y="5650992"/>
            <a:ext cx="11055096" cy="566928"/>
          </a:xfrm>
          <a:prstGeom prst="rect">
            <a:avLst/>
          </a:prstGeom>
          <a:solidFill>
            <a:srgbClr val="F4F8FD"/>
          </a:solidFill>
          <a:ln w="9525">
            <a:solidFill>
              <a:srgbClr val="3674C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68096" y="5650992"/>
            <a:ext cx="106527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4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 only: the repository is currently private, so there is no version for you to install.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11274552" y="6291072"/>
            <a:ext cx="457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A8B2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</a:t>
            </a:r>
            <a:endParaRPr lang="en-US" sz="14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1417320"/>
            <a:ext cx="12188952" cy="3108960"/>
          </a:xfrm>
          <a:prstGeom prst="rect">
            <a:avLst/>
          </a:prstGeom>
          <a:solidFill>
            <a:srgbClr val="E8F0F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417320"/>
            <a:ext cx="201168" cy="3108960"/>
          </a:xfrm>
          <a:prstGeom prst="rect">
            <a:avLst/>
          </a:prstGeom>
          <a:solidFill>
            <a:srgbClr val="3674C1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691640"/>
            <a:ext cx="1828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3674C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06</a:t>
            </a:r>
            <a:endParaRPr lang="en-US" sz="5400" dirty="0"/>
          </a:p>
        </p:txBody>
      </p:sp>
      <p:sp>
        <p:nvSpPr>
          <p:cNvPr id="5" name="Text 3"/>
          <p:cNvSpPr/>
          <p:nvPr/>
        </p:nvSpPr>
        <p:spPr>
          <a:xfrm>
            <a:off x="566928" y="2606040"/>
            <a:ext cx="11055096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4C8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Deep learning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566928" y="3456432"/>
            <a:ext cx="10140696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5A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Pixel classifiers, cell classifiers, and knowing when not to trust them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566928" y="6199632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8B2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michaelsnelson.github.io/BINA-I2K-2026-QuPath-Extensions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1274552" y="6291072"/>
            <a:ext cx="457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A8B2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</a:t>
            </a:r>
            <a:endParaRPr lang="en-US" sz="14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55096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4C8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Deep learning pixel classification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66928" y="1097280"/>
            <a:ext cx="1920240" cy="50292"/>
          </a:xfrm>
          <a:prstGeom prst="rect">
            <a:avLst/>
          </a:prstGeom>
          <a:solidFill>
            <a:srgbClr val="3674C1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243584"/>
            <a:ext cx="1105509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5A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when the built-in classifier is not enough: subtle textures, classes that differ by architecture rather than colour.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640080" y="1755648"/>
            <a:ext cx="10963656" cy="42793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interaction as the built-in classifier: draw a few sparse regions per class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extension samples training tiles from what you marked — you are steering a sampler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Brightfield and multi-channel fluorescence, with per-channel normalisation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 across several project images at once for representative sampling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1274552" y="6291072"/>
            <a:ext cx="457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A8B2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33</a:t>
            </a:r>
            <a:endParaRPr lang="en-US" sz="14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55096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4C8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What is underneath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66928" y="1097280"/>
            <a:ext cx="1920240" cy="50292"/>
          </a:xfrm>
          <a:prstGeom prst="rect">
            <a:avLst/>
          </a:prstGeom>
          <a:solidFill>
            <a:srgbClr val="3674C1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81328"/>
            <a:ext cx="10963656" cy="45537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choice of encoder, from lightweight convolutional networks to vision transformers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 from weights pretrained on histology rather than on everyday photographs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 from pathology foundation models, downloaded on demand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Normalisation computed over the whole image, which removes tile-boundary artefacts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566928" y="5650992"/>
            <a:ext cx="11055096" cy="566928"/>
          </a:xfrm>
          <a:prstGeom prst="rect">
            <a:avLst/>
          </a:prstGeom>
          <a:solidFill>
            <a:srgbClr val="F4F8FD"/>
          </a:solidFill>
          <a:ln w="9525">
            <a:solidFill>
              <a:srgbClr val="3674C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68096" y="5650992"/>
            <a:ext cx="106527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4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Training needs a dedicated GPU. That is why training is a demonstration and inference is the exercise.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1274552" y="6291072"/>
            <a:ext cx="457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A8B2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34</a:t>
            </a:r>
            <a:endParaRPr lang="en-US" sz="14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55096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4C8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 two most important features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66928" y="1097280"/>
            <a:ext cx="1920240" cy="50292"/>
          </a:xfrm>
          <a:prstGeom prst="rect">
            <a:avLst/>
          </a:prstGeom>
          <a:solidFill>
            <a:srgbClr val="3674C1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81328"/>
            <a:ext cx="10963656" cy="45537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per-pixel probability maps, not just the winning class</a:t>
            </a:r>
            <a:endParaRPr lang="en-US" sz="2000" dirty="0"/>
          </a:p>
          <a:p>
            <a:pPr lvl="1" marL="685800" indent="-342900">
              <a:lnSpc>
                <a:spcPct val="105000"/>
              </a:lnSpc>
              <a:spcAft>
                <a:spcPts val="800"/>
              </a:spcAft>
              <a:buSzPct val="100000"/>
              <a:buChar char="▪"/>
            </a:pPr>
            <a:r>
              <a:rPr lang="en-US" sz="1700" dirty="0">
                <a:solidFill>
                  <a:srgbClr val="5A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honest uncertainty is at the boundaries between classes — go and look at it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out-of-distribution warning before inference, when an image no longer resembles the training data</a:t>
            </a:r>
            <a:endParaRPr lang="en-US" sz="2000" dirty="0"/>
          </a:p>
          <a:p>
            <a:pPr lvl="1" marL="685800" indent="-342900">
              <a:lnSpc>
                <a:spcPct val="105000"/>
              </a:lnSpc>
              <a:spcAft>
                <a:spcPts val="800"/>
              </a:spcAft>
              <a:buSzPct val="100000"/>
              <a:buChar char="▪"/>
            </a:pPr>
            <a:r>
              <a:rPr lang="en-US" sz="1700" dirty="0">
                <a:solidFill>
                  <a:srgbClr val="5A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Catches stain, exposure and sensor changes that would quietly degrade predictions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566928" y="5650992"/>
            <a:ext cx="11055096" cy="566928"/>
          </a:xfrm>
          <a:prstGeom prst="rect">
            <a:avLst/>
          </a:prstGeom>
          <a:solidFill>
            <a:srgbClr val="F4F8FD"/>
          </a:solidFill>
          <a:ln w="9525">
            <a:solidFill>
              <a:srgbClr val="3674C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68096" y="5650992"/>
            <a:ext cx="106527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4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These are the features that tell you when not to trust the output, and the easiest to ignore.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1274552" y="6291072"/>
            <a:ext cx="457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A8B2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</a:t>
            </a:r>
            <a:endParaRPr lang="en-US" sz="14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55096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4C8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When the model stops working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66928" y="1097280"/>
            <a:ext cx="1920240" cy="50292"/>
          </a:xfrm>
          <a:prstGeom prst="rect">
            <a:avLst/>
          </a:prstGeom>
          <a:solidFill>
            <a:srgbClr val="3674C1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243584"/>
            <a:ext cx="1105509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5A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Domain shift is the practical problem, far more often than model architecture.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640080" y="1755648"/>
            <a:ext cx="10963656" cy="42793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new scanner, a new stain, a new batch — and last month’s model degrades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Recalibrating to the current image takes seconds and no retraining at all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 adapt the model to your own unlabelled data before committing to a full retrain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566928" y="5650992"/>
            <a:ext cx="11055096" cy="566928"/>
          </a:xfrm>
          <a:prstGeom prst="rect">
            <a:avLst/>
          </a:prstGeom>
          <a:solidFill>
            <a:srgbClr val="F4F8FD"/>
          </a:solidFill>
          <a:ln w="9525">
            <a:solidFill>
              <a:srgbClr val="3674C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68096" y="5650992"/>
            <a:ext cx="106527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4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Try recalibration before you consider retraining. It usually recovers most of the loss.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1274552" y="6291072"/>
            <a:ext cx="457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A8B2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36</a:t>
            </a:r>
            <a:endParaRPr lang="en-US" sz="14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55096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4C8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QP-CAT — multiplexed cell analysis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66928" y="1097280"/>
            <a:ext cx="1920240" cy="50292"/>
          </a:xfrm>
          <a:prstGeom prst="rect">
            <a:avLst/>
          </a:prstGeom>
          <a:solidFill>
            <a:srgbClr val="3674C1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243584"/>
            <a:ext cx="1105509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5A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usual workflow loses the link back to the tissue. This keeps it.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640080" y="1755648"/>
            <a:ext cx="10963656" cy="42793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full scientific Python stack embedded in QuPath. No environments to manage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Clustering, marker gating with suggested thresholds, spatial statistics, batch correction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Label a small subset by hand and have the rest of the project labelled for you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Brush a region of the embedding and those cells highlight on the slide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566928" y="5650992"/>
            <a:ext cx="11055096" cy="566928"/>
          </a:xfrm>
          <a:prstGeom prst="rect">
            <a:avLst/>
          </a:prstGeom>
          <a:solidFill>
            <a:srgbClr val="F4F8FD"/>
          </a:solidFill>
          <a:ln w="9525">
            <a:solidFill>
              <a:srgbClr val="3674C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68096" y="5650992"/>
            <a:ext cx="106527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4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Author’s own warning: many features are lightly tested. Treat results as a starting point.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1274552" y="6291072"/>
            <a:ext cx="457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A8B2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37</a:t>
            </a:r>
            <a:endParaRPr lang="en-US" sz="14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55096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4C8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Cluster 3D Navigator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66928" y="1097280"/>
            <a:ext cx="1920240" cy="50292"/>
          </a:xfrm>
          <a:prstGeom prst="rect">
            <a:avLst/>
          </a:prstGeom>
          <a:solidFill>
            <a:srgbClr val="3674C1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81328"/>
            <a:ext cx="10963656" cy="45537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rotatable point cloud of your cells, one point per detection, coloured by class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Click a point and land on that cell in the viewer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Structure that two dimensions hide is often obvious the moment you rotate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Works with any clustering tool’s output, not just ours. It only reads — it writes nothing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566928" y="5650992"/>
            <a:ext cx="11055096" cy="566928"/>
          </a:xfrm>
          <a:prstGeom prst="rect">
            <a:avLst/>
          </a:prstGeom>
          <a:solidFill>
            <a:srgbClr val="F4F8FD"/>
          </a:solidFill>
          <a:ln w="9525">
            <a:solidFill>
              <a:srgbClr val="3674C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68096" y="5650992"/>
            <a:ext cx="106527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4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Boundary cells are where classification errors live. This makes them one click away.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1274552" y="6291072"/>
            <a:ext cx="457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A8B2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38</a:t>
            </a:r>
            <a:endParaRPr lang="en-US" sz="14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1417320"/>
            <a:ext cx="12188952" cy="3108960"/>
          </a:xfrm>
          <a:prstGeom prst="rect">
            <a:avLst/>
          </a:prstGeom>
          <a:solidFill>
            <a:srgbClr val="E8F0F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417320"/>
            <a:ext cx="201168" cy="3108960"/>
          </a:xfrm>
          <a:prstGeom prst="rect">
            <a:avLst/>
          </a:prstGeom>
          <a:solidFill>
            <a:srgbClr val="3674C1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691640"/>
            <a:ext cx="1828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3674C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07</a:t>
            </a:r>
            <a:endParaRPr lang="en-US" sz="5400" dirty="0"/>
          </a:p>
        </p:txBody>
      </p:sp>
      <p:sp>
        <p:nvSpPr>
          <p:cNvPr id="5" name="Text 3"/>
          <p:cNvSpPr/>
          <p:nvPr/>
        </p:nvSpPr>
        <p:spPr>
          <a:xfrm>
            <a:off x="566928" y="2606040"/>
            <a:ext cx="11055096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4C8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Collagen fibre and texture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566928" y="3456432"/>
            <a:ext cx="10140696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5A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Architecture, not just presence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566928" y="6199632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8B2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michaelsnelson.github.io/BINA-I2K-2026-QuPath-Extensions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1274552" y="6291072"/>
            <a:ext cx="457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A8B2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39</a:t>
            </a:r>
            <a:endParaRPr lang="en-US" sz="14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55096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4C8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Why fibre architecture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66928" y="1097280"/>
            <a:ext cx="1920240" cy="50292"/>
          </a:xfrm>
          <a:prstGeom prst="rect">
            <a:avLst/>
          </a:prstGeom>
          <a:solidFill>
            <a:srgbClr val="3674C1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243584"/>
            <a:ext cx="1105509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5A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Conklin et al. 2011, American Journal of Pathology 178:1221.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640080" y="1755648"/>
            <a:ext cx="10963656" cy="42793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Collagen is not simply present or absent — the arrangement carries the biology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Wavy versus straightened; aligned versus isotropic; and how that changes at a boundary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breast pathology, straightened fibres running perpendicular to the tumour boundary act as tracks for invading cells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Hazard ratio 3.0–3.9 for disease-free survival, independent of grade, size and receptor status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566928" y="5650992"/>
            <a:ext cx="11055096" cy="566928"/>
          </a:xfrm>
          <a:prstGeom prst="rect">
            <a:avLst/>
          </a:prstGeom>
          <a:solidFill>
            <a:srgbClr val="F4F8FD"/>
          </a:solidFill>
          <a:ln w="9525">
            <a:solidFill>
              <a:srgbClr val="3674C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68096" y="5650992"/>
            <a:ext cx="106527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4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wavy-to-straight axis recurs in arterial adventitia, sclera, alveolar wall, and cardiac fibrosis.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1274552" y="6291072"/>
            <a:ext cx="457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A8B2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</a:t>
            </a:r>
            <a:endParaRPr lang="en-US" sz="14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55096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4C8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Two complementary tools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66928" y="1097280"/>
            <a:ext cx="1920240" cy="50292"/>
          </a:xfrm>
          <a:prstGeom prst="rect">
            <a:avLst/>
          </a:prstGeom>
          <a:solidFill>
            <a:srgbClr val="3674C1"/>
          </a:solidFill>
          <a:ln/>
        </p:spPr>
      </p:sp>
      <p:sp>
        <p:nvSpPr>
          <p:cNvPr id="4" name="Shape 2"/>
          <p:cNvSpPr/>
          <p:nvPr/>
        </p:nvSpPr>
        <p:spPr>
          <a:xfrm>
            <a:off x="566928" y="1554480"/>
            <a:ext cx="5298948" cy="530352"/>
          </a:xfrm>
          <a:prstGeom prst="rect">
            <a:avLst/>
          </a:prstGeom>
          <a:solidFill>
            <a:srgbClr val="E8F0FA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1554480"/>
            <a:ext cx="4969764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F4C8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Fiber Analysis — measure a zone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658368" y="2240280"/>
            <a:ext cx="5116068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100"/>
              </a:spcAft>
              <a:buSzPct val="100000"/>
              <a:buChar char="•"/>
            </a:pPr>
            <a:r>
              <a:rPr lang="en-US" sz="18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band of chosen width inside, outside, or across an annotation boundary</a:t>
            </a:r>
            <a:endParaRPr lang="en-US" sz="1800" dirty="0"/>
          </a:p>
          <a:p>
            <a:pPr marL="342900" indent="-342900">
              <a:spcAft>
                <a:spcPts val="1100"/>
              </a:spcAft>
              <a:buSzPct val="100000"/>
              <a:buChar char="•"/>
            </a:pPr>
            <a:r>
              <a:rPr lang="en-US" sz="18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Straightness and persistence: wavy versus straightened fibres</a:t>
            </a:r>
            <a:endParaRPr lang="en-US" sz="1800" dirty="0"/>
          </a:p>
          <a:p>
            <a:pPr marL="342900" indent="-342900">
              <a:spcAft>
                <a:spcPts val="1100"/>
              </a:spcAft>
              <a:buSzPct val="100000"/>
              <a:buChar char="•"/>
            </a:pPr>
            <a:r>
              <a:rPr lang="en-US" sz="18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Morphometrics: coverage, length, branching, fractal dimension, gaps</a:t>
            </a:r>
            <a:endParaRPr lang="en-US" sz="1800" dirty="0"/>
          </a:p>
          <a:p>
            <a:pPr marL="342900" indent="-342900">
              <a:spcAft>
                <a:spcPts val="1100"/>
              </a:spcAft>
              <a:buSzPct val="100000"/>
              <a:buChar char="•"/>
            </a:pPr>
            <a:r>
              <a:rPr lang="en-US" sz="18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Texture: the information fibre-tracing misses entirely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6323076" y="1554480"/>
            <a:ext cx="5298948" cy="530352"/>
          </a:xfrm>
          <a:prstGeom prst="rect">
            <a:avLst/>
          </a:prstGeom>
          <a:solidFill>
            <a:srgbClr val="E8F0FA"/>
          </a:solidFill>
          <a:ln/>
        </p:spPr>
      </p:sp>
      <p:sp>
        <p:nvSpPr>
          <p:cNvPr id="8" name="Text 6"/>
          <p:cNvSpPr/>
          <p:nvPr/>
        </p:nvSpPr>
        <p:spPr>
          <a:xfrm>
            <a:off x="6487668" y="1554480"/>
            <a:ext cx="4969764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B26A0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TME-Quant — trace the fibres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6414516" y="2240280"/>
            <a:ext cx="5116068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100"/>
              </a:spcAft>
              <a:buSzPct val="100000"/>
              <a:buChar char="•"/>
            </a:pPr>
            <a:r>
              <a:rPr lang="en-US" sz="18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Individual fibres extracted and committed back as objects</a:t>
            </a:r>
            <a:endParaRPr lang="en-US" sz="1800" dirty="0"/>
          </a:p>
          <a:p>
            <a:pPr marL="342900" indent="-342900">
              <a:spcAft>
                <a:spcPts val="1100"/>
              </a:spcAft>
              <a:buSzPct val="100000"/>
              <a:buChar char="•"/>
            </a:pPr>
            <a:r>
              <a:rPr lang="en-US" sz="18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 the threshold by eye, with the mask shown before you commit</a:t>
            </a:r>
            <a:endParaRPr lang="en-US" sz="1800" dirty="0"/>
          </a:p>
          <a:p>
            <a:pPr marL="342900" indent="-342900">
              <a:spcAft>
                <a:spcPts val="1100"/>
              </a:spcAft>
              <a:buSzPct val="100000"/>
              <a:buChar char="•"/>
            </a:pPr>
            <a:r>
              <a:rPr lang="en-US" sz="18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Trace a few real fibres yourself, and it tunes its own parameters to match</a:t>
            </a:r>
            <a:endParaRPr lang="en-US" sz="1800" dirty="0"/>
          </a:p>
          <a:p>
            <a:pPr marL="342900" indent="-342900">
              <a:spcAft>
                <a:spcPts val="1100"/>
              </a:spcAft>
              <a:buSzPct val="100000"/>
              <a:buChar char="•"/>
            </a:pPr>
            <a:r>
              <a:rPr lang="en-US" sz="18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Fibres classified by orientation relative to a tumour boundary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11274552" y="6291072"/>
            <a:ext cx="457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A8B2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41</a:t>
            </a:r>
            <a:endParaRPr lang="en-US" sz="140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55096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4C8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 dense mat and a sparse clump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66928" y="1097280"/>
            <a:ext cx="1920240" cy="50292"/>
          </a:xfrm>
          <a:prstGeom prst="rect">
            <a:avLst/>
          </a:prstGeom>
          <a:solidFill>
            <a:srgbClr val="3674C1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81328"/>
            <a:ext cx="10963656" cy="45537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fields can share the same mean fibre alignment and be completely different tissue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Texture measures the spatial heterogeneity that alignment averages away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is why both tools are worth running, on the same region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566928" y="5650992"/>
            <a:ext cx="11055096" cy="566928"/>
          </a:xfrm>
          <a:prstGeom prst="rect">
            <a:avLst/>
          </a:prstGeom>
          <a:solidFill>
            <a:srgbClr val="F4F8FD"/>
          </a:solidFill>
          <a:ln w="9525">
            <a:solidFill>
              <a:srgbClr val="3674C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68096" y="5650992"/>
            <a:ext cx="106527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4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 only today: one needs a long environment build, the other a dedicated analysis server.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1274552" y="6291072"/>
            <a:ext cx="457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A8B2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42</a:t>
            </a:r>
            <a:endParaRPr lang="en-US" sz="140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55096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4C8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Please cite the methods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66928" y="1097280"/>
            <a:ext cx="1920240" cy="50292"/>
          </a:xfrm>
          <a:prstGeom prst="rect">
            <a:avLst/>
          </a:prstGeom>
          <a:solidFill>
            <a:srgbClr val="3674C1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81328"/>
            <a:ext cx="10963656" cy="45537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tools are thin wrappers over other people’s science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CT-FIRE — Bredfeldt et al. 2014, Journal of Biomedical Optics 19(1):016007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CurveAlign — LOCI, University of Wisconsin–Madison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TACS — Conklin et al. 2011; Provenzano et al. 2008, BMC Medicine 6:11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TWOMBLI — Wershof et al. 2021, Life Science Alliance 4(3)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11274552" y="6291072"/>
            <a:ext cx="457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A8B2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43</a:t>
            </a:r>
            <a:endParaRPr lang="en-US" sz="1400"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1417320"/>
            <a:ext cx="12188952" cy="3108960"/>
          </a:xfrm>
          <a:prstGeom prst="rect">
            <a:avLst/>
          </a:prstGeom>
          <a:solidFill>
            <a:srgbClr val="E8F0F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417320"/>
            <a:ext cx="201168" cy="3108960"/>
          </a:xfrm>
          <a:prstGeom prst="rect">
            <a:avLst/>
          </a:prstGeom>
          <a:solidFill>
            <a:srgbClr val="3674C1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691640"/>
            <a:ext cx="1828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3674C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08</a:t>
            </a:r>
            <a:endParaRPr lang="en-US" sz="5400" dirty="0"/>
          </a:p>
        </p:txBody>
      </p:sp>
      <p:sp>
        <p:nvSpPr>
          <p:cNvPr id="5" name="Text 3"/>
          <p:cNvSpPr/>
          <p:nvPr/>
        </p:nvSpPr>
        <p:spPr>
          <a:xfrm>
            <a:off x="566928" y="2606040"/>
            <a:ext cx="11055096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4C8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Microscope control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566928" y="3456432"/>
            <a:ext cx="10140696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5A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most complex thing here, and the reason for the rest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566928" y="6199632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8B2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michaelsnelson.github.io/BINA-I2K-2026-QuPath-Extensions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1274552" y="6291072"/>
            <a:ext cx="457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A8B2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44</a:t>
            </a:r>
            <a:endParaRPr lang="en-US" sz="140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55096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4C8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QPSC — QuPath Scope Control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66928" y="1097280"/>
            <a:ext cx="1920240" cy="50292"/>
          </a:xfrm>
          <a:prstGeom prst="rect">
            <a:avLst/>
          </a:prstGeom>
          <a:solidFill>
            <a:srgbClr val="3674C1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81328"/>
            <a:ext cx="10963656" cy="45537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Draw a box around a region in QuPath. The stage moves, the tiles are captured and stitched, and the image appears back in your project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 specific annotations on a slide you already scanned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camera view, stage map, saved positions, and a virtual joystick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Brightfield, multi-channel fluorescence, and combined passes on a single-camera scope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11274552" y="6291072"/>
            <a:ext cx="457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A8B2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</a:t>
            </a:r>
            <a:endParaRPr lang="en-US" sz="140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55096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4C8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Why this changes the rest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66928" y="1097280"/>
            <a:ext cx="1920240" cy="50292"/>
          </a:xfrm>
          <a:prstGeom prst="rect">
            <a:avLst/>
          </a:prstGeom>
          <a:solidFill>
            <a:srgbClr val="3674C1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81328"/>
            <a:ext cx="10963656" cy="45537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region you analysed is the region you acquire at high resolution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Acquisition metadata arrives in the project, not in a folder that gets separated from the images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Stitching is a step in this pipeline — and it works perfectly well on its own, which is why it is in your hands-on hour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566928" y="5650992"/>
            <a:ext cx="11055096" cy="566928"/>
          </a:xfrm>
          <a:prstGeom prst="rect">
            <a:avLst/>
          </a:prstGeom>
          <a:solidFill>
            <a:srgbClr val="F4F8FD"/>
          </a:solidFill>
          <a:ln w="9525">
            <a:solidFill>
              <a:srgbClr val="3674C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68096" y="5650992"/>
            <a:ext cx="106527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4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Once acquisition is driven from QuPath, "acquisition software" and "analysis software" stop being separate places your data lives.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1274552" y="6291072"/>
            <a:ext cx="457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A8B2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46</a:t>
            </a:r>
            <a:endParaRPr lang="en-US" sz="1400" dirty="0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55096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4C8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How it is put together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66928" y="1097280"/>
            <a:ext cx="1920240" cy="50292"/>
          </a:xfrm>
          <a:prstGeom prst="rect">
            <a:avLst/>
          </a:prstGeom>
          <a:solidFill>
            <a:srgbClr val="3674C1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243584"/>
            <a:ext cx="1105509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5A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easy part is the QuPath extension. Budget your time for the microscope side.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640080" y="1755648"/>
            <a:ext cx="10963656" cy="42793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QuPath talks to a small command server, which drives Micro-Manager, which drives the hardware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instrument is described by its own configuration — the QuPath side does not know what kind of microscope it is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Micro-Manager remains the device layer. We did not reinvent it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1274552" y="6291072"/>
            <a:ext cx="457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A8B2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47</a:t>
            </a:r>
            <a:endParaRPr lang="en-US" sz="1400" dirty="0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11480"/>
            <a:ext cx="2331720" cy="457200"/>
          </a:xfrm>
          <a:prstGeom prst="roundRect">
            <a:avLst>
              <a:gd name="adj" fmla="val 20000"/>
            </a:avLst>
          </a:prstGeom>
          <a:solidFill>
            <a:srgbClr val="FBF1E0"/>
          </a:solidFill>
          <a:ln w="12700">
            <a:solidFill>
              <a:srgbClr val="B26A0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411480"/>
            <a:ext cx="2331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B26A0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▶  LIVE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566928" y="1024128"/>
            <a:ext cx="11055096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F4C8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Acquisition, live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566928" y="1783080"/>
            <a:ext cx="1920240" cy="50292"/>
          </a:xfrm>
          <a:prstGeom prst="rect">
            <a:avLst/>
          </a:prstGeom>
          <a:solidFill>
            <a:srgbClr val="3674C1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2103120"/>
            <a:ext cx="10963656" cy="3017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Draw a bounding box on a slide overview</a:t>
            </a:r>
            <a:endParaRPr lang="en-US" sz="200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Watch the stage move and the tiles come in</a:t>
            </a:r>
            <a:endParaRPr lang="en-US" sz="200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Stitched pyramidal image lands back in the project, with its metadata</a:t>
            </a:r>
            <a:endParaRPr lang="en-US" sz="200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Then open it and annotate it — the loop closes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566928" y="5650992"/>
            <a:ext cx="11055096" cy="566928"/>
          </a:xfrm>
          <a:prstGeom prst="rect">
            <a:avLst/>
          </a:prstGeom>
          <a:solidFill>
            <a:srgbClr val="F4F8FD"/>
          </a:solidFill>
          <a:ln w="9525">
            <a:solidFill>
              <a:srgbClr val="3674C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68096" y="5650992"/>
            <a:ext cx="106527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4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five minutes. Recorded fallback ready if the network or the hardware disagrees.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11274552" y="6291072"/>
            <a:ext cx="457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A8B2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48</a:t>
            </a:r>
            <a:endParaRPr lang="en-US" sz="1400" dirty="0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74320" cy="6858000"/>
          </a:xfrm>
          <a:prstGeom prst="rect">
            <a:avLst/>
          </a:prstGeom>
          <a:solidFill>
            <a:srgbClr val="3674C1"/>
          </a:solidFill>
          <a:ln/>
        </p:spPr>
      </p:sp>
      <p:sp>
        <p:nvSpPr>
          <p:cNvPr id="3" name="Text 1"/>
          <p:cNvSpPr/>
          <p:nvPr/>
        </p:nvSpPr>
        <p:spPr>
          <a:xfrm>
            <a:off x="960120" y="777240"/>
            <a:ext cx="10268712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4C8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Everything is here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960120" y="1691640"/>
            <a:ext cx="8686800" cy="713232"/>
          </a:xfrm>
          <a:prstGeom prst="rect">
            <a:avLst/>
          </a:prstGeom>
          <a:solidFill>
            <a:srgbClr val="E8F0FA"/>
          </a:solidFill>
          <a:ln/>
        </p:spPr>
      </p:sp>
      <p:sp>
        <p:nvSpPr>
          <p:cNvPr id="5" name="Text 3"/>
          <p:cNvSpPr/>
          <p:nvPr/>
        </p:nvSpPr>
        <p:spPr>
          <a:xfrm>
            <a:off x="1188720" y="1691640"/>
            <a:ext cx="841248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4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michaelsnelson.github.io/BINA-I2K-2026-QuPath-Extensions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960120" y="2697480"/>
            <a:ext cx="9811512" cy="2560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written walkthrough and a video for every tool  ·  setup instructions  ·  sample data  ·  these slides
</a:t>
            </a:r>
            <a:pPr indent="0" marL="0">
              <a:spcAft>
                <a:spcPts val="600"/>
              </a:spcAft>
              <a:buNone/>
            </a:pPr>
            <a:r>
              <a:rPr lang="en-US" sz="19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the two catalogs in QuPath, install only what interests you, and restart:
</a:t>
            </a:r>
            <a:pPr indent="0" marL="0">
              <a:spcAft>
                <a:spcPts val="400"/>
              </a:spcAft>
              <a:buNone/>
            </a:pPr>
            <a:r>
              <a:rPr lang="en-US" sz="1800" b="1" dirty="0">
                <a:solidFill>
                  <a:srgbClr val="1F4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github.com/uw-loci/qupath-catalog-mikenelson
</a:t>
            </a:r>
            <a:pPr indent="0" marL="0">
              <a:spcAft>
                <a:spcPts val="1400"/>
              </a:spcAft>
              <a:buNone/>
            </a:pPr>
            <a:r>
              <a:rPr lang="en-US" sz="1800" b="1" dirty="0">
                <a:solidFill>
                  <a:srgbClr val="1F4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github.com/uw-loci/qupath-catalog-qpsc
</a:t>
            </a:r>
            <a:pPr indent="0" marL="0">
              <a:buNone/>
            </a:pPr>
            <a:r>
              <a:rPr lang="en-US" sz="1900" b="1" dirty="0">
                <a:solidFill>
                  <a:srgbClr val="1F4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Whatever we did not reach today, the walkthrough and the video are waiting for you.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960120" y="5532120"/>
            <a:ext cx="981151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5A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Questions welcome now, during the hands-on hour, or by email afterwards.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1274552" y="6291072"/>
            <a:ext cx="457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A8B2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49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49</Slides>
  <Notes>49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49</vt:i4>
      </vt:variant>
    </vt:vector>
  </HeadingPairs>
  <TitlesOfParts>
    <vt:vector size="5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</vt:vector>
  </TitlesOfParts>
  <Company>LOCI, University of Wisconsin-Madison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New Extensions for QuPath</dc:title>
  <dc:subject>PptxGenJS Presentation</dc:subject>
  <dc:creator>Michael S. Nelson</dc:creator>
  <cp:lastModifiedBy>Michael S. Nelson</cp:lastModifiedBy>
  <cp:revision>1</cp:revision>
  <dcterms:created xsi:type="dcterms:W3CDTF">2026-08-10T04:57:47Z</dcterms:created>
  <dcterms:modified xsi:type="dcterms:W3CDTF">2026-08-10T04:57:47Z</dcterms:modified>
</cp:coreProperties>
</file>