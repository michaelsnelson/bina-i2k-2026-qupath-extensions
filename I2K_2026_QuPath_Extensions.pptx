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Who this is for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Anyone who already uses QuPath and has run into its edges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Biologists, pathologists, core facility staff, graduate students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 programming required — nothing today asks you to write a script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few tools generate scripts for you; you never have to write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Helpful if you have opened a project, drawn an annotation, run cell detection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Everything shown today is free, open source, and installable from inside QuPath.</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the hour runs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 exactly as the session title promises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Small quality-of-life tools → export → project-scale work → deep learning →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things are demonstrated but not practised. I will say why each time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Second hour is optional, hands-on, and self-directed — four tracks, or bring your own data</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Slides, guides, exercises and sample data all live at the address above.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tools, two hours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Being up front about this now, rather than rushing at 11:20.</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of tools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of me doing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Nothing depends on being in the room when your tool comes 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few slots are fixed; two more were covered in Sara McArdle’s session yesterday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rest is up to you — vote on the next slide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Walkthroughs and videos for all sixteen: michaelsnelson.github.io/BINA-I2K-2026-QuPath-Extensions/docs/walkthroughs.html</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fibre tools are shown regardless — and Channel Names Viewer and Classify Object Subset were covered in Sara McArdle’s session yesterday.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Extensions and catalogs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What they are, how you install them, and how this suite got built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an extension actually 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single Java component that QuPath loads when it starts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can add menu items, toolbar buttons, dialogs, viewers, whole pipelines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Everything you see today was registered by an extension during startup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install one by dropping it in, or — much better — from a catalog</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Three things that bite everyone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must restart QuPath. It copies the extension into place but will not load it until you do</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Extensions are only loaded at startup, so nothing appears until you restart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live per QuPath version — installing 0.7 will not disturb your 0.6 setup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They are compiled against a specific QuPath API, which is why today needs 0.7 or later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Workshop requirement: QuPath 0.7.0 or later. Nothing here runs on 0.6.</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Catalogs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remember one slide from this section, make it this one.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One URL. QuPath then handles installing, listing, and updating for you</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&gt; Manage extensions &gt; Manage extension catalogs &gt; Add catalog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LOCI catalog  —  github.com/uw-loci/qupath-catalog-mikenelson  (the only one you need today)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Adding a catalog installs NOTHING. It shows you a list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Install only what you want — QP-CAT and the DL classifier each pull 1.5–2.5 GB on first use</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behaviour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Simple wins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Small extensions that pay for themselves on the first day</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Dialog Position Manager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 here.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Remembers where every dialog was, and puts it back next session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Recovers windows stranded on a monitor you have since unplugged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Handles mixed-DPI and display scaling changes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core facility can share one layout across every workstation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It also exists because this class of bug is invisible to automated testing.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you may already have seen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From “Tips and tricks for maintaining sanity during hi-plex classification in QuPath”, Monday 11:00.</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colour-coded legend of the selected channels. "Which one is the green one?", answered permanently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by class, measurement or selection, with a live count before you commit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began as Sara McArdle’s Groovy scripts, and Sara demonstrated both in her session yesterday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a pointer rather than the same demo twice — both install in seconds, and both have a full walkthrough on the site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Nothing stops you installing them. This is a division of labour, not a barrier.</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Wizard Wand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built-in wand is untouched — this installs as a separate tool you can ignore.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Works like the built-in wand, with holes filled and edges smoothed by default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Hold still and the selection grows on its own, instead of dragging to cover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Colour-space modes for grayscale,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Auto-tuning: draw one annotation the way you want it, and it derives its own settings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Auto-tuning is the headline: settings taken from your example beat settings you guessed.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Polyline Wand and Brush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QuPath’s brush and wand work on areas. This brings the same editing to 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Push a section of a traced boundary outward without redrawing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Overshot the end of a vessel trace? Erase backwards from the endpoint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Scissors mode splits one polyline into two, both keeping class, name and colour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even on a ten-thousand-vertex boundary.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auto-tune from a hand-drawn example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smooth a noisy stretch, erase back from an endpoint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colour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Getting things out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QuIET — Image Export Toolkit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Every export writes a script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self-contained script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without the extension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wizard is a script generator, not a black box</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That is the difference between a convenience and a reproducibility tool.</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Reporting guidance, in the dialog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is the community effort on minimum reporting standards for light microscopy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At scale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When it is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Vocabulary matching turns "usually right" into "right, or obviously wrong"</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recognised column makes the bad reads stand out as outliers.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Only the third predicts classifier behaviour.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neighbouring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polarised light. The stage recorded this tile 5 px (0.9 µm) away from where it really was; registration measured that from the overlap and corrected it.</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once, on the image with the clearest structure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The same two tiles, imaged for birefringence</a:t>
            </a:r>
            <a:endParaRPr lang="en-US" sz="1700" dirty="0"/>
          </a:p>
        </p:txBody>
      </p:sp>
      <p:pic>
        <p:nvPicPr>
          <p:cNvPr id="5" name="Image 0" descr="images/stitch_biref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with the positions measured once and reused unchanged</a:t>
            </a:r>
            <a:endParaRPr lang="en-US" sz="1700" dirty="0"/>
          </a:p>
        </p:txBody>
      </p:sp>
      <p:pic>
        <p:nvPicPr>
          <p:cNvPr id="7" name="Image 1" descr="images/stitch_biref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Measure the positions on the image with the most distinct, best separated structure, which is not always the brightest or the busiest one. Every other image of the same tiles reuses that measurement, so they stay aligned with each other.</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Did it actually work?</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interval, not the estimate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"F1 = 0.87, 95% CI [0.82, 0.91]" instead of "87% accurate"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95% from forty cells and 95% from four thousand cells are not the same claim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Bootstrap confidence intervals on every per-class metric</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For probability-producing classifiers: is the confidence itself trustworthy, or just the top class?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model that is 95% confident and 70% correct is a different problem, needing a different fix.</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Confusion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Flagged images usually mean a staining or scanning problem, not a classifier problem</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Gallick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Deep learning</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classifiers, cell classifiers,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per-channel normalisation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Normalisation computed over the whole image, which removes tile-boundary artefacts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needs a dedicated GPU.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most important features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probability maps, not just the winning class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stain, exposure and sensor changes that would quietly degrade predictions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These are the features that tell you when not to trust the output, and the easiest to ignore.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When the model stops working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new scanner, a new stain, a new batch — and last month’s model degrades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Recalibrating to the current image takes seconds and no retraining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adapt the model to your own unlabelled data before committing to a full retrain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consider retraining. It usually recovers most of the loss.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Monday session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environments to manage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Brush a region of the embedding and those cells highlight on the slide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Separate tissue stays separate — no spatial graph edge ever crosses two TMA cores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warning: many features are lightly tested. Treat results as a starting point.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You can check the answer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Learn what a correct result looks like, so you can recognise a wrong one later.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Real multiplexed tissue has no ground truth — you never know which cell is really which type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the exercise uses a synthetic tumour microenvironment where every cell is labelled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 cell types, tumour nests, an immune-infiltrated boundary, B-cell follicles, a proliferation gradient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Inflamed versus desert: one image is 52% lymphoid, another 9% with no B cells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20 MB, public domain, and it downloads straight from GitHub</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Cluster it, then click a boundary cell and find out whether the cluster was telling the truth.</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And getting back to the tissue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A mention rather than a demo — it is the navigation half of the clustering you just saw.</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answers "which cells group together". It does not answer "which cell is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 3D Navigator: a rotatable point cloud, one point per cell, coloured by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Click a point in cluster space and land on that cell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Boundary cells are where classification errors live — this makes them one click away</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 with any clustering tool’s output, not just QP-CAT’s. It only reads; it writes nothing.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Collagen fibre and texture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fibre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fibres running perpendicular to the tumour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 3.0–3.9 for disease-free survival, independent of grade, size and receptor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recurs in arterial adventitia, sclera, alveolar wall, and cardiac fibrosis.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and persistence: wavy versus straightened fibres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fibre-tracing misses entirely</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fibres</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fibres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fibres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Fibres classified by orientation relative to a tumour boundary</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 dense mat and a sparse clump</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 fields can share the same mean fibre alignment and be completely different tissue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Texture measures the spatial heterogeneity that alignment averages away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Which is why both tools are worth running, on the same region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Demo only today: one needs a long environment build, the other a dedicated analysis server.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are thin wrappers over other people’s science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Conklin et al. 2011; Provenzano et al. 2008, BMC Medicine 6:11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08</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Microscope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QPSC — QuPath Scope Control</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positions,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48</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analysed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 and it works perfectly well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49</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configuration — the QuPath side does not know what kind of microscope it is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50</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51</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72768"/>
            <a:ext cx="11055096" cy="2240280"/>
          </a:xfrm>
          <a:prstGeom prst="rect">
            <a:avLst/>
          </a:prstGeom>
          <a:solidFill>
            <a:srgbClr val="E8F0FA"/>
          </a:solidFill>
          <a:ln/>
        </p:spPr>
      </p:sp>
      <p:sp>
        <p:nvSpPr>
          <p:cNvPr id="5" name="Shape 3"/>
          <p:cNvSpPr/>
          <p:nvPr/>
        </p:nvSpPr>
        <p:spPr>
          <a:xfrm>
            <a:off x="566928" y="1572768"/>
            <a:ext cx="146304" cy="2240280"/>
          </a:xfrm>
          <a:prstGeom prst="rect">
            <a:avLst/>
          </a:prstGeom>
          <a:solidFill>
            <a:srgbClr val="3674C1"/>
          </a:solidFill>
          <a:ln/>
        </p:spPr>
      </p:sp>
      <p:sp>
        <p:nvSpPr>
          <p:cNvPr id="6" name="Text 4"/>
          <p:cNvSpPr/>
          <p:nvPr/>
        </p:nvSpPr>
        <p:spPr>
          <a:xfrm>
            <a:off x="978408" y="1737360"/>
            <a:ext cx="10232136" cy="365760"/>
          </a:xfrm>
          <a:prstGeom prst="rect">
            <a:avLst/>
          </a:prstGeom>
          <a:noFill/>
          <a:ln/>
        </p:spPr>
        <p:txBody>
          <a:bodyPr wrap="square" rtlCol="0" anchor="ctr"/>
          <a:lstStyle/>
          <a:p>
            <a:pPr indent="0" marL="0">
              <a:buNone/>
            </a:pPr>
            <a:r>
              <a:rPr lang="en-US" sz="1600" b="1" spc="150" kern="0" dirty="0">
                <a:solidFill>
                  <a:srgbClr val="3674C1"/>
                </a:solidFill>
                <a:latin typeface="Calibri" pitchFamily="34" charset="0"/>
                <a:ea typeface="Calibri" pitchFamily="34" charset="-122"/>
                <a:cs typeface="Calibri" pitchFamily="34" charset="-120"/>
              </a:rPr>
              <a:t>Sample data</a:t>
            </a:r>
            <a:endParaRPr lang="en-US" sz="1600" dirty="0"/>
          </a:p>
        </p:txBody>
      </p:sp>
      <p:sp>
        <p:nvSpPr>
          <p:cNvPr id="7" name="Text 5"/>
          <p:cNvSpPr/>
          <p:nvPr/>
        </p:nvSpPr>
        <p:spPr>
          <a:xfrm>
            <a:off x="978408" y="2103120"/>
            <a:ext cx="10232136" cy="566928"/>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Sara McArdle  ·  Zbigniew Mikulski</a:t>
            </a:r>
            <a:endParaRPr lang="en-US" sz="3200" dirty="0"/>
          </a:p>
        </p:txBody>
      </p:sp>
      <p:sp>
        <p:nvSpPr>
          <p:cNvPr id="8" name="Text 6"/>
          <p:cNvSpPr/>
          <p:nvPr/>
        </p:nvSpPr>
        <p:spPr>
          <a:xfrm>
            <a:off x="978408" y="2670048"/>
            <a:ext cx="10232136" cy="384048"/>
          </a:xfrm>
          <a:prstGeom prst="rect">
            <a:avLst/>
          </a:prstGeom>
          <a:noFill/>
          <a:ln/>
        </p:spPr>
        <p:txBody>
          <a:bodyPr wrap="square" rtlCol="0" anchor="ctr"/>
          <a:lstStyle/>
          <a:p>
            <a:pPr indent="0" marL="0">
              <a:buNone/>
            </a:pPr>
            <a:r>
              <a:rPr lang="en-US" sz="2100" dirty="0">
                <a:solidFill>
                  <a:srgbClr val="1F2933"/>
                </a:solidFill>
                <a:latin typeface="Calibri" pitchFamily="34" charset="0"/>
                <a:ea typeface="Calibri" pitchFamily="34" charset="-122"/>
                <a:cs typeface="Calibri" pitchFamily="34" charset="-120"/>
              </a:rPr>
              <a:t>La Jolla Institute for Immunology</a:t>
            </a:r>
            <a:endParaRPr lang="en-US" sz="2100" dirty="0"/>
          </a:p>
        </p:txBody>
      </p:sp>
      <p:sp>
        <p:nvSpPr>
          <p:cNvPr id="9" name="Text 7"/>
          <p:cNvSpPr/>
          <p:nvPr/>
        </p:nvSpPr>
        <p:spPr>
          <a:xfrm>
            <a:off x="978408" y="3054096"/>
            <a:ext cx="10232136" cy="731520"/>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They provided the slide-label images behind the OCR and metadata exercises.</a:t>
            </a:r>
            <a:endParaRPr lang="en-US" sz="1700" dirty="0"/>
          </a:p>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Other data today: public images, a CC0 synthetic set, and tiles acquired at LOCI.</a:t>
            </a:r>
            <a:endParaRPr lang="en-US" sz="1700" dirty="0"/>
          </a:p>
        </p:txBody>
      </p:sp>
      <p:sp>
        <p:nvSpPr>
          <p:cNvPr id="10" name="Text 8"/>
          <p:cNvSpPr/>
          <p:nvPr/>
        </p:nvSpPr>
        <p:spPr>
          <a:xfrm>
            <a:off x="566928" y="3977640"/>
            <a:ext cx="11055096" cy="2103120"/>
          </a:xfrm>
          <a:prstGeom prst="rect">
            <a:avLst/>
          </a:prstGeom>
          <a:noFill/>
          <a:ln/>
        </p:spPr>
        <p:txBody>
          <a:bodyPr wrap="square" rtlCol="0" anchor="t"/>
          <a:lstStyle/>
          <a:p>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Sara McArdle also shaped the software directly — two of these extensions began as her Groovy scripts, and her FS2K course was the model for how the workshop pages are written.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Kristin Gallick, whose concept and scripts the Confusion Matrix grew from.  ·  Pete Bankhead and the QuPath team.  ·  CT-FIRE, CurveAlign, TACS and TWOMBLI for the fibre work.  ·  CytoMAP and QuBaLab for bringing clustering into QuPath.  ·  QUAREP-LiMi for the reporting standards.  ·  The image.sc community, where several of these features were first requested.
</a:t>
            </a:r>
            <a:pPr indent="0" marL="0">
              <a:buNone/>
            </a:pPr>
            <a:r>
              <a:rPr lang="en-US" sz="17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7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52</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and a video for every tool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1.5–2.5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53</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2026-09-20T02:24:25Z</dcterms:created>
  <dcterms:modified xsi:type="dcterms:W3CDTF">2026-09-20T02:24:25Z</dcterms:modified>
</cp:coreProperties>
</file>