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304"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5" d="100"/>
          <a:sy n="125" d="100"/>
        </p:scale>
        <p:origin x="77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6437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61EEC-F3E4-7C04-6A30-A784A42529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C09EA5-88B5-4E6B-BBDC-7CC8142A5A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0E424A-F21A-B27B-EF59-3FC06DC6D5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17C5F4-54C0-89E9-409A-79FBD394535B}"/>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8584320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uw-loci/qupath-extension-dialog-manager"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hyperlink" Target="https://github.com/uw-loci/qupath-extension-classify-object-subset" TargetMode="External"/><Relationship Id="rId4" Type="http://schemas.openxmlformats.org/officeDocument/2006/relationships/hyperlink" Target="https://github.com/uw-loci/qupath-extension-channel-names-viewer"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uw-loci/qupath-extension-wizard-wan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uw-loci/qupath-extension-polyline-wand"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uw-loci/qupath-extension-image-export-toolkit"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uw-loci/qupath-extension-ocr4labels"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uw-loci/qupath-extension-project-metadata-browser"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uw-loci/qupath-extension-class-distribution"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7.jpg"/><Relationship Id="rId5" Type="http://schemas.openxmlformats.org/officeDocument/2006/relationships/image" Target="../media/image6.jpg"/><Relationship Id="rId4" Type="http://schemas.openxmlformats.org/officeDocument/2006/relationships/image" Target="../media/image5.jpg"/></Relationships>
</file>

<file path=ppt/slides/_rels/slide2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jpg"/></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jpg"/><Relationship Id="rId5" Type="http://schemas.openxmlformats.org/officeDocument/2006/relationships/image" Target="../media/image6.jpg"/><Relationship Id="rId4" Type="http://schemas.openxmlformats.org/officeDocument/2006/relationships/image" Target="../media/image5.jpg"/></Relationships>
</file>

<file path=ppt/slides/_rels/slide2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9.jpg"/></Relationships>
</file>

<file path=ppt/slides/_rels/slide2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1.jpg"/></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uw-loci/qupath-extension-tiles-to-pyramid"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uw-loci/qupath-extension-dl-pixel-classifier"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uw-loci/qupath-extension-cell-analysis-tools" TargetMode="External"/><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hyperlink" Target="https://github.com/uw-loci/qupath-extension-cluster-3d-navigator"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uw-loci/qupath-extension-fiber-analysis"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hyperlink" Target="https://github.com/MichaelSNelson/qupath-extension-TME-Quant"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uw-loci/qupath-extension-qpsc" TargetMode="External"/><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txBody>
          <a:bodyPr/>
          <a:lstStyle/>
          <a:p>
            <a:endParaRPr lang="en-US"/>
          </a:p>
        </p:txBody>
      </p:sp>
      <p:sp>
        <p:nvSpPr>
          <p:cNvPr id="3" name="Text 1"/>
          <p:cNvSpPr/>
          <p:nvPr/>
        </p:nvSpPr>
        <p:spPr>
          <a:xfrm>
            <a:off x="960120" y="1051560"/>
            <a:ext cx="10268712" cy="384048"/>
          </a:xfrm>
          <a:prstGeom prst="rect">
            <a:avLst/>
          </a:prstGeom>
          <a:noFill/>
          <a:ln/>
        </p:spPr>
        <p:txBody>
          <a:bodyPr wrap="square" rtlCol="0" anchor="ctr"/>
          <a:lstStyle/>
          <a:p>
            <a:pPr marL="0" indent="0">
              <a:buNone/>
            </a:pPr>
            <a:r>
              <a:rPr lang="en-US" sz="1700" b="1" kern="0" spc="15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marL="0" indent="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marL="0" indent="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marL="0" indent="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txBody>
          <a:bodyPr/>
          <a:lstStyle/>
          <a:p>
            <a:endParaRPr lang="en-US"/>
          </a:p>
        </p:txBody>
      </p:sp>
      <p:sp>
        <p:nvSpPr>
          <p:cNvPr id="7" name="Text 5"/>
          <p:cNvSpPr/>
          <p:nvPr/>
        </p:nvSpPr>
        <p:spPr>
          <a:xfrm>
            <a:off x="960120" y="3886200"/>
            <a:ext cx="7315200" cy="384048"/>
          </a:xfrm>
          <a:prstGeom prst="rect">
            <a:avLst/>
          </a:prstGeom>
          <a:noFill/>
          <a:ln/>
        </p:spPr>
        <p:txBody>
          <a:bodyPr wrap="square" rtlCol="0" anchor="ctr"/>
          <a:lstStyle/>
          <a:p>
            <a:pPr marL="0" indent="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marL="0" indent="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marL="0" indent="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txBody>
          <a:bodyPr/>
          <a:lstStyle/>
          <a:p>
            <a:endParaRPr lang="en-US"/>
          </a:p>
        </p:txBody>
      </p:sp>
      <p:sp>
        <p:nvSpPr>
          <p:cNvPr id="10" name="Text 8"/>
          <p:cNvSpPr/>
          <p:nvPr/>
        </p:nvSpPr>
        <p:spPr>
          <a:xfrm>
            <a:off x="1143000" y="5257800"/>
            <a:ext cx="6675120" cy="566928"/>
          </a:xfrm>
          <a:prstGeom prst="rect">
            <a:avLst/>
          </a:prstGeom>
          <a:noFill/>
          <a:ln/>
        </p:spPr>
        <p:txBody>
          <a:bodyPr wrap="square" rtlCol="0" anchor="ctr"/>
          <a:lstStyle/>
          <a:p>
            <a:pPr marL="0" indent="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marL="0" indent="0" algn="r">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marL="0" indent="0" algn="r">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pic>
        <p:nvPicPr>
          <p:cNvPr id="13" name="Picture 12" descr="QuPath">
            <a:extLst>
              <a:ext uri="{FF2B5EF4-FFF2-40B4-BE49-F238E27FC236}">
                <a16:creationId xmlns:a16="http://schemas.microsoft.com/office/drawing/2014/main" id="{D818F128-0680-0A0D-EAAC-E2043EB57369}"/>
              </a:ext>
            </a:extLst>
          </p:cNvPr>
          <p:cNvPicPr>
            <a:picLocks noChangeAspect="1"/>
          </p:cNvPicPr>
          <p:nvPr/>
        </p:nvPicPr>
        <p:blipFill>
          <a:blip r:embed="rId3"/>
          <a:stretch>
            <a:fillRect/>
          </a:stretch>
        </p:blipFill>
        <p:spPr>
          <a:xfrm>
            <a:off x="8958580" y="147828"/>
            <a:ext cx="2667000" cy="266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03504-AC39-B4C7-2BE7-E969D50B40A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28D72F0-B698-0DCF-66D2-413B9DDD1765}"/>
              </a:ext>
            </a:extLst>
          </p:cNvPr>
          <p:cNvSpPr/>
          <p:nvPr/>
        </p:nvSpPr>
        <p:spPr>
          <a:xfrm>
            <a:off x="0" y="0"/>
            <a:ext cx="274320" cy="6858000"/>
          </a:xfrm>
          <a:prstGeom prst="rect">
            <a:avLst/>
          </a:prstGeom>
          <a:solidFill>
            <a:srgbClr val="3674C1"/>
          </a:solidFill>
          <a:ln/>
        </p:spPr>
        <p:txBody>
          <a:bodyPr/>
          <a:lstStyle/>
          <a:p>
            <a:endParaRPr lang="en-US"/>
          </a:p>
        </p:txBody>
      </p:sp>
      <p:sp>
        <p:nvSpPr>
          <p:cNvPr id="3" name="Text 1">
            <a:extLst>
              <a:ext uri="{FF2B5EF4-FFF2-40B4-BE49-F238E27FC236}">
                <a16:creationId xmlns:a16="http://schemas.microsoft.com/office/drawing/2014/main" id="{94AECB44-CEFA-4FD8-9533-1966516C2FC9}"/>
              </a:ext>
            </a:extLst>
          </p:cNvPr>
          <p:cNvSpPr/>
          <p:nvPr/>
        </p:nvSpPr>
        <p:spPr>
          <a:xfrm>
            <a:off x="960120" y="1051560"/>
            <a:ext cx="10268712" cy="384048"/>
          </a:xfrm>
          <a:prstGeom prst="rect">
            <a:avLst/>
          </a:prstGeom>
          <a:noFill/>
          <a:ln/>
        </p:spPr>
        <p:txBody>
          <a:bodyPr wrap="square" rtlCol="0" anchor="ctr"/>
          <a:lstStyle/>
          <a:p>
            <a:pPr marL="0" indent="0">
              <a:buNone/>
            </a:pPr>
            <a:r>
              <a:rPr lang="en-US" sz="1700" b="1" kern="0" spc="15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a:extLst>
              <a:ext uri="{FF2B5EF4-FFF2-40B4-BE49-F238E27FC236}">
                <a16:creationId xmlns:a16="http://schemas.microsoft.com/office/drawing/2014/main" id="{549402D7-CD62-B842-5DD9-9791E09F50AA}"/>
              </a:ext>
            </a:extLst>
          </p:cNvPr>
          <p:cNvSpPr/>
          <p:nvPr/>
        </p:nvSpPr>
        <p:spPr>
          <a:xfrm>
            <a:off x="960120" y="1481328"/>
            <a:ext cx="10268712" cy="1051560"/>
          </a:xfrm>
          <a:prstGeom prst="rect">
            <a:avLst/>
          </a:prstGeom>
          <a:noFill/>
          <a:ln/>
        </p:spPr>
        <p:txBody>
          <a:bodyPr wrap="square" rtlCol="0" anchor="ctr"/>
          <a:lstStyle/>
          <a:p>
            <a:pPr marL="0" indent="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a:extLst>
              <a:ext uri="{FF2B5EF4-FFF2-40B4-BE49-F238E27FC236}">
                <a16:creationId xmlns:a16="http://schemas.microsoft.com/office/drawing/2014/main" id="{E43E49FA-5C0A-5271-A659-ECE0F362C86A}"/>
              </a:ext>
            </a:extLst>
          </p:cNvPr>
          <p:cNvSpPr/>
          <p:nvPr/>
        </p:nvSpPr>
        <p:spPr>
          <a:xfrm>
            <a:off x="960120" y="2578608"/>
            <a:ext cx="9445752" cy="914400"/>
          </a:xfrm>
          <a:prstGeom prst="rect">
            <a:avLst/>
          </a:prstGeom>
          <a:noFill/>
          <a:ln/>
        </p:spPr>
        <p:txBody>
          <a:bodyPr wrap="square" rtlCol="0" anchor="ctr"/>
          <a:lstStyle/>
          <a:p>
            <a:pPr marL="0" indent="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marL="0" indent="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a:extLst>
              <a:ext uri="{FF2B5EF4-FFF2-40B4-BE49-F238E27FC236}">
                <a16:creationId xmlns:a16="http://schemas.microsoft.com/office/drawing/2014/main" id="{9FC2AB75-317C-D0FD-E59D-3B448DC4A877}"/>
              </a:ext>
            </a:extLst>
          </p:cNvPr>
          <p:cNvSpPr/>
          <p:nvPr/>
        </p:nvSpPr>
        <p:spPr>
          <a:xfrm>
            <a:off x="960120" y="3657600"/>
            <a:ext cx="2377440" cy="54864"/>
          </a:xfrm>
          <a:prstGeom prst="rect">
            <a:avLst/>
          </a:prstGeom>
          <a:solidFill>
            <a:srgbClr val="3674C1"/>
          </a:solidFill>
          <a:ln/>
        </p:spPr>
        <p:txBody>
          <a:bodyPr/>
          <a:lstStyle/>
          <a:p>
            <a:endParaRPr lang="en-US"/>
          </a:p>
        </p:txBody>
      </p:sp>
      <p:sp>
        <p:nvSpPr>
          <p:cNvPr id="7" name="Text 5">
            <a:extLst>
              <a:ext uri="{FF2B5EF4-FFF2-40B4-BE49-F238E27FC236}">
                <a16:creationId xmlns:a16="http://schemas.microsoft.com/office/drawing/2014/main" id="{F0D8EDD8-95DB-1101-8311-F4F89012E9EF}"/>
              </a:ext>
            </a:extLst>
          </p:cNvPr>
          <p:cNvSpPr/>
          <p:nvPr/>
        </p:nvSpPr>
        <p:spPr>
          <a:xfrm>
            <a:off x="960120" y="3886200"/>
            <a:ext cx="7315200" cy="384048"/>
          </a:xfrm>
          <a:prstGeom prst="rect">
            <a:avLst/>
          </a:prstGeom>
          <a:noFill/>
          <a:ln/>
        </p:spPr>
        <p:txBody>
          <a:bodyPr wrap="square" rtlCol="0" anchor="ctr"/>
          <a:lstStyle/>
          <a:p>
            <a:pPr marL="0" indent="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a:extLst>
              <a:ext uri="{FF2B5EF4-FFF2-40B4-BE49-F238E27FC236}">
                <a16:creationId xmlns:a16="http://schemas.microsoft.com/office/drawing/2014/main" id="{294E84F5-62DE-3665-12B7-F436D02D7619}"/>
              </a:ext>
            </a:extLst>
          </p:cNvPr>
          <p:cNvSpPr/>
          <p:nvPr/>
        </p:nvSpPr>
        <p:spPr>
          <a:xfrm>
            <a:off x="960120" y="4279392"/>
            <a:ext cx="7315200" cy="731520"/>
          </a:xfrm>
          <a:prstGeom prst="rect">
            <a:avLst/>
          </a:prstGeom>
          <a:noFill/>
          <a:ln/>
        </p:spPr>
        <p:txBody>
          <a:bodyPr wrap="square" rtlCol="0" anchor="ctr"/>
          <a:lstStyle/>
          <a:p>
            <a:pPr marL="0" indent="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marL="0" indent="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a:extLst>
              <a:ext uri="{FF2B5EF4-FFF2-40B4-BE49-F238E27FC236}">
                <a16:creationId xmlns:a16="http://schemas.microsoft.com/office/drawing/2014/main" id="{A0A1FC2F-037F-3729-6A72-9472DA55E858}"/>
              </a:ext>
            </a:extLst>
          </p:cNvPr>
          <p:cNvSpPr/>
          <p:nvPr/>
        </p:nvSpPr>
        <p:spPr>
          <a:xfrm>
            <a:off x="960120" y="5257800"/>
            <a:ext cx="6949440" cy="566928"/>
          </a:xfrm>
          <a:prstGeom prst="rect">
            <a:avLst/>
          </a:prstGeom>
          <a:solidFill>
            <a:srgbClr val="E8F0FA"/>
          </a:solidFill>
          <a:ln/>
        </p:spPr>
        <p:txBody>
          <a:bodyPr/>
          <a:lstStyle/>
          <a:p>
            <a:endParaRPr lang="en-US"/>
          </a:p>
        </p:txBody>
      </p:sp>
      <p:sp>
        <p:nvSpPr>
          <p:cNvPr id="10" name="Text 8">
            <a:extLst>
              <a:ext uri="{FF2B5EF4-FFF2-40B4-BE49-F238E27FC236}">
                <a16:creationId xmlns:a16="http://schemas.microsoft.com/office/drawing/2014/main" id="{83820046-C69D-3ECF-64F2-E11BAEDD8F5F}"/>
              </a:ext>
            </a:extLst>
          </p:cNvPr>
          <p:cNvSpPr/>
          <p:nvPr/>
        </p:nvSpPr>
        <p:spPr>
          <a:xfrm>
            <a:off x="1143000" y="5257800"/>
            <a:ext cx="6675120" cy="566928"/>
          </a:xfrm>
          <a:prstGeom prst="rect">
            <a:avLst/>
          </a:prstGeom>
          <a:noFill/>
          <a:ln/>
        </p:spPr>
        <p:txBody>
          <a:bodyPr wrap="square" rtlCol="0" anchor="ctr"/>
          <a:lstStyle/>
          <a:p>
            <a:pPr marL="0" indent="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a:extLst>
              <a:ext uri="{FF2B5EF4-FFF2-40B4-BE49-F238E27FC236}">
                <a16:creationId xmlns:a16="http://schemas.microsoft.com/office/drawing/2014/main" id="{5D39A8FA-67FD-A7C1-14CB-DFCCCB99CC80}"/>
              </a:ext>
            </a:extLst>
          </p:cNvPr>
          <p:cNvSpPr/>
          <p:nvPr/>
        </p:nvSpPr>
        <p:spPr>
          <a:xfrm>
            <a:off x="7525512" y="5257800"/>
            <a:ext cx="4023360" cy="731520"/>
          </a:xfrm>
          <a:prstGeom prst="rect">
            <a:avLst/>
          </a:prstGeom>
          <a:noFill/>
          <a:ln/>
        </p:spPr>
        <p:txBody>
          <a:bodyPr wrap="square" rtlCol="0" anchor="ctr"/>
          <a:lstStyle/>
          <a:p>
            <a:pPr marL="0" indent="0" algn="r">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marL="0" indent="0" algn="r">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a:extLst>
              <a:ext uri="{FF2B5EF4-FFF2-40B4-BE49-F238E27FC236}">
                <a16:creationId xmlns:a16="http://schemas.microsoft.com/office/drawing/2014/main" id="{07506F6F-F6C7-E668-C3E9-A85E6D59E1E6}"/>
              </a:ext>
            </a:extLst>
          </p:cNvPr>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pic>
        <p:nvPicPr>
          <p:cNvPr id="13" name="Picture 12" descr="QuPath">
            <a:extLst>
              <a:ext uri="{FF2B5EF4-FFF2-40B4-BE49-F238E27FC236}">
                <a16:creationId xmlns:a16="http://schemas.microsoft.com/office/drawing/2014/main" id="{002F9AAA-2BFC-2AB4-D8D5-0C23DFF54469}"/>
              </a:ext>
            </a:extLst>
          </p:cNvPr>
          <p:cNvPicPr>
            <a:picLocks noChangeAspect="1"/>
          </p:cNvPicPr>
          <p:nvPr/>
        </p:nvPicPr>
        <p:blipFill>
          <a:blip r:embed="rId3"/>
          <a:stretch>
            <a:fillRect/>
          </a:stretch>
        </p:blipFill>
        <p:spPr>
          <a:xfrm>
            <a:off x="8958580" y="147828"/>
            <a:ext cx="2667000" cy="4769612"/>
          </a:xfrm>
          <a:prstGeom prst="rect">
            <a:avLst/>
          </a:prstGeom>
        </p:spPr>
      </p:pic>
    </p:spTree>
    <p:extLst>
      <p:ext uri="{BB962C8B-B14F-4D97-AF65-F5344CB8AC3E}">
        <p14:creationId xmlns:p14="http://schemas.microsoft.com/office/powerpoint/2010/main" val="22385162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marL="0" indent="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txBody>
          <a:bodyPr/>
          <a:lstStyle/>
          <a:p>
            <a:endParaRPr lang="en-US"/>
          </a:p>
        </p:txBody>
      </p:sp>
      <p:sp>
        <p:nvSpPr>
          <p:cNvPr id="5" name="Shape 3"/>
          <p:cNvSpPr/>
          <p:nvPr/>
        </p:nvSpPr>
        <p:spPr>
          <a:xfrm>
            <a:off x="566928" y="1517904"/>
            <a:ext cx="146304" cy="676656"/>
          </a:xfrm>
          <a:prstGeom prst="rect">
            <a:avLst/>
          </a:prstGeom>
          <a:solidFill>
            <a:srgbClr val="3674C1"/>
          </a:solidFill>
          <a:ln/>
        </p:spPr>
        <p:txBody>
          <a:bodyPr/>
          <a:lstStyle/>
          <a:p>
            <a:endParaRPr lang="en-US"/>
          </a:p>
        </p:txBody>
      </p:sp>
      <p:sp>
        <p:nvSpPr>
          <p:cNvPr id="6" name="Text 4"/>
          <p:cNvSpPr/>
          <p:nvPr/>
        </p:nvSpPr>
        <p:spPr>
          <a:xfrm>
            <a:off x="978408" y="1645920"/>
            <a:ext cx="10232136" cy="310896"/>
          </a:xfrm>
          <a:prstGeom prst="rect">
            <a:avLst/>
          </a:prstGeom>
          <a:noFill/>
          <a:ln/>
        </p:spPr>
        <p:txBody>
          <a:bodyPr wrap="square" rtlCol="0" anchor="ctr"/>
          <a:lstStyle/>
          <a:p>
            <a:pPr marL="0" indent="0">
              <a:buNone/>
            </a:pPr>
            <a:r>
              <a:rPr lang="en-US" sz="1500" b="1" kern="0" spc="150" dirty="0">
                <a:solidFill>
                  <a:srgbClr val="3674C1"/>
                </a:solidFill>
                <a:latin typeface="Calibri" pitchFamily="34" charset="0"/>
                <a:ea typeface="Calibri" pitchFamily="34" charset="-122"/>
                <a:cs typeface="Calibri" pitchFamily="34" charset="-120"/>
              </a:rPr>
              <a:t>LOCI</a:t>
            </a:r>
            <a:endParaRPr lang="en-US" sz="1500" dirty="0"/>
          </a:p>
        </p:txBody>
      </p:sp>
      <p:sp>
        <p:nvSpPr>
          <p:cNvPr id="7" name="Text 5"/>
          <p:cNvSpPr/>
          <p:nvPr/>
        </p:nvSpPr>
        <p:spPr>
          <a:xfrm>
            <a:off x="1728216" y="1536954"/>
            <a:ext cx="2813304" cy="530352"/>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Kevin Eliceiri</a:t>
            </a:r>
            <a:endParaRPr lang="en-US" sz="3000" dirty="0"/>
          </a:p>
        </p:txBody>
      </p:sp>
      <p:sp>
        <p:nvSpPr>
          <p:cNvPr id="9" name="Text 7"/>
          <p:cNvSpPr/>
          <p:nvPr/>
        </p:nvSpPr>
        <p:spPr>
          <a:xfrm>
            <a:off x="534416" y="2763968"/>
            <a:ext cx="11055096" cy="3718112"/>
          </a:xfrm>
          <a:prstGeom prst="rect">
            <a:avLst/>
          </a:prstGeom>
          <a:noFill/>
          <a:ln/>
        </p:spPr>
        <p:txBody>
          <a:bodyPr wrap="square" rtlCol="0" anchor="t"/>
          <a:lstStyle/>
          <a:p>
            <a:pPr>
              <a:spcAft>
                <a:spcPts val="900"/>
              </a:spcAft>
            </a:pPr>
            <a:r>
              <a:rPr lang="en-US" sz="1600" dirty="0">
                <a:solidFill>
                  <a:srgbClr val="1F2933"/>
                </a:solidFill>
                <a:latin typeface="Calibri" pitchFamily="34" charset="0"/>
                <a:ea typeface="Calibri" pitchFamily="34" charset="-122"/>
                <a:cs typeface="Calibri" pitchFamily="34" charset="-120"/>
              </a:rPr>
              <a:t>Sample data: Sara McArdle and Zbigniew Mikulski, La Jolla Institute for Immunology, who provided the slide-label images behind the OCR and metadata exercises. 
Sara McArdle also shaped the software directly: the </a:t>
            </a:r>
            <a:r>
              <a:rPr lang="en-US" sz="1600" i="1" dirty="0">
                <a:solidFill>
                  <a:srgbClr val="1F2933"/>
                </a:solidFill>
                <a:latin typeface="Calibri" pitchFamily="34" charset="0"/>
                <a:ea typeface="Calibri" pitchFamily="34" charset="-122"/>
                <a:cs typeface="Calibri" pitchFamily="34" charset="-120"/>
              </a:rPr>
              <a:t>channel legend</a:t>
            </a:r>
            <a:r>
              <a:rPr lang="en-US" sz="1600" dirty="0">
                <a:solidFill>
                  <a:srgbClr val="1F2933"/>
                </a:solidFill>
                <a:latin typeface="Calibri" pitchFamily="34" charset="0"/>
                <a:ea typeface="Calibri" pitchFamily="34" charset="-122"/>
                <a:cs typeface="Calibri" pitchFamily="34" charset="-120"/>
              </a:rPr>
              <a:t> and </a:t>
            </a:r>
            <a:r>
              <a:rPr lang="en-US" sz="1600" i="1" dirty="0">
                <a:solidFill>
                  <a:srgbClr val="1F2933"/>
                </a:solidFill>
                <a:latin typeface="Calibri" pitchFamily="34" charset="0"/>
                <a:ea typeface="Calibri" pitchFamily="34" charset="-122"/>
                <a:cs typeface="Calibri" pitchFamily="34" charset="-120"/>
              </a:rPr>
              <a:t>subset classifier </a:t>
            </a:r>
            <a:r>
              <a:rPr lang="en-US" sz="1600" dirty="0">
                <a:solidFill>
                  <a:srgbClr val="1F2933"/>
                </a:solidFill>
                <a:latin typeface="Calibri" pitchFamily="34" charset="0"/>
                <a:ea typeface="Calibri" pitchFamily="34" charset="-122"/>
                <a:cs typeface="Calibri" pitchFamily="34" charset="-120"/>
              </a:rPr>
              <a:t>were prompted by her scripts. Her FS2K course got me started on doing workshops at all!
Kristin Gallik, whose concept and scripts the Confusion Matrix grew from.  </a:t>
            </a:r>
          </a:p>
          <a:p>
            <a:pPr>
              <a:spcAft>
                <a:spcPts val="900"/>
              </a:spcAft>
            </a:pPr>
            <a:r>
              <a:rPr lang="en-US" sz="1600" dirty="0">
                <a:solidFill>
                  <a:srgbClr val="1F2933"/>
                </a:solidFill>
                <a:latin typeface="Calibri" pitchFamily="34" charset="0"/>
                <a:ea typeface="Calibri" pitchFamily="34" charset="-122"/>
                <a:cs typeface="Calibri" pitchFamily="34" charset="-120"/>
              </a:rPr>
              <a:t>·  Pete Bankhead and the QuPath team. </a:t>
            </a:r>
          </a:p>
          <a:p>
            <a:pPr>
              <a:spcAft>
                <a:spcPts val="900"/>
              </a:spcAft>
            </a:pPr>
            <a:r>
              <a:rPr lang="en-US" sz="1600" dirty="0">
                <a:solidFill>
                  <a:srgbClr val="1F2933"/>
                </a:solidFill>
                <a:latin typeface="Calibri" pitchFamily="34" charset="0"/>
                <a:ea typeface="Calibri" pitchFamily="34" charset="-122"/>
                <a:cs typeface="Calibri" pitchFamily="34" charset="-120"/>
              </a:rPr>
              <a:t>·  QUAREP-LiMi for the reporting standards.  </a:t>
            </a:r>
          </a:p>
          <a:p>
            <a:pPr>
              <a:spcAft>
                <a:spcPts val="900"/>
              </a:spcAft>
            </a:pPr>
            <a:r>
              <a:rPr lang="en-US" sz="1600" dirty="0">
                <a:solidFill>
                  <a:srgbClr val="1F2933"/>
                </a:solidFill>
                <a:latin typeface="Calibri" pitchFamily="34" charset="0"/>
                <a:ea typeface="Calibri" pitchFamily="34" charset="-122"/>
                <a:cs typeface="Calibri" pitchFamily="34" charset="-120"/>
              </a:rPr>
              <a:t>·  The image.sc community, where several of these features were first requested.
Much of this code was written with Claude (Anthropic) under close direction. 
</a:t>
            </a:r>
            <a:r>
              <a:rPr lang="en-US" sz="16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600" dirty="0"/>
          </a:p>
        </p:txBody>
      </p:sp>
      <p:sp>
        <p:nvSpPr>
          <p:cNvPr id="10" name="Text 8"/>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pic>
        <p:nvPicPr>
          <p:cNvPr id="13" name="Picture 12">
            <a:extLst>
              <a:ext uri="{FF2B5EF4-FFF2-40B4-BE49-F238E27FC236}">
                <a16:creationId xmlns:a16="http://schemas.microsoft.com/office/drawing/2014/main" id="{49C77AEC-4AD7-E455-8851-8DCABDBB622C}"/>
              </a:ext>
            </a:extLst>
          </p:cNvPr>
          <p:cNvPicPr>
            <a:picLocks noChangeAspect="1"/>
          </p:cNvPicPr>
          <p:nvPr/>
        </p:nvPicPr>
        <p:blipFill>
          <a:blip r:embed="rId3"/>
          <a:stretch>
            <a:fillRect/>
          </a:stretch>
        </p:blipFill>
        <p:spPr>
          <a:xfrm>
            <a:off x="10734293" y="1388177"/>
            <a:ext cx="1019175" cy="1314450"/>
          </a:xfrm>
          <a:prstGeom prst="rect">
            <a:avLst/>
          </a:prstGeom>
        </p:spPr>
      </p:pic>
      <p:pic>
        <p:nvPicPr>
          <p:cNvPr id="14" name="Picture 13">
            <a:extLst>
              <a:ext uri="{FF2B5EF4-FFF2-40B4-BE49-F238E27FC236}">
                <a16:creationId xmlns:a16="http://schemas.microsoft.com/office/drawing/2014/main" id="{7899D716-59C4-C62F-6DF9-9D59ACB8DD1C}"/>
              </a:ext>
            </a:extLst>
          </p:cNvPr>
          <p:cNvPicPr>
            <a:picLocks noChangeAspect="1"/>
          </p:cNvPicPr>
          <p:nvPr/>
        </p:nvPicPr>
        <p:blipFill>
          <a:blip r:embed="rId4"/>
          <a:stretch>
            <a:fillRect/>
          </a:stretch>
        </p:blipFill>
        <p:spPr>
          <a:xfrm>
            <a:off x="6984873" y="1388177"/>
            <a:ext cx="1085850" cy="1266825"/>
          </a:xfrm>
          <a:prstGeom prst="rect">
            <a:avLst/>
          </a:prstGeom>
        </p:spPr>
      </p:pic>
      <p:sp>
        <p:nvSpPr>
          <p:cNvPr id="15" name="TextBox 14">
            <a:extLst>
              <a:ext uri="{FF2B5EF4-FFF2-40B4-BE49-F238E27FC236}">
                <a16:creationId xmlns:a16="http://schemas.microsoft.com/office/drawing/2014/main" id="{4EAF5425-79ED-9557-3938-E54FE94E3BFE}"/>
              </a:ext>
            </a:extLst>
          </p:cNvPr>
          <p:cNvSpPr txBox="1"/>
          <p:nvPr/>
        </p:nvSpPr>
        <p:spPr>
          <a:xfrm>
            <a:off x="4918345" y="1387816"/>
            <a:ext cx="2066528" cy="923330"/>
          </a:xfrm>
          <a:prstGeom prst="rect">
            <a:avLst/>
          </a:prstGeom>
          <a:noFill/>
        </p:spPr>
        <p:txBody>
          <a:bodyPr wrap="none" rtlCol="0">
            <a:spAutoFit/>
          </a:bodyPr>
          <a:lstStyle/>
          <a:p>
            <a:r>
              <a:rPr lang="en-US" dirty="0"/>
              <a:t>Mark Tsuchida</a:t>
            </a:r>
          </a:p>
          <a:p>
            <a:r>
              <a:rPr lang="en-US" dirty="0" err="1"/>
              <a:t>MicroManager</a:t>
            </a:r>
            <a:endParaRPr lang="en-US" dirty="0"/>
          </a:p>
          <a:p>
            <a:r>
              <a:rPr lang="en-US" dirty="0"/>
              <a:t>Hardware questions</a:t>
            </a:r>
          </a:p>
        </p:txBody>
      </p:sp>
      <p:sp>
        <p:nvSpPr>
          <p:cNvPr id="16" name="TextBox 15">
            <a:extLst>
              <a:ext uri="{FF2B5EF4-FFF2-40B4-BE49-F238E27FC236}">
                <a16:creationId xmlns:a16="http://schemas.microsoft.com/office/drawing/2014/main" id="{B3DA0BBD-E654-8552-C137-051BF27D6EA3}"/>
              </a:ext>
            </a:extLst>
          </p:cNvPr>
          <p:cNvSpPr txBox="1"/>
          <p:nvPr/>
        </p:nvSpPr>
        <p:spPr>
          <a:xfrm>
            <a:off x="8691880" y="1385530"/>
            <a:ext cx="2095125" cy="1200329"/>
          </a:xfrm>
          <a:prstGeom prst="rect">
            <a:avLst/>
          </a:prstGeom>
          <a:noFill/>
        </p:spPr>
        <p:txBody>
          <a:bodyPr wrap="none" rtlCol="0">
            <a:spAutoFit/>
          </a:bodyPr>
          <a:lstStyle/>
          <a:p>
            <a:r>
              <a:rPr lang="en-US" dirty="0"/>
              <a:t>Jenu Chacko</a:t>
            </a:r>
          </a:p>
          <a:p>
            <a:r>
              <a:rPr lang="en-US" dirty="0"/>
              <a:t>Python side of QPSC</a:t>
            </a:r>
          </a:p>
          <a:p>
            <a:r>
              <a:rPr lang="en-US" dirty="0"/>
              <a:t>Overall guidance</a:t>
            </a:r>
          </a:p>
          <a:p>
            <a:r>
              <a:rPr lang="en-US" dirty="0"/>
              <a:t>Where is that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tool has a full written walkthrough, and a video to follow</a:t>
            </a:r>
            <a:endParaRPr lang="en-US" sz="2000" dirty="0"/>
          </a:p>
          <a:p>
            <a:pPr marL="342900" indent="-342900">
              <a:lnSpc>
                <a:spcPct val="105000"/>
              </a:lnSpc>
              <a:spcAft>
                <a:spcPts val="1200"/>
              </a:spcAft>
              <a:buSzPct val="100000"/>
              <a:buChar char="•"/>
            </a:pPr>
            <a:endParaRPr lang="en-US" sz="2000" dirty="0">
              <a:solidFill>
                <a:srgbClr val="1F2933"/>
              </a:solidFill>
              <a:latin typeface="Calibri" pitchFamily="34" charset="0"/>
              <a:ea typeface="Calibri" pitchFamily="34" charset="-122"/>
              <a:cs typeface="Calibri" pitchFamily="34" charset="-120"/>
            </a:endParaRPr>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7" name="Text 5"/>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marL="0" indent="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txBody>
          <a:bodyPr/>
          <a:lstStyle/>
          <a:p>
            <a:endParaRPr lang="en-US"/>
          </a:p>
        </p:txBody>
      </p:sp>
      <p:sp>
        <p:nvSpPr>
          <p:cNvPr id="4" name="Shape 2"/>
          <p:cNvSpPr/>
          <p:nvPr/>
        </p:nvSpPr>
        <p:spPr>
          <a:xfrm>
            <a:off x="566928" y="2148840"/>
            <a:ext cx="11055096" cy="1371600"/>
          </a:xfrm>
          <a:prstGeom prst="rect">
            <a:avLst/>
          </a:prstGeom>
          <a:solidFill>
            <a:srgbClr val="E8F0FA"/>
          </a:solidFill>
          <a:ln/>
        </p:spPr>
        <p:txBody>
          <a:bodyPr/>
          <a:lstStyle/>
          <a:p>
            <a:endParaRPr lang="en-US"/>
          </a:p>
        </p:txBody>
      </p:sp>
      <p:sp>
        <p:nvSpPr>
          <p:cNvPr id="5" name="Text 3"/>
          <p:cNvSpPr/>
          <p:nvPr/>
        </p:nvSpPr>
        <p:spPr>
          <a:xfrm>
            <a:off x="841248" y="2148840"/>
            <a:ext cx="10506456" cy="1371600"/>
          </a:xfrm>
          <a:prstGeom prst="rect">
            <a:avLst/>
          </a:prstGeom>
          <a:noFill/>
          <a:ln/>
        </p:spPr>
        <p:txBody>
          <a:bodyPr wrap="square" rtlCol="0" anchor="ctr"/>
          <a:lstStyle/>
          <a:p>
            <a:pPr marL="0" indent="0" algn="ctr">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marL="0" indent="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r>
              <a:rPr lang="en-US" sz="1800" i="1" dirty="0">
                <a:solidFill>
                  <a:srgbClr val="5A6675"/>
                </a:solidFill>
                <a:latin typeface="Calibri" pitchFamily="34" charset="0"/>
                <a:ea typeface="Calibri" pitchFamily="34" charset="-122"/>
                <a:cs typeface="Calibri" pitchFamily="34" charset="-120"/>
              </a:rPr>
              <a:t>Already fixed: QPSC, the Confusion Matrix and the fiber tools are shown regardless — and Channel Names Viewer and Classify Object Subset were covered in Sara McArdle’s session yesterday.
</a:t>
            </a:r>
            <a:r>
              <a:rPr lang="en-US" sz="2000" dirty="0">
                <a:solidFill>
                  <a:srgbClr val="1F2933"/>
                </a:solidFill>
                <a:latin typeface="Calibri" pitchFamily="34" charset="0"/>
                <a:ea typeface="Calibri" pitchFamily="34" charset="-122"/>
                <a:cs typeface="Calibri" pitchFamily="34" charset="-120"/>
              </a:rPr>
              <a:t>I will read it now and adjust the running order.
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7" name="Text 5"/>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Five small tools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Dialog Manager · Channel Names · Classify Subset · Wizard Wand · Polyline Wand</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Dialog Manager, Channel Names, Classify Subset</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Dialog Manager</a:t>
            </a:r>
            <a:endParaRPr lang="en-US" sz="1000" dirty="0"/>
          </a:p>
        </p:txBody>
      </p:sp>
      <p:sp>
        <p:nvSpPr>
          <p:cNvPr id="6" name="Shape 4"/>
          <p:cNvSpPr/>
          <p:nvPr/>
        </p:nvSpPr>
        <p:spPr>
          <a:xfrm>
            <a:off x="10479024" y="1536192"/>
            <a:ext cx="804672" cy="804672"/>
          </a:xfrm>
          <a:prstGeom prst="rect">
            <a:avLst/>
          </a:prstGeom>
          <a:solidFill>
            <a:srgbClr val="FFFFFF"/>
          </a:solidFill>
          <a:ln w="9525">
            <a:solidFill>
              <a:srgbClr val="3674C1"/>
            </a:solidFill>
            <a:prstDash val="dash"/>
          </a:ln>
        </p:spPr>
        <p:txBody>
          <a:bodyPr/>
          <a:lstStyle/>
          <a:p>
            <a:endParaRPr lang="en-US"/>
          </a:p>
        </p:txBody>
      </p:sp>
      <p:sp>
        <p:nvSpPr>
          <p:cNvPr id="7" name="Text 5"/>
          <p:cNvSpPr/>
          <p:nvPr/>
        </p:nvSpPr>
        <p:spPr>
          <a:xfrm>
            <a:off x="10479024" y="1536192"/>
            <a:ext cx="804672" cy="804672"/>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3"/>
          </p:cNvPr>
          <p:cNvSpPr/>
          <p:nvPr/>
        </p:nvSpPr>
        <p:spPr>
          <a:xfrm>
            <a:off x="10140696" y="2377440"/>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github.com/uw-loci/qupath-extension-dialog-manager</a:t>
            </a:r>
            <a:endParaRPr lang="en-US" sz="750" dirty="0"/>
          </a:p>
        </p:txBody>
      </p:sp>
      <p:sp>
        <p:nvSpPr>
          <p:cNvPr id="9" name="Text 7"/>
          <p:cNvSpPr/>
          <p:nvPr/>
        </p:nvSpPr>
        <p:spPr>
          <a:xfrm>
            <a:off x="10140696" y="2651760"/>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Channel Names</a:t>
            </a:r>
            <a:endParaRPr lang="en-US" sz="1000" dirty="0"/>
          </a:p>
        </p:txBody>
      </p:sp>
      <p:sp>
        <p:nvSpPr>
          <p:cNvPr id="10" name="Shape 8"/>
          <p:cNvSpPr/>
          <p:nvPr/>
        </p:nvSpPr>
        <p:spPr>
          <a:xfrm>
            <a:off x="10479024" y="2871216"/>
            <a:ext cx="804672" cy="804672"/>
          </a:xfrm>
          <a:prstGeom prst="rect">
            <a:avLst/>
          </a:prstGeom>
          <a:solidFill>
            <a:srgbClr val="FFFFFF"/>
          </a:solidFill>
          <a:ln w="9525">
            <a:solidFill>
              <a:srgbClr val="3674C1"/>
            </a:solidFill>
            <a:prstDash val="dash"/>
          </a:ln>
        </p:spPr>
        <p:txBody>
          <a:bodyPr/>
          <a:lstStyle/>
          <a:p>
            <a:endParaRPr lang="en-US"/>
          </a:p>
        </p:txBody>
      </p:sp>
      <p:sp>
        <p:nvSpPr>
          <p:cNvPr id="11" name="Text 9"/>
          <p:cNvSpPr/>
          <p:nvPr/>
        </p:nvSpPr>
        <p:spPr>
          <a:xfrm>
            <a:off x="10479024" y="2871216"/>
            <a:ext cx="804672" cy="804672"/>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4"/>
          </p:cNvPr>
          <p:cNvSpPr/>
          <p:nvPr/>
        </p:nvSpPr>
        <p:spPr>
          <a:xfrm>
            <a:off x="10140696" y="3712464"/>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github.com/uw-loci/qupath-extension-channel-names-viewer</a:t>
            </a:r>
            <a:endParaRPr lang="en-US" sz="750" dirty="0"/>
          </a:p>
        </p:txBody>
      </p:sp>
      <p:sp>
        <p:nvSpPr>
          <p:cNvPr id="13" name="Text 11"/>
          <p:cNvSpPr/>
          <p:nvPr/>
        </p:nvSpPr>
        <p:spPr>
          <a:xfrm>
            <a:off x="10140696" y="3986784"/>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Classify Subset</a:t>
            </a:r>
            <a:endParaRPr lang="en-US" sz="1000" dirty="0"/>
          </a:p>
        </p:txBody>
      </p:sp>
      <p:sp>
        <p:nvSpPr>
          <p:cNvPr id="14" name="Shape 12"/>
          <p:cNvSpPr/>
          <p:nvPr/>
        </p:nvSpPr>
        <p:spPr>
          <a:xfrm>
            <a:off x="10479024" y="4206240"/>
            <a:ext cx="804672" cy="804672"/>
          </a:xfrm>
          <a:prstGeom prst="rect">
            <a:avLst/>
          </a:prstGeom>
          <a:solidFill>
            <a:srgbClr val="FFFFFF"/>
          </a:solidFill>
          <a:ln w="9525">
            <a:solidFill>
              <a:srgbClr val="3674C1"/>
            </a:solidFill>
            <a:prstDash val="dash"/>
          </a:ln>
        </p:spPr>
        <p:txBody>
          <a:bodyPr/>
          <a:lstStyle/>
          <a:p>
            <a:endParaRPr lang="en-US"/>
          </a:p>
        </p:txBody>
      </p:sp>
      <p:sp>
        <p:nvSpPr>
          <p:cNvPr id="15" name="Text 13"/>
          <p:cNvSpPr/>
          <p:nvPr/>
        </p:nvSpPr>
        <p:spPr>
          <a:xfrm>
            <a:off x="10479024" y="4206240"/>
            <a:ext cx="804672" cy="804672"/>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6" name="Text 14">
            <a:hlinkClick r:id="rId5"/>
          </p:cNvPr>
          <p:cNvSpPr/>
          <p:nvPr/>
        </p:nvSpPr>
        <p:spPr>
          <a:xfrm>
            <a:off x="10140696" y="5047488"/>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github.com/uw-loci/qupath-extension-classify-object-subset</a:t>
            </a:r>
            <a:endParaRPr lang="en-US" sz="750" dirty="0"/>
          </a:p>
        </p:txBody>
      </p:sp>
      <p:sp>
        <p:nvSpPr>
          <p:cNvPr id="17" name="Text 15"/>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and points several workstations at one shared file so a facility opens with the same layout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p:txBody>
      </p:sp>
      <p:sp>
        <p:nvSpPr>
          <p:cNvPr id="18" name="Shape 16"/>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19" name="Text 17"/>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20" name="Text 18"/>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QuPath’s own wand is untouched — both of these install as separate tools you can ignore.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Wizard Wand</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txBody>
          <a:bodyPr/>
          <a:lstStyle/>
          <a:p>
            <a:endParaRPr lang="en-US"/>
          </a:p>
        </p:txBody>
      </p:sp>
      <p:sp>
        <p:nvSpPr>
          <p:cNvPr id="7" name="Text 5"/>
          <p:cNvSpPr/>
          <p:nvPr/>
        </p:nvSpPr>
        <p:spPr>
          <a:xfrm>
            <a:off x="10355580" y="1536192"/>
            <a:ext cx="1051560" cy="105156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3"/>
          </p:cNvPr>
          <p:cNvSpPr/>
          <p:nvPr/>
        </p:nvSpPr>
        <p:spPr>
          <a:xfrm>
            <a:off x="10140696" y="2624328"/>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github.com/uw-loci/qupath-extension-wizard-wand</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Polyline Wand</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txBody>
          <a:bodyPr/>
          <a:lstStyle/>
          <a:p>
            <a:endParaRPr lang="en-US"/>
          </a:p>
        </p:txBody>
      </p:sp>
      <p:sp>
        <p:nvSpPr>
          <p:cNvPr id="11" name="Text 9"/>
          <p:cNvSpPr/>
          <p:nvPr/>
        </p:nvSpPr>
        <p:spPr>
          <a:xfrm>
            <a:off x="10355580" y="3191256"/>
            <a:ext cx="1051560" cy="105156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4"/>
          </p:cNvPr>
          <p:cNvSpPr/>
          <p:nvPr/>
        </p:nvSpPr>
        <p:spPr>
          <a:xfrm>
            <a:off x="10140696" y="4279392"/>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github.com/uw-loci/qupath-extension-polyline-wand</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color</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15" name="Text 13"/>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txBody>
          <a:bodyPr/>
          <a:lstStyle/>
          <a:p>
            <a:endParaRPr lang="en-US"/>
          </a:p>
        </p:txBody>
      </p:sp>
      <p:sp>
        <p:nvSpPr>
          <p:cNvPr id="3" name="Text 1"/>
          <p:cNvSpPr/>
          <p:nvPr/>
        </p:nvSpPr>
        <p:spPr>
          <a:xfrm>
            <a:off x="566928" y="411480"/>
            <a:ext cx="2331720" cy="457200"/>
          </a:xfrm>
          <a:prstGeom prst="rect">
            <a:avLst/>
          </a:prstGeom>
          <a:noFill/>
          <a:ln/>
        </p:spPr>
        <p:txBody>
          <a:bodyPr wrap="square" rtlCol="0" anchor="ctr"/>
          <a:lstStyle/>
          <a:p>
            <a:pPr marL="0" indent="0" algn="ctr">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marL="0" indent="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txBody>
          <a:bodyPr/>
          <a:lstStyle/>
          <a:p>
            <a:endParaRPr lang="en-US"/>
          </a:p>
        </p:txBody>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tune from a hand-drawn area annotation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erase back from an endpoint, then switch mode to smooth a noisy stretch</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8" name="Text 6"/>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Five export categories, one wizard</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QuIET</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txBody>
          <a:bodyPr/>
          <a:lstStyle/>
          <a:p>
            <a:endParaRPr lang="en-US"/>
          </a:p>
        </p:txBody>
      </p:sp>
      <p:sp>
        <p:nvSpPr>
          <p:cNvPr id="7" name="Text 5"/>
          <p:cNvSpPr/>
          <p:nvPr/>
        </p:nvSpPr>
        <p:spPr>
          <a:xfrm>
            <a:off x="10264140" y="1536192"/>
            <a:ext cx="1234440" cy="123444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3"/>
          </p:cNvPr>
          <p:cNvSpPr/>
          <p:nvPr/>
        </p:nvSpPr>
        <p:spPr>
          <a:xfrm>
            <a:off x="10140696" y="2807208"/>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github.com/uw-loci/qupath-extension-image-export-toolkit</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7" name="Text 5"/>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10140696" y="1280160"/>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OCR for Labels</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txBody>
          <a:bodyPr/>
          <a:lstStyle/>
          <a:p>
            <a:endParaRPr lang="en-US"/>
          </a:p>
        </p:txBody>
      </p:sp>
      <p:sp>
        <p:nvSpPr>
          <p:cNvPr id="6" name="Text 4"/>
          <p:cNvSpPr/>
          <p:nvPr/>
        </p:nvSpPr>
        <p:spPr>
          <a:xfrm>
            <a:off x="10264140" y="1499616"/>
            <a:ext cx="1234440" cy="123444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3"/>
          </p:cNvPr>
          <p:cNvSpPr/>
          <p:nvPr/>
        </p:nvSpPr>
        <p:spPr>
          <a:xfrm>
            <a:off x="10140696" y="2770632"/>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github.com/uw-loci/qupath-extension-ocr4labels</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10" name="Text 8"/>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Metadata Browser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txBody>
          <a:bodyPr/>
          <a:lstStyle/>
          <a:p>
            <a:endParaRPr lang="en-US"/>
          </a:p>
        </p:txBody>
      </p:sp>
      <p:sp>
        <p:nvSpPr>
          <p:cNvPr id="7" name="Text 5"/>
          <p:cNvSpPr/>
          <p:nvPr/>
        </p:nvSpPr>
        <p:spPr>
          <a:xfrm>
            <a:off x="10264140" y="1536192"/>
            <a:ext cx="1234440" cy="123444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3"/>
          </p:cNvPr>
          <p:cNvSpPr/>
          <p:nvPr/>
        </p:nvSpPr>
        <p:spPr>
          <a:xfrm>
            <a:off x="10140696" y="2807208"/>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github.com/uw-loci/qupath-extension-project-metadata-browser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11" name="Text 9"/>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Sorting by a recognized column makes the bad reads stand out as outliers.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Why the metadata is worth filling in</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Metadata is not bookkeeping for its own sake. It is how you find an image again.</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own project pane has a “Sort by...” menu: choose a metadata key and the image list groups under it</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hundred files named by scanner ID become a list grouped by stain, by case, or by block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pane’s filter box searches name and type only — metadata is what gives you the axis you actually care about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chain is: read the label, check the reads here, then navigate the project by what is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Sorting by a recovered column is also the quickest quality check, because bad reads land at the extremes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7" name="Text 5"/>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Nothing here is specific to OCR: paste a column from a spreadsheet, or pull fields out of structured filenames with a regex, and the same sorting applies.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10140696" y="1280160"/>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Class Distribution</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txBody>
          <a:bodyPr/>
          <a:lstStyle/>
          <a:p>
            <a:endParaRPr lang="en-US"/>
          </a:p>
        </p:txBody>
      </p:sp>
      <p:sp>
        <p:nvSpPr>
          <p:cNvPr id="6" name="Text 4"/>
          <p:cNvSpPr/>
          <p:nvPr/>
        </p:nvSpPr>
        <p:spPr>
          <a:xfrm>
            <a:off x="10264140" y="1499616"/>
            <a:ext cx="1234440" cy="123444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3"/>
          </p:cNvPr>
          <p:cNvSpPr/>
          <p:nvPr/>
        </p:nvSpPr>
        <p:spPr>
          <a:xfrm>
            <a:off x="10140696" y="2770632"/>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github.com/uw-loci/qupath-extension-class-distribution</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10" name="Text 8"/>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pic>
        <p:nvPicPr>
          <p:cNvPr id="4" name="tile0" descr="images/tile_0.jpg"/>
          <p:cNvPicPr>
            <a:picLocks noChangeAspect="1"/>
          </p:cNvPicPr>
          <p:nvPr/>
        </p:nvPicPr>
        <p:blipFill>
          <a:blip r:embed="rId3"/>
          <a:stretch>
            <a:fillRect/>
          </a:stretch>
        </p:blipFill>
        <p:spPr>
          <a:xfrm>
            <a:off x="3899916" y="1481328"/>
            <a:ext cx="2057400" cy="2057400"/>
          </a:xfrm>
          <a:prstGeom prst="rect">
            <a:avLst/>
          </a:prstGeom>
        </p:spPr>
      </p:pic>
      <p:pic>
        <p:nvPicPr>
          <p:cNvPr id="5" name="tile1" descr="images/tile_1.jpg"/>
          <p:cNvPicPr>
            <a:picLocks noChangeAspect="1"/>
          </p:cNvPicPr>
          <p:nvPr/>
        </p:nvPicPr>
        <p:blipFill>
          <a:blip r:embed="rId4"/>
          <a:stretch>
            <a:fillRect/>
          </a:stretch>
        </p:blipFill>
        <p:spPr>
          <a:xfrm>
            <a:off x="6231636" y="1481328"/>
            <a:ext cx="2057400" cy="2057400"/>
          </a:xfrm>
          <a:prstGeom prst="rect">
            <a:avLst/>
          </a:prstGeom>
        </p:spPr>
      </p:pic>
      <p:pic>
        <p:nvPicPr>
          <p:cNvPr id="6" name="tile2" descr="images/tile_2.jpg"/>
          <p:cNvPicPr>
            <a:picLocks noChangeAspect="1"/>
          </p:cNvPicPr>
          <p:nvPr/>
        </p:nvPicPr>
        <p:blipFill>
          <a:blip r:embed="rId5"/>
          <a:stretch>
            <a:fillRect/>
          </a:stretch>
        </p:blipFill>
        <p:spPr>
          <a:xfrm>
            <a:off x="6231636" y="3813048"/>
            <a:ext cx="2057400" cy="2057400"/>
          </a:xfrm>
          <a:prstGeom prst="rect">
            <a:avLst/>
          </a:prstGeom>
        </p:spPr>
      </p:pic>
      <p:pic>
        <p:nvPicPr>
          <p:cNvPr id="7" name="tile3" descr="images/tile_3.jpg"/>
          <p:cNvPicPr>
            <a:picLocks noChangeAspect="1"/>
          </p:cNvPicPr>
          <p:nvPr/>
        </p:nvPicPr>
        <p:blipFill>
          <a:blip r:embed="rId6"/>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marL="0" indent="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pic>
        <p:nvPicPr>
          <p:cNvPr id="4" name="tile0" descr="images/tile_0.jpg"/>
          <p:cNvPicPr>
            <a:picLocks noChangeAspect="1"/>
          </p:cNvPicPr>
          <p:nvPr/>
        </p:nvPicPr>
        <p:blipFill>
          <a:blip r:embed="rId3"/>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marL="0" indent="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pic>
        <p:nvPicPr>
          <p:cNvPr id="4" name="tile0" descr="images/tile_0.jpg"/>
          <p:cNvPicPr>
            <a:picLocks noChangeAspect="1"/>
          </p:cNvPicPr>
          <p:nvPr/>
        </p:nvPicPr>
        <p:blipFill>
          <a:blip r:embed="rId3"/>
          <a:stretch>
            <a:fillRect/>
          </a:stretch>
        </p:blipFill>
        <p:spPr>
          <a:xfrm>
            <a:off x="4140046" y="1481328"/>
            <a:ext cx="2057400" cy="2057400"/>
          </a:xfrm>
          <a:prstGeom prst="rect">
            <a:avLst/>
          </a:prstGeom>
        </p:spPr>
      </p:pic>
      <p:pic>
        <p:nvPicPr>
          <p:cNvPr id="5" name="tile1" descr="images/tile_1.jpg"/>
          <p:cNvPicPr>
            <a:picLocks noChangeAspect="1"/>
          </p:cNvPicPr>
          <p:nvPr/>
        </p:nvPicPr>
        <p:blipFill>
          <a:blip r:embed="rId4"/>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marL="0" indent="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Shape 2"/>
          <p:cNvSpPr/>
          <p:nvPr/>
        </p:nvSpPr>
        <p:spPr>
          <a:xfrm>
            <a:off x="5991506" y="1481328"/>
            <a:ext cx="205941" cy="3908859"/>
          </a:xfrm>
          <a:prstGeom prst="rect">
            <a:avLst/>
          </a:prstGeom>
          <a:solidFill>
            <a:srgbClr val="3674C1">
              <a:alpha val="38000"/>
            </a:srgbClr>
          </a:solidFill>
          <a:ln/>
        </p:spPr>
        <p:txBody>
          <a:bodyPr/>
          <a:lstStyle/>
          <a:p>
            <a:endParaRPr lang="en-US"/>
          </a:p>
        </p:txBody>
      </p:sp>
      <p:sp>
        <p:nvSpPr>
          <p:cNvPr id="5" name="Shape 3"/>
          <p:cNvSpPr/>
          <p:nvPr/>
        </p:nvSpPr>
        <p:spPr>
          <a:xfrm>
            <a:off x="4140046" y="3332787"/>
            <a:ext cx="3908859" cy="205941"/>
          </a:xfrm>
          <a:prstGeom prst="rect">
            <a:avLst/>
          </a:prstGeom>
          <a:solidFill>
            <a:srgbClr val="3674C1">
              <a:alpha val="38000"/>
            </a:srgbClr>
          </a:solidFill>
          <a:ln/>
        </p:spPr>
        <p:txBody>
          <a:bodyPr/>
          <a:lstStyle/>
          <a:p>
            <a:endParaRPr lang="en-US"/>
          </a:p>
        </p:txBody>
      </p:sp>
      <p:pic>
        <p:nvPicPr>
          <p:cNvPr id="6" name="tile0" descr="images/tile_0.jpg"/>
          <p:cNvPicPr>
            <a:picLocks noChangeAspect="1"/>
          </p:cNvPicPr>
          <p:nvPr/>
        </p:nvPicPr>
        <p:blipFill>
          <a:blip r:embed="rId3"/>
          <a:stretch>
            <a:fillRect/>
          </a:stretch>
        </p:blipFill>
        <p:spPr>
          <a:xfrm>
            <a:off x="4140046" y="1481328"/>
            <a:ext cx="2057400" cy="2057400"/>
          </a:xfrm>
          <a:prstGeom prst="rect">
            <a:avLst/>
          </a:prstGeom>
        </p:spPr>
      </p:pic>
      <p:pic>
        <p:nvPicPr>
          <p:cNvPr id="7" name="tile1" descr="images/tile_1.jpg"/>
          <p:cNvPicPr>
            <a:picLocks noChangeAspect="1"/>
          </p:cNvPicPr>
          <p:nvPr/>
        </p:nvPicPr>
        <p:blipFill>
          <a:blip r:embed="rId4"/>
          <a:stretch>
            <a:fillRect/>
          </a:stretch>
        </p:blipFill>
        <p:spPr>
          <a:xfrm>
            <a:off x="5991506" y="1481328"/>
            <a:ext cx="2057400" cy="2057400"/>
          </a:xfrm>
          <a:prstGeom prst="rect">
            <a:avLst/>
          </a:prstGeom>
        </p:spPr>
      </p:pic>
      <p:pic>
        <p:nvPicPr>
          <p:cNvPr id="8" name="tile2" descr="images/tile_2.jpg"/>
          <p:cNvPicPr>
            <a:picLocks noChangeAspect="1"/>
          </p:cNvPicPr>
          <p:nvPr/>
        </p:nvPicPr>
        <p:blipFill>
          <a:blip r:embed="rId5"/>
          <a:stretch>
            <a:fillRect/>
          </a:stretch>
        </p:blipFill>
        <p:spPr>
          <a:xfrm>
            <a:off x="5991506" y="3332787"/>
            <a:ext cx="2057400" cy="2057400"/>
          </a:xfrm>
          <a:prstGeom prst="rect">
            <a:avLst/>
          </a:prstGeom>
        </p:spPr>
      </p:pic>
      <p:pic>
        <p:nvPicPr>
          <p:cNvPr id="9" name="tile3" descr="images/tile_3.jpg"/>
          <p:cNvPicPr>
            <a:picLocks noChangeAspect="1"/>
          </p:cNvPicPr>
          <p:nvPr/>
        </p:nvPicPr>
        <p:blipFill>
          <a:blip r:embed="rId6"/>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marL="0" indent="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768096" y="1316736"/>
            <a:ext cx="5120640" cy="402336"/>
          </a:xfrm>
          <a:prstGeom prst="rect">
            <a:avLst/>
          </a:prstGeom>
          <a:noFill/>
          <a:ln/>
        </p:spPr>
        <p:txBody>
          <a:bodyPr wrap="square" rtlCol="0" anchor="ctr"/>
          <a:lstStyle/>
          <a:p>
            <a:pPr marL="0" indent="0">
              <a:buNone/>
            </a:pPr>
            <a:r>
              <a:rPr lang="en-US" sz="1700" b="1" dirty="0">
                <a:solidFill>
                  <a:srgbClr val="1F4C86"/>
                </a:solidFill>
                <a:latin typeface="Calibri" pitchFamily="34" charset="0"/>
                <a:ea typeface="Calibri" pitchFamily="34" charset="-122"/>
                <a:cs typeface="Calibri" pitchFamily="34" charset="-120"/>
              </a:rPr>
              <a:t>Stitched on the stage’s own coordinates</a:t>
            </a:r>
            <a:endParaRPr lang="en-US" sz="1700" dirty="0"/>
          </a:p>
        </p:txBody>
      </p:sp>
      <p:pic>
        <p:nvPicPr>
          <p:cNvPr id="5" name="Image 0" descr="images/stitch_if_nominal.jpg"/>
          <p:cNvPicPr>
            <a:picLocks noChangeAspect="1"/>
          </p:cNvPicPr>
          <p:nvPr/>
        </p:nvPicPr>
        <p:blipFill>
          <a:blip r:embed="rId3"/>
          <a:stretch>
            <a:fillRect/>
          </a:stretch>
        </p:blipFill>
        <p:spPr>
          <a:xfrm>
            <a:off x="768096" y="1783080"/>
            <a:ext cx="5120640" cy="3925824"/>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marL="0" indent="0">
              <a:buNone/>
            </a:pPr>
            <a:r>
              <a:rPr lang="en-US" sz="1700" b="1" dirty="0">
                <a:solidFill>
                  <a:srgbClr val="1F4C86"/>
                </a:solidFill>
                <a:latin typeface="Calibri" pitchFamily="34" charset="0"/>
                <a:ea typeface="Calibri" pitchFamily="34" charset="-122"/>
                <a:cs typeface="Calibri" pitchFamily="34" charset="-120"/>
              </a:rPr>
              <a:t>Stitched on positions measured from the image</a:t>
            </a:r>
            <a:endParaRPr lang="en-US" sz="1700" dirty="0"/>
          </a:p>
        </p:txBody>
      </p:sp>
      <p:pic>
        <p:nvPicPr>
          <p:cNvPr id="7" name="Image 1" descr="images/stitch_if_registered.jpg"/>
          <p:cNvPicPr>
            <a:picLocks noChangeAspect="1"/>
          </p:cNvPicPr>
          <p:nvPr/>
        </p:nvPicPr>
        <p:blipFill>
          <a:blip r:embed="rId4"/>
          <a:stretch>
            <a:fillRect/>
          </a:stretch>
        </p:blipFill>
        <p:spPr>
          <a:xfrm>
            <a:off x="6300216" y="1783080"/>
            <a:ext cx="5120640" cy="3925824"/>
          </a:xfrm>
          <a:prstGeom prst="rect">
            <a:avLst/>
          </a:prstGeom>
        </p:spPr>
      </p:pic>
      <p:sp>
        <p:nvSpPr>
          <p:cNvPr id="8" name="Text 4"/>
          <p:cNvSpPr/>
          <p:nvPr/>
        </p:nvSpPr>
        <p:spPr>
          <a:xfrm>
            <a:off x="566928" y="5818632"/>
            <a:ext cx="11055096" cy="566928"/>
          </a:xfrm>
          <a:prstGeom prst="rect">
            <a:avLst/>
          </a:prstGeom>
          <a:noFill/>
          <a:ln/>
        </p:spPr>
        <p:txBody>
          <a:bodyPr wrap="square" rtlCol="0" anchor="t"/>
          <a:lstStyle/>
          <a:p>
            <a:pPr marL="0" indent="0">
              <a:buNone/>
            </a:pPr>
            <a:r>
              <a:rPr lang="en-US" sz="1500" i="1" dirty="0">
                <a:solidFill>
                  <a:srgbClr val="5A6675"/>
                </a:solidFill>
                <a:latin typeface="Calibri" pitchFamily="34" charset="0"/>
                <a:ea typeface="Calibri" pitchFamily="34" charset="-122"/>
                <a:cs typeface="Calibri" pitchFamily="34" charset="-120"/>
              </a:rPr>
              <a:t>Both panels are Tiles to Pyramid’s own output, at the same place in the same overlap. The stage was about 5 px out; because the tiles are feathered together, that error does not show up as a seam, it shows up as blur — smeared puncta and soft filaments on the left, crisp on the right. Positions were solved once on DAPI and reused unchanged for green and red.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25296"/>
            <a:ext cx="11055096" cy="384048"/>
          </a:xfrm>
          <a:prstGeom prst="rect">
            <a:avLst/>
          </a:prstGeom>
          <a:noFill/>
          <a:ln/>
        </p:spPr>
        <p:txBody>
          <a:bodyPr wrap="square" rtlCol="0" anchor="ctr"/>
          <a:lstStyle/>
          <a:p>
            <a:pPr marL="0" indent="0">
              <a:buNone/>
            </a:pPr>
            <a:r>
              <a:rPr lang="en-US" sz="1700" b="1" dirty="0">
                <a:solidFill>
                  <a:srgbClr val="1F4C86"/>
                </a:solidFill>
                <a:latin typeface="Calibri" pitchFamily="34" charset="0"/>
                <a:ea typeface="Calibri" pitchFamily="34" charset="-122"/>
                <a:cs typeface="Calibri" pitchFamily="34" charset="-120"/>
              </a:rPr>
              <a:t>As acquired: neighboring tiles share a strip of the same tissue (shaded)</a:t>
            </a:r>
            <a:endParaRPr lang="en-US" sz="1700" dirty="0"/>
          </a:p>
        </p:txBody>
      </p:sp>
      <p:pic>
        <p:nvPicPr>
          <p:cNvPr id="5" name="Image 0" descr="images/stitch_ppm_unstitched.jpg"/>
          <p:cNvPicPr>
            <a:picLocks noChangeAspect="1"/>
          </p:cNvPicPr>
          <p:nvPr/>
        </p:nvPicPr>
        <p:blipFill>
          <a:blip r:embed="rId3"/>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marL="0" indent="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icPr>
            <a:picLocks noChangeAspect="1"/>
          </p:cNvPicPr>
          <p:nvPr/>
        </p:nvPicPr>
        <p:blipFill>
          <a:blip r:embed="rId4"/>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marL="0" indent="0">
              <a:buNone/>
            </a:pPr>
            <a:r>
              <a:rPr lang="en-US" sz="1500" i="1" dirty="0">
                <a:solidFill>
                  <a:srgbClr val="5A6675"/>
                </a:solidFill>
                <a:latin typeface="Calibri" pitchFamily="34" charset="0"/>
                <a:ea typeface="Calibri" pitchFamily="34" charset="-122"/>
                <a:cs typeface="Calibri" pitchFamily="34" charset="-120"/>
              </a:rPr>
              <a:t>Pancreatic cancer, polarized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Tiles to Pyramid</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txBody>
          <a:bodyPr/>
          <a:lstStyle/>
          <a:p>
            <a:endParaRPr lang="en-US"/>
          </a:p>
        </p:txBody>
      </p:sp>
      <p:sp>
        <p:nvSpPr>
          <p:cNvPr id="7" name="Text 5"/>
          <p:cNvSpPr/>
          <p:nvPr/>
        </p:nvSpPr>
        <p:spPr>
          <a:xfrm>
            <a:off x="10264140" y="1536192"/>
            <a:ext cx="1234440" cy="123444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3"/>
          </p:cNvPr>
          <p:cNvSpPr/>
          <p:nvPr/>
        </p:nvSpPr>
        <p:spPr>
          <a:xfrm>
            <a:off x="10140696" y="2807208"/>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github.com/uw-loci/qupath-extension-tiles-to-pyramid</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11" name="Text 9"/>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txBody>
          <a:bodyPr/>
          <a:lstStyle/>
          <a:p>
            <a:endParaRPr lang="en-US"/>
          </a:p>
        </p:txBody>
      </p:sp>
      <p:sp>
        <p:nvSpPr>
          <p:cNvPr id="3" name="Text 1"/>
          <p:cNvSpPr/>
          <p:nvPr/>
        </p:nvSpPr>
        <p:spPr>
          <a:xfrm>
            <a:off x="566928" y="411480"/>
            <a:ext cx="2331720" cy="457200"/>
          </a:xfrm>
          <a:prstGeom prst="rect">
            <a:avLst/>
          </a:prstGeom>
          <a:noFill/>
          <a:ln/>
        </p:spPr>
        <p:txBody>
          <a:bodyPr wrap="square" rtlCol="0" anchor="ctr"/>
          <a:lstStyle/>
          <a:p>
            <a:pPr marL="0" indent="0" algn="ctr">
              <a:buNone/>
            </a:pPr>
            <a:r>
              <a:rPr lang="en-US" sz="1600" b="1" dirty="0">
                <a:solidFill>
                  <a:srgbClr val="B26A00"/>
                </a:solidFill>
                <a:latin typeface="Trebuchet MS" pitchFamily="34" charset="0"/>
                <a:ea typeface="Trebuchet MS" pitchFamily="34" charset="-122"/>
                <a:cs typeface="Trebuchet MS" pitchFamily="34" charset="-120"/>
              </a:rPr>
              <a:t>▶  DEMO ONLY  ·  5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marL="0" indent="0">
              <a:buNone/>
            </a:pPr>
            <a:r>
              <a:rPr lang="en-US" sz="3200" b="1" dirty="0">
                <a:solidFill>
                  <a:srgbClr val="1F4C86"/>
                </a:solidFill>
                <a:latin typeface="Trebuchet MS" pitchFamily="34" charset="0"/>
                <a:ea typeface="Trebuchet MS" pitchFamily="34" charset="-122"/>
                <a:cs typeface="Trebuchet MS" pitchFamily="34" charset="-120"/>
              </a:rPr>
              <a:t>Reading the matrix</a:t>
            </a:r>
            <a:endParaRPr lang="en-US" sz="3200" dirty="0"/>
          </a:p>
        </p:txBody>
      </p:sp>
      <p:sp>
        <p:nvSpPr>
          <p:cNvPr id="5" name="Shape 3"/>
          <p:cNvSpPr/>
          <p:nvPr/>
        </p:nvSpPr>
        <p:spPr>
          <a:xfrm>
            <a:off x="566928" y="1783080"/>
            <a:ext cx="1920240" cy="50292"/>
          </a:xfrm>
          <a:prstGeom prst="rect">
            <a:avLst/>
          </a:prstGeom>
          <a:solidFill>
            <a:srgbClr val="3674C1"/>
          </a:solidFill>
          <a:ln/>
        </p:spPr>
        <p:txBody>
          <a:bodyPr/>
          <a:lstStyle/>
          <a:p>
            <a:endParaRPr lang="en-US"/>
          </a:p>
        </p:txBody>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8" name="Text 6"/>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color.</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DL Pixel Classifier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txBody>
          <a:bodyPr/>
          <a:lstStyle/>
          <a:p>
            <a:endParaRPr lang="en-US"/>
          </a:p>
        </p:txBody>
      </p:sp>
      <p:sp>
        <p:nvSpPr>
          <p:cNvPr id="7" name="Text 5"/>
          <p:cNvSpPr/>
          <p:nvPr/>
        </p:nvSpPr>
        <p:spPr>
          <a:xfrm>
            <a:off x="10264140" y="1536192"/>
            <a:ext cx="1234440" cy="123444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3"/>
          </p:cNvPr>
          <p:cNvSpPr/>
          <p:nvPr/>
        </p:nvSpPr>
        <p:spPr>
          <a:xfrm>
            <a:off x="10140696" y="2807208"/>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github.com/uw-loci/qupath-extension-dl-pixel-classifier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normalization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7" name="Text 5"/>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QP-CAT</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txBody>
          <a:bodyPr/>
          <a:lstStyle/>
          <a:p>
            <a:endParaRPr lang="en-US"/>
          </a:p>
        </p:txBody>
      </p:sp>
      <p:sp>
        <p:nvSpPr>
          <p:cNvPr id="7" name="Text 5"/>
          <p:cNvSpPr/>
          <p:nvPr/>
        </p:nvSpPr>
        <p:spPr>
          <a:xfrm>
            <a:off x="10355580" y="1536192"/>
            <a:ext cx="1051560" cy="105156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3"/>
          </p:cNvPr>
          <p:cNvSpPr/>
          <p:nvPr/>
        </p:nvSpPr>
        <p:spPr>
          <a:xfrm>
            <a:off x="10140696" y="2624328"/>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github.com/uw-loci/qupath-extension-cell-analysis-tools</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Cluster 3D Nav</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txBody>
          <a:bodyPr/>
          <a:lstStyle/>
          <a:p>
            <a:endParaRPr lang="en-US"/>
          </a:p>
        </p:txBody>
      </p:sp>
      <p:sp>
        <p:nvSpPr>
          <p:cNvPr id="11" name="Text 9"/>
          <p:cNvSpPr/>
          <p:nvPr/>
        </p:nvSpPr>
        <p:spPr>
          <a:xfrm>
            <a:off x="10355580" y="3191256"/>
            <a:ext cx="1051560" cy="105156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4"/>
          </p:cNvPr>
          <p:cNvSpPr/>
          <p:nvPr/>
        </p:nvSpPr>
        <p:spPr>
          <a:xfrm>
            <a:off x="10140696" y="4279392"/>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github.com/uw-loci/qupath-extension-cluster-3d-navigator</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15" name="Text 13"/>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Why fiber architecture</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fibers running perpendicular to the tumor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7" name="Text 5"/>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10140696" y="1280160"/>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Fiber Analysis</a:t>
            </a:r>
            <a:endParaRPr lang="en-US" sz="1000" dirty="0"/>
          </a:p>
        </p:txBody>
      </p:sp>
      <p:sp>
        <p:nvSpPr>
          <p:cNvPr id="5" name="Shape 3"/>
          <p:cNvSpPr/>
          <p:nvPr/>
        </p:nvSpPr>
        <p:spPr>
          <a:xfrm>
            <a:off x="10355580" y="1499616"/>
            <a:ext cx="1051560" cy="1051560"/>
          </a:xfrm>
          <a:prstGeom prst="rect">
            <a:avLst/>
          </a:prstGeom>
          <a:solidFill>
            <a:srgbClr val="FFFFFF"/>
          </a:solidFill>
          <a:ln w="9525">
            <a:solidFill>
              <a:srgbClr val="3674C1"/>
            </a:solidFill>
            <a:prstDash val="dash"/>
          </a:ln>
        </p:spPr>
        <p:txBody>
          <a:bodyPr/>
          <a:lstStyle/>
          <a:p>
            <a:endParaRPr lang="en-US"/>
          </a:p>
        </p:txBody>
      </p:sp>
      <p:sp>
        <p:nvSpPr>
          <p:cNvPr id="6" name="Text 4"/>
          <p:cNvSpPr/>
          <p:nvPr/>
        </p:nvSpPr>
        <p:spPr>
          <a:xfrm>
            <a:off x="10355580" y="1499616"/>
            <a:ext cx="1051560" cy="105156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3"/>
          </p:cNvPr>
          <p:cNvSpPr/>
          <p:nvPr/>
        </p:nvSpPr>
        <p:spPr>
          <a:xfrm>
            <a:off x="10140696" y="2587752"/>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github.com/uw-loci/qupath-extension-fiber-analysis</a:t>
            </a:r>
            <a:endParaRPr lang="en-US" sz="750" dirty="0"/>
          </a:p>
        </p:txBody>
      </p:sp>
      <p:sp>
        <p:nvSpPr>
          <p:cNvPr id="8" name="Text 6"/>
          <p:cNvSpPr/>
          <p:nvPr/>
        </p:nvSpPr>
        <p:spPr>
          <a:xfrm>
            <a:off x="10140696" y="2935224"/>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TME-Quant</a:t>
            </a:r>
            <a:endParaRPr lang="en-US" sz="1000" dirty="0"/>
          </a:p>
        </p:txBody>
      </p:sp>
      <p:sp>
        <p:nvSpPr>
          <p:cNvPr id="9" name="Shape 7"/>
          <p:cNvSpPr/>
          <p:nvPr/>
        </p:nvSpPr>
        <p:spPr>
          <a:xfrm>
            <a:off x="10355580" y="3154680"/>
            <a:ext cx="1051560" cy="1051560"/>
          </a:xfrm>
          <a:prstGeom prst="rect">
            <a:avLst/>
          </a:prstGeom>
          <a:solidFill>
            <a:srgbClr val="FFFFFF"/>
          </a:solidFill>
          <a:ln w="9525">
            <a:solidFill>
              <a:srgbClr val="3674C1"/>
            </a:solidFill>
            <a:prstDash val="dash"/>
          </a:ln>
        </p:spPr>
        <p:txBody>
          <a:bodyPr/>
          <a:lstStyle/>
          <a:p>
            <a:endParaRPr lang="en-US"/>
          </a:p>
        </p:txBody>
      </p:sp>
      <p:sp>
        <p:nvSpPr>
          <p:cNvPr id="10" name="Text 8"/>
          <p:cNvSpPr/>
          <p:nvPr/>
        </p:nvSpPr>
        <p:spPr>
          <a:xfrm>
            <a:off x="10355580" y="3154680"/>
            <a:ext cx="1051560" cy="105156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1" name="Text 9">
            <a:hlinkClick r:id="rId4"/>
          </p:cNvPr>
          <p:cNvSpPr/>
          <p:nvPr/>
        </p:nvSpPr>
        <p:spPr>
          <a:xfrm>
            <a:off x="10140696" y="4242816"/>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github.com/MichaelSNelson/qupath-extension-TME-Quant</a:t>
            </a:r>
            <a:endParaRPr lang="en-US" sz="750" dirty="0"/>
          </a:p>
        </p:txBody>
      </p:sp>
      <p:sp>
        <p:nvSpPr>
          <p:cNvPr id="12" name="Shape 10"/>
          <p:cNvSpPr/>
          <p:nvPr/>
        </p:nvSpPr>
        <p:spPr>
          <a:xfrm>
            <a:off x="566928" y="1554480"/>
            <a:ext cx="4430268" cy="530352"/>
          </a:xfrm>
          <a:prstGeom prst="rect">
            <a:avLst/>
          </a:prstGeom>
          <a:solidFill>
            <a:srgbClr val="E8F0FA"/>
          </a:solidFill>
          <a:ln/>
        </p:spPr>
        <p:txBody>
          <a:bodyPr/>
          <a:lstStyle/>
          <a:p>
            <a:endParaRPr lang="en-US"/>
          </a:p>
        </p:txBody>
      </p:sp>
      <p:sp>
        <p:nvSpPr>
          <p:cNvPr id="13" name="Text 11"/>
          <p:cNvSpPr/>
          <p:nvPr/>
        </p:nvSpPr>
        <p:spPr>
          <a:xfrm>
            <a:off x="731520" y="1554480"/>
            <a:ext cx="4101084" cy="530352"/>
          </a:xfrm>
          <a:prstGeom prst="rect">
            <a:avLst/>
          </a:prstGeom>
          <a:noFill/>
          <a:ln/>
        </p:spPr>
        <p:txBody>
          <a:bodyPr wrap="square" rtlCol="0" anchor="ctr"/>
          <a:lstStyle/>
          <a:p>
            <a:pPr marL="0" indent="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14" name="Text 12"/>
          <p:cNvSpPr/>
          <p:nvPr/>
        </p:nvSpPr>
        <p:spPr>
          <a:xfrm>
            <a:off x="658368"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fibers,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fiber-tracing misses entirely</a:t>
            </a:r>
            <a:endParaRPr lang="en-US" sz="1800" dirty="0"/>
          </a:p>
        </p:txBody>
      </p:sp>
      <p:sp>
        <p:nvSpPr>
          <p:cNvPr id="15" name="Shape 13"/>
          <p:cNvSpPr/>
          <p:nvPr/>
        </p:nvSpPr>
        <p:spPr>
          <a:xfrm>
            <a:off x="5454396" y="1554480"/>
            <a:ext cx="4430268" cy="530352"/>
          </a:xfrm>
          <a:prstGeom prst="rect">
            <a:avLst/>
          </a:prstGeom>
          <a:solidFill>
            <a:srgbClr val="E8F0FA"/>
          </a:solidFill>
          <a:ln/>
        </p:spPr>
        <p:txBody>
          <a:bodyPr/>
          <a:lstStyle/>
          <a:p>
            <a:endParaRPr lang="en-US"/>
          </a:p>
        </p:txBody>
      </p:sp>
      <p:sp>
        <p:nvSpPr>
          <p:cNvPr id="16" name="Text 14"/>
          <p:cNvSpPr/>
          <p:nvPr/>
        </p:nvSpPr>
        <p:spPr>
          <a:xfrm>
            <a:off x="5618988" y="1554480"/>
            <a:ext cx="4101084" cy="530352"/>
          </a:xfrm>
          <a:prstGeom prst="rect">
            <a:avLst/>
          </a:prstGeom>
          <a:noFill/>
          <a:ln/>
        </p:spPr>
        <p:txBody>
          <a:bodyPr wrap="square" rtlCol="0" anchor="ctr"/>
          <a:lstStyle/>
          <a:p>
            <a:pPr marL="0" indent="0">
              <a:buNone/>
            </a:pPr>
            <a:r>
              <a:rPr lang="en-US" sz="2000" b="1" dirty="0">
                <a:solidFill>
                  <a:srgbClr val="B26A00"/>
                </a:solidFill>
                <a:latin typeface="Trebuchet MS" pitchFamily="34" charset="0"/>
                <a:ea typeface="Trebuchet MS" pitchFamily="34" charset="-122"/>
                <a:cs typeface="Trebuchet MS" pitchFamily="34" charset="-120"/>
              </a:rPr>
              <a:t>TME-Quant — trace the fibers</a:t>
            </a:r>
            <a:endParaRPr lang="en-US" sz="2000" dirty="0"/>
          </a:p>
        </p:txBody>
      </p:sp>
      <p:sp>
        <p:nvSpPr>
          <p:cNvPr id="17" name="Text 15"/>
          <p:cNvSpPr/>
          <p:nvPr/>
        </p:nvSpPr>
        <p:spPr>
          <a:xfrm>
            <a:off x="5545836"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fibers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fibers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Fibers classified by orientation relative to a tumor boundary</a:t>
            </a:r>
            <a:endParaRPr lang="en-US" sz="1800" dirty="0"/>
          </a:p>
        </p:txBody>
      </p:sp>
      <p:sp>
        <p:nvSpPr>
          <p:cNvPr id="18" name="Text 1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6" name="Text 4"/>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Draw a box, the microscope acquires it</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10140696" y="1280160"/>
            <a:ext cx="1481328" cy="201168"/>
          </a:xfrm>
          <a:prstGeom prst="rect">
            <a:avLst/>
          </a:prstGeom>
          <a:noFill/>
          <a:ln/>
        </p:spPr>
        <p:txBody>
          <a:bodyPr wrap="square" rtlCol="0" anchor="ctr"/>
          <a:lstStyle/>
          <a:p>
            <a:pPr marL="0" indent="0" algn="ctr">
              <a:buNone/>
            </a:pPr>
            <a:r>
              <a:rPr lang="en-US" sz="1000" b="1" dirty="0">
                <a:solidFill>
                  <a:srgbClr val="1F4C86"/>
                </a:solidFill>
                <a:latin typeface="Calibri" pitchFamily="34" charset="0"/>
                <a:ea typeface="Calibri" pitchFamily="34" charset="-122"/>
                <a:cs typeface="Calibri" pitchFamily="34" charset="-120"/>
              </a:rPr>
              <a:t>QPSC</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txBody>
          <a:bodyPr/>
          <a:lstStyle/>
          <a:p>
            <a:endParaRPr lang="en-US"/>
          </a:p>
        </p:txBody>
      </p:sp>
      <p:sp>
        <p:nvSpPr>
          <p:cNvPr id="6" name="Text 4"/>
          <p:cNvSpPr/>
          <p:nvPr/>
        </p:nvSpPr>
        <p:spPr>
          <a:xfrm>
            <a:off x="10264140" y="1499616"/>
            <a:ext cx="1234440" cy="1234440"/>
          </a:xfrm>
          <a:prstGeom prst="rect">
            <a:avLst/>
          </a:prstGeom>
          <a:noFill/>
          <a:ln/>
        </p:spPr>
        <p:txBody>
          <a:bodyPr wrap="square" rtlCol="0" anchor="ctr"/>
          <a:lstStyle/>
          <a:p>
            <a:pPr marL="0" indent="0" algn="ctr">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3"/>
          </p:cNvPr>
          <p:cNvSpPr/>
          <p:nvPr/>
        </p:nvSpPr>
        <p:spPr>
          <a:xfrm>
            <a:off x="10140696" y="2770632"/>
            <a:ext cx="1481328" cy="310896"/>
          </a:xfrm>
          <a:prstGeom prst="rect">
            <a:avLst/>
          </a:prstGeom>
          <a:noFill/>
          <a:ln/>
        </p:spPr>
        <p:txBody>
          <a:bodyPr wrap="square" rtlCol="0" anchor="ctr"/>
          <a:lstStyle/>
          <a:p>
            <a:pPr marL="0" indent="0" algn="ctr">
              <a:buNone/>
            </a:pPr>
            <a:r>
              <a:rPr lang="en-US" sz="750" u="sng" dirty="0">
                <a:solidFill>
                  <a:srgbClr val="5A6675"/>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github.com/uw-loci/qupath-extension-qpsc</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points,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9" name="Text 7"/>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analyzed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6" name="Text 4"/>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txBody>
          <a:bodyPr/>
          <a:lstStyle/>
          <a:p>
            <a:endParaRPr lang="en-US"/>
          </a:p>
        </p:txBody>
      </p:sp>
      <p:sp>
        <p:nvSpPr>
          <p:cNvPr id="3" name="Text 1"/>
          <p:cNvSpPr/>
          <p:nvPr/>
        </p:nvSpPr>
        <p:spPr>
          <a:xfrm>
            <a:off x="566928" y="411480"/>
            <a:ext cx="2331720" cy="457200"/>
          </a:xfrm>
          <a:prstGeom prst="rect">
            <a:avLst/>
          </a:prstGeom>
          <a:noFill/>
          <a:ln/>
        </p:spPr>
        <p:txBody>
          <a:bodyPr wrap="square" rtlCol="0" anchor="ctr"/>
          <a:lstStyle/>
          <a:p>
            <a:pPr marL="0" indent="0" algn="ctr">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marL="0" indent="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txBody>
          <a:bodyPr/>
          <a:lstStyle/>
          <a:p>
            <a:endParaRPr lang="en-US"/>
          </a:p>
        </p:txBody>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8" name="Text 6"/>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txBody>
          <a:bodyPr/>
          <a:lstStyle/>
          <a:p>
            <a:endParaRPr lang="en-US"/>
          </a:p>
        </p:txBody>
      </p:sp>
      <p:sp>
        <p:nvSpPr>
          <p:cNvPr id="3" name="Text 1"/>
          <p:cNvSpPr/>
          <p:nvPr/>
        </p:nvSpPr>
        <p:spPr>
          <a:xfrm>
            <a:off x="960120" y="2194560"/>
            <a:ext cx="10268712" cy="1280160"/>
          </a:xfrm>
          <a:prstGeom prst="rect">
            <a:avLst/>
          </a:prstGeom>
          <a:noFill/>
          <a:ln/>
        </p:spPr>
        <p:txBody>
          <a:bodyPr wrap="square" rtlCol="0" anchor="ctr"/>
          <a:lstStyle/>
          <a:p>
            <a:pPr marL="0" indent="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marL="0" indent="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txBody>
          <a:bodyPr/>
          <a:lstStyle/>
          <a:p>
            <a:endParaRPr lang="en-US"/>
          </a:p>
        </p:txBody>
      </p:sp>
      <p:sp>
        <p:nvSpPr>
          <p:cNvPr id="3" name="Shape 1"/>
          <p:cNvSpPr/>
          <p:nvPr/>
        </p:nvSpPr>
        <p:spPr>
          <a:xfrm>
            <a:off x="0" y="1417320"/>
            <a:ext cx="201168" cy="3108960"/>
          </a:xfrm>
          <a:prstGeom prst="rect">
            <a:avLst/>
          </a:prstGeom>
          <a:solidFill>
            <a:srgbClr val="3674C1"/>
          </a:solidFill>
          <a:ln/>
        </p:spPr>
        <p:txBody>
          <a:bodyPr/>
          <a:lstStyle/>
          <a:p>
            <a:endParaRPr lang="en-US"/>
          </a:p>
        </p:txBody>
      </p:sp>
      <p:sp>
        <p:nvSpPr>
          <p:cNvPr id="4" name="Text 2"/>
          <p:cNvSpPr/>
          <p:nvPr/>
        </p:nvSpPr>
        <p:spPr>
          <a:xfrm>
            <a:off x="566928" y="1691640"/>
            <a:ext cx="1828800" cy="914400"/>
          </a:xfrm>
          <a:prstGeom prst="rect">
            <a:avLst/>
          </a:prstGeom>
          <a:noFill/>
          <a:ln/>
        </p:spPr>
        <p:txBody>
          <a:bodyPr wrap="square" rtlCol="0" anchor="ctr"/>
          <a:lstStyle/>
          <a:p>
            <a:pPr marL="0" indent="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marL="0" indent="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marL="0" indent="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marL="685800" lvl="1"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6" name="Text 4"/>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Shape 2"/>
          <p:cNvSpPr/>
          <p:nvPr/>
        </p:nvSpPr>
        <p:spPr>
          <a:xfrm>
            <a:off x="566928" y="1554480"/>
            <a:ext cx="5298948" cy="530352"/>
          </a:xfrm>
          <a:prstGeom prst="rect">
            <a:avLst/>
          </a:prstGeom>
          <a:solidFill>
            <a:srgbClr val="E8F0FA"/>
          </a:solidFill>
          <a:ln/>
        </p:spPr>
        <p:txBody>
          <a:bodyPr/>
          <a:lstStyle/>
          <a:p>
            <a:endParaRPr lang="en-US"/>
          </a:p>
        </p:txBody>
      </p:sp>
      <p:sp>
        <p:nvSpPr>
          <p:cNvPr id="5" name="Text 3"/>
          <p:cNvSpPr/>
          <p:nvPr/>
        </p:nvSpPr>
        <p:spPr>
          <a:xfrm>
            <a:off x="731520" y="1554480"/>
            <a:ext cx="4969764" cy="530352"/>
          </a:xfrm>
          <a:prstGeom prst="rect">
            <a:avLst/>
          </a:prstGeom>
          <a:noFill/>
          <a:ln/>
        </p:spPr>
        <p:txBody>
          <a:bodyPr wrap="square" rtlCol="0" anchor="ctr"/>
          <a:lstStyle/>
          <a:p>
            <a:pPr marL="0" indent="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txBody>
          <a:bodyPr/>
          <a:lstStyle/>
          <a:p>
            <a:endParaRPr lang="en-US"/>
          </a:p>
        </p:txBody>
      </p:sp>
      <p:sp>
        <p:nvSpPr>
          <p:cNvPr id="8" name="Text 6"/>
          <p:cNvSpPr/>
          <p:nvPr/>
        </p:nvSpPr>
        <p:spPr>
          <a:xfrm>
            <a:off x="6487668" y="1554480"/>
            <a:ext cx="4969764" cy="530352"/>
          </a:xfrm>
          <a:prstGeom prst="rect">
            <a:avLst/>
          </a:prstGeom>
          <a:noFill/>
          <a:ln/>
        </p:spPr>
        <p:txBody>
          <a:bodyPr wrap="square" rtlCol="0" anchor="ctr"/>
          <a:lstStyle/>
          <a:p>
            <a:pPr marL="0" indent="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6" name="Text 4"/>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Normalization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6" name="Text 4"/>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txBody>
          <a:bodyPr/>
          <a:lstStyle/>
          <a:p>
            <a:endParaRPr lang="en-US"/>
          </a:p>
        </p:txBody>
      </p:sp>
      <p:sp>
        <p:nvSpPr>
          <p:cNvPr id="7" name="Text 5"/>
          <p:cNvSpPr/>
          <p:nvPr/>
        </p:nvSpPr>
        <p:spPr>
          <a:xfrm>
            <a:off x="768096" y="5650992"/>
            <a:ext cx="10652760" cy="566928"/>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marL="0" indent="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txBody>
          <a:bodyPr/>
          <a:lstStyle/>
          <a:p>
            <a:endParaRPr lang="en-US"/>
          </a:p>
        </p:txBody>
      </p:sp>
      <p:sp>
        <p:nvSpPr>
          <p:cNvPr id="4" name="Text 2"/>
          <p:cNvSpPr/>
          <p:nvPr/>
        </p:nvSpPr>
        <p:spPr>
          <a:xfrm>
            <a:off x="566928" y="1243584"/>
            <a:ext cx="11055096" cy="384048"/>
          </a:xfrm>
          <a:prstGeom prst="rect">
            <a:avLst/>
          </a:prstGeom>
          <a:noFill/>
          <a:ln/>
        </p:spPr>
        <p:txBody>
          <a:bodyPr wrap="square" rtlCol="0" anchor="ctr"/>
          <a:lstStyle/>
          <a:p>
            <a:pPr marL="0" indent="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txBody>
          <a:bodyPr/>
          <a:lstStyle/>
          <a:p>
            <a:endParaRPr lang="en-US"/>
          </a:p>
        </p:txBody>
      </p:sp>
      <p:sp>
        <p:nvSpPr>
          <p:cNvPr id="3" name="Text 1"/>
          <p:cNvSpPr/>
          <p:nvPr/>
        </p:nvSpPr>
        <p:spPr>
          <a:xfrm>
            <a:off x="960120" y="777240"/>
            <a:ext cx="10268712" cy="822960"/>
          </a:xfrm>
          <a:prstGeom prst="rect">
            <a:avLst/>
          </a:prstGeom>
          <a:noFill/>
          <a:ln/>
        </p:spPr>
        <p:txBody>
          <a:bodyPr wrap="square" rtlCol="0" anchor="ctr"/>
          <a:lstStyle/>
          <a:p>
            <a:pPr marL="0" indent="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txBody>
          <a:bodyPr/>
          <a:lstStyle/>
          <a:p>
            <a:endParaRPr lang="en-US"/>
          </a:p>
        </p:txBody>
      </p:sp>
      <p:sp>
        <p:nvSpPr>
          <p:cNvPr id="5" name="Text 3"/>
          <p:cNvSpPr/>
          <p:nvPr/>
        </p:nvSpPr>
        <p:spPr>
          <a:xfrm>
            <a:off x="1188720" y="1691640"/>
            <a:ext cx="8412480" cy="713232"/>
          </a:xfrm>
          <a:prstGeom prst="rect">
            <a:avLst/>
          </a:prstGeom>
          <a:noFill/>
          <a:ln/>
        </p:spPr>
        <p:txBody>
          <a:bodyPr wrap="square" rtlCol="0" anchor="ctr"/>
          <a:lstStyle/>
          <a:p>
            <a:pPr marL="0" indent="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marL="0" indent="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Add one catalog in QuPath, install only what interests you, and restart:
</a:t>
            </a:r>
            <a:r>
              <a:rPr lang="en-US" sz="1800" b="1" dirty="0">
                <a:solidFill>
                  <a:srgbClr val="1F4C86"/>
                </a:solidFill>
                <a:latin typeface="Calibri" pitchFamily="34" charset="0"/>
                <a:ea typeface="Calibri" pitchFamily="34" charset="-122"/>
                <a:cs typeface="Calibri" pitchFamily="34" charset="-120"/>
              </a:rPr>
              <a:t>github.com/uw-loci/qupath-catalog-mikenelson
</a:t>
            </a: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marL="0" indent="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marL="0" indent="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marL="0" indent="0" algn="r">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4411</Words>
  <Application>Microsoft Office PowerPoint</Application>
  <PresentationFormat>Widescreen</PresentationFormat>
  <Paragraphs>444</Paragraphs>
  <Slides>49</Slides>
  <Notes>49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Nelson</cp:lastModifiedBy>
  <cp:revision>3</cp:revision>
  <dcterms:created xsi:type="dcterms:W3CDTF">2026-09-20T21:14:16Z</dcterms:created>
  <dcterms:modified xsi:type="dcterms:W3CDTF">2026-09-20T22:43:26Z</dcterms:modified>
</cp:coreProperties>
</file>