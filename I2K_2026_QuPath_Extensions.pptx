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w-loci/qupath-extension-dialog-manager" TargetMode="External"/><Relationship Id="rId2" Type="http://schemas.openxmlformats.org/officeDocument/2006/relationships/hyperlink" Target="https://github.com/uw-loci/qupath-extension-channel-names-viewer" TargetMode="External"/><Relationship Id="rId3" Type="http://schemas.openxmlformats.org/officeDocument/2006/relationships/hyperlink" Target="https://github.com/uw-loci/qupath-extension-classify-object-subset"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w-loci/qupath-extension-wizard-wand" TargetMode="External"/><Relationship Id="rId2" Type="http://schemas.openxmlformats.org/officeDocument/2006/relationships/hyperlink" Target="https://github.com/uw-loci/qupath-extension-polyline-wan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w-loci/qupath-extension-image-export-toolkit"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uw-loci/qupath-extension-ocr4label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uw-loci/qupath-extension-project-metadata-browser"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uw-loci/qupath-extension-class-distribution"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uw-loci/qupath-extension-tiles-to-pyramid"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github.com/uw-loci/qupath-extension-dl-pixel-classifier"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github.com/uw-loci/qupath-extension-cell-analysis-tools" TargetMode="External"/><Relationship Id="rId2" Type="http://schemas.openxmlformats.org/officeDocument/2006/relationships/hyperlink" Target="https://github.com/uw-loci/qupath-extension-cluster-3d-navigator"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github.com/uw-loci/qupath-extension-fiber-analysis" TargetMode="External"/><Relationship Id="rId2" Type="http://schemas.openxmlformats.org/officeDocument/2006/relationships/hyperlink" Target="https://github.com/MichaelSNelson/qupath-extension-TME-Quant"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github.com/uw-loci/qupath-extension-qpsc"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17904"/>
            <a:ext cx="11055096" cy="1755648"/>
          </a:xfrm>
          <a:prstGeom prst="rect">
            <a:avLst/>
          </a:prstGeom>
          <a:solidFill>
            <a:srgbClr val="E8F0FA"/>
          </a:solidFill>
          <a:ln/>
        </p:spPr>
      </p:sp>
      <p:sp>
        <p:nvSpPr>
          <p:cNvPr id="5" name="Shape 3"/>
          <p:cNvSpPr/>
          <p:nvPr/>
        </p:nvSpPr>
        <p:spPr>
          <a:xfrm>
            <a:off x="566928" y="1517904"/>
            <a:ext cx="146304" cy="1755648"/>
          </a:xfrm>
          <a:prstGeom prst="rect">
            <a:avLst/>
          </a:prstGeom>
          <a:solidFill>
            <a:srgbClr val="3674C1"/>
          </a:solidFill>
          <a:ln/>
        </p:spPr>
      </p:sp>
      <p:sp>
        <p:nvSpPr>
          <p:cNvPr id="6" name="Text 4"/>
          <p:cNvSpPr/>
          <p:nvPr/>
        </p:nvSpPr>
        <p:spPr>
          <a:xfrm>
            <a:off x="978408" y="1645920"/>
            <a:ext cx="10232136" cy="310896"/>
          </a:xfrm>
          <a:prstGeom prst="rect">
            <a:avLst/>
          </a:prstGeom>
          <a:noFill/>
          <a:ln/>
        </p:spPr>
        <p:txBody>
          <a:bodyPr wrap="square" rtlCol="0" anchor="ctr"/>
          <a:lstStyle/>
          <a:p>
            <a:pPr indent="0" marL="0">
              <a:buNone/>
            </a:pPr>
            <a:r>
              <a:rPr lang="en-US" sz="1500" b="1" spc="150" kern="0" dirty="0">
                <a:solidFill>
                  <a:srgbClr val="3674C1"/>
                </a:solidFill>
                <a:latin typeface="Calibri" pitchFamily="34" charset="0"/>
                <a:ea typeface="Calibri" pitchFamily="34" charset="-122"/>
                <a:cs typeface="Calibri" pitchFamily="34" charset="-120"/>
              </a:rPr>
              <a:t>LOCI</a:t>
            </a:r>
            <a:endParaRPr lang="en-US" sz="1500" dirty="0"/>
          </a:p>
        </p:txBody>
      </p:sp>
      <p:sp>
        <p:nvSpPr>
          <p:cNvPr id="7" name="Text 5"/>
          <p:cNvSpPr/>
          <p:nvPr/>
        </p:nvSpPr>
        <p:spPr>
          <a:xfrm>
            <a:off x="978408" y="1938528"/>
            <a:ext cx="10232136" cy="530352"/>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lab, and Kevin Eliceiri</a:t>
            </a:r>
            <a:endParaRPr lang="en-US" sz="3000" dirty="0"/>
          </a:p>
        </p:txBody>
      </p:sp>
      <p:sp>
        <p:nvSpPr>
          <p:cNvPr id="8" name="Text 6"/>
          <p:cNvSpPr/>
          <p:nvPr/>
        </p:nvSpPr>
        <p:spPr>
          <a:xfrm>
            <a:off x="978408" y="2487168"/>
            <a:ext cx="10232136" cy="694944"/>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For a genuinely collaborative lab, and for backing work on QuPath that sits well outside my job description.</a:t>
            </a:r>
            <a:endParaRPr lang="en-US" sz="1700" dirty="0"/>
          </a:p>
        </p:txBody>
      </p:sp>
      <p:sp>
        <p:nvSpPr>
          <p:cNvPr id="9" name="Text 7"/>
          <p:cNvSpPr/>
          <p:nvPr/>
        </p:nvSpPr>
        <p:spPr>
          <a:xfrm>
            <a:off x="566928" y="3419856"/>
            <a:ext cx="11055096" cy="2743200"/>
          </a:xfrm>
          <a:prstGeom prst="rect">
            <a:avLst/>
          </a:prstGeom>
          <a:noFill/>
          <a:ln/>
        </p:spPr>
        <p:txBody>
          <a:bodyPr wrap="square" rtlCol="0" anchor="t"/>
          <a:lstStyle/>
          <a:p>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Sample data: Sara McArdle and Zbigniew Mikulski, La Jolla Institute for Immunology, who provided the slide-label images behind the OCR and metadata exercises. Other data today: public images, a CC0 synthetic set, and tiles acquired at LOCI.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fiber work.  ·  CytoMAP and QuBaLab for bringing clustering into QuPath.  ·  QUAREP-LiMi for the reporting standards.  ·  The image.sc community, where several of these features were first requested.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6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6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practiced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fiber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Dialog Manager</a:t>
            </a:r>
            <a:endParaRPr lang="en-US" sz="1000" dirty="0"/>
          </a:p>
        </p:txBody>
      </p:sp>
      <p:sp>
        <p:nvSpPr>
          <p:cNvPr id="6" name="Shape 4"/>
          <p:cNvSpPr/>
          <p:nvPr/>
        </p:nvSpPr>
        <p:spPr>
          <a:xfrm>
            <a:off x="10479024" y="1536192"/>
            <a:ext cx="804672" cy="804672"/>
          </a:xfrm>
          <a:prstGeom prst="rect">
            <a:avLst/>
          </a:prstGeom>
          <a:solidFill>
            <a:srgbClr val="FFFFFF"/>
          </a:solidFill>
          <a:ln w="9525">
            <a:solidFill>
              <a:srgbClr val="3674C1"/>
            </a:solidFill>
            <a:prstDash val="dash"/>
          </a:ln>
        </p:spPr>
      </p:sp>
      <p:sp>
        <p:nvSpPr>
          <p:cNvPr id="7" name="Text 5"/>
          <p:cNvSpPr/>
          <p:nvPr/>
        </p:nvSpPr>
        <p:spPr>
          <a:xfrm>
            <a:off x="10479024" y="1536192"/>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377440"/>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github.com/uw-loci/qupath-extension-dialog-manager</a:t>
            </a:r>
            <a:endParaRPr lang="en-US" sz="750" dirty="0"/>
          </a:p>
        </p:txBody>
      </p:sp>
      <p:sp>
        <p:nvSpPr>
          <p:cNvPr id="9" name="Text 7"/>
          <p:cNvSpPr/>
          <p:nvPr/>
        </p:nvSpPr>
        <p:spPr>
          <a:xfrm>
            <a:off x="10140696" y="26517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Channel Names</a:t>
            </a:r>
            <a:endParaRPr lang="en-US" sz="1000" dirty="0"/>
          </a:p>
        </p:txBody>
      </p:sp>
      <p:sp>
        <p:nvSpPr>
          <p:cNvPr id="10" name="Shape 8"/>
          <p:cNvSpPr/>
          <p:nvPr/>
        </p:nvSpPr>
        <p:spPr>
          <a:xfrm>
            <a:off x="10479024" y="2871216"/>
            <a:ext cx="804672" cy="804672"/>
          </a:xfrm>
          <a:prstGeom prst="rect">
            <a:avLst/>
          </a:prstGeom>
          <a:solidFill>
            <a:srgbClr val="FFFFFF"/>
          </a:solidFill>
          <a:ln w="9525">
            <a:solidFill>
              <a:srgbClr val="3674C1"/>
            </a:solidFill>
            <a:prstDash val="dash"/>
          </a:ln>
        </p:spPr>
      </p:sp>
      <p:sp>
        <p:nvSpPr>
          <p:cNvPr id="11" name="Text 9"/>
          <p:cNvSpPr/>
          <p:nvPr/>
        </p:nvSpPr>
        <p:spPr>
          <a:xfrm>
            <a:off x="10479024" y="2871216"/>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3712464"/>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github.com/uw-loci/qupath-extension-channel-names-viewer</a:t>
            </a:r>
            <a:endParaRPr lang="en-US" sz="750" dirty="0"/>
          </a:p>
        </p:txBody>
      </p:sp>
      <p:sp>
        <p:nvSpPr>
          <p:cNvPr id="13" name="Text 11"/>
          <p:cNvSpPr/>
          <p:nvPr/>
        </p:nvSpPr>
        <p:spPr>
          <a:xfrm>
            <a:off x="10140696" y="398678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Classify Subset</a:t>
            </a:r>
            <a:endParaRPr lang="en-US" sz="1000" dirty="0"/>
          </a:p>
        </p:txBody>
      </p:sp>
      <p:sp>
        <p:nvSpPr>
          <p:cNvPr id="14" name="Shape 12"/>
          <p:cNvSpPr/>
          <p:nvPr/>
        </p:nvSpPr>
        <p:spPr>
          <a:xfrm>
            <a:off x="10479024" y="4206240"/>
            <a:ext cx="804672" cy="804672"/>
          </a:xfrm>
          <a:prstGeom prst="rect">
            <a:avLst/>
          </a:prstGeom>
          <a:solidFill>
            <a:srgbClr val="FFFFFF"/>
          </a:solidFill>
          <a:ln w="9525">
            <a:solidFill>
              <a:srgbClr val="3674C1"/>
            </a:solidFill>
            <a:prstDash val="dash"/>
          </a:ln>
        </p:spPr>
      </p:sp>
      <p:sp>
        <p:nvSpPr>
          <p:cNvPr id="15" name="Text 13"/>
          <p:cNvSpPr/>
          <p:nvPr/>
        </p:nvSpPr>
        <p:spPr>
          <a:xfrm>
            <a:off x="10479024" y="4206240"/>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6" name="Text 14">
            <a:hlinkClick r:id="rId3" tooltip=""/>
          </p:cNvPr>
          <p:cNvSpPr/>
          <p:nvPr/>
        </p:nvSpPr>
        <p:spPr>
          <a:xfrm>
            <a:off x="10140696" y="504748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github.com/uw-loci/qupath-extension-classify-object-subset</a:t>
            </a:r>
            <a:endParaRPr lang="en-US" sz="750" dirty="0"/>
          </a:p>
        </p:txBody>
      </p:sp>
      <p:sp>
        <p:nvSpPr>
          <p:cNvPr id="17" name="Text 15"/>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18" name="Shape 16"/>
          <p:cNvSpPr/>
          <p:nvPr/>
        </p:nvSpPr>
        <p:spPr>
          <a:xfrm>
            <a:off x="566928" y="5650992"/>
            <a:ext cx="11055096" cy="566928"/>
          </a:xfrm>
          <a:prstGeom prst="rect">
            <a:avLst/>
          </a:prstGeom>
          <a:solidFill>
            <a:srgbClr val="F4F8FD"/>
          </a:solidFill>
          <a:ln w="9525">
            <a:solidFill>
              <a:srgbClr val="3674C1"/>
            </a:solidFill>
            <a:prstDash val="solid"/>
          </a:ln>
        </p:spPr>
      </p:sp>
      <p:sp>
        <p:nvSpPr>
          <p:cNvPr id="19" name="Text 17"/>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20" name="Text 1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Wizard Wand</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github.com/uw-loci/qupath-extension-wizard-wand</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Polyline Wand</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github.com/uw-loci/qupath-extension-polyline-wand</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color</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QuIET</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github.com/uw-loci/qupath-extension-image-export-toolkit</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OCR for Labels</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github.com/uw-loci/qupath-extension-ocr4labels</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Metadata Browser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github.com/uw-loci/qupath-extension-project-metadata-browser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recognized column makes the bad reads stand out as outliers.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the metadata is worth filling in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Metadata is not bookkeeping for its own sake. It is how you find an image again.</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own project pane has a “Sort by...” menu: choose a metadata key and the image list groups under it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hundred files named by scanner ID become a list grouped by stain, by case, or by block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pane’s filter box searches name and type only — metadata is what gives you the axis you actually care about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chain is: read the label, check the reads here, then navigate the project by what is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Sorting by a recovered column is also the quickest quality check, because bad reads land at the extremes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here is specific to OCR: paste a column from a spreadsheet, or pull fields out of structured filenames with a regex, and the same sorting applies.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 Distribution</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github.com/uw-loci/qupath-extension-class-distribution</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the stage’s own coordinates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3925824"/>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positions measured from the image</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3925824"/>
          </a:xfrm>
          <a:prstGeom prst="rect">
            <a:avLst/>
          </a:prstGeom>
        </p:spPr>
      </p:pic>
      <p:sp>
        <p:nvSpPr>
          <p:cNvPr id="8" name="Text 4"/>
          <p:cNvSpPr/>
          <p:nvPr/>
        </p:nvSpPr>
        <p:spPr>
          <a:xfrm>
            <a:off x="566928" y="581863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Both panels are Tiles to Pyramid’s own output, at the same place in the same overlap. The stage was about 5 px out; because the tiles are feathered together, that error does not show up as a seam, it shows up as blur — smeared puncta and soft filaments on the left, crisp on the right. Positions were solved once on DAPI and reused unchanged for green and red.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polarized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Tiles to Pyramid</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github.com/uw-loci/qupath-extension-tiles-to-pyramid</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color.</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DL Pixel Classifier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github.com/uw-loci/qupath-extension-dl-pixel-classifier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normalization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QP-CAT</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github.com/uw-loci/qupath-extension-cell-analysis-tools</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Cluster 3D Nav</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github.com/uw-loci/qupath-extension-cluster-3d-navigator</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fiber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fibers running perpendicular to the tumor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Fiber Analysis</a:t>
            </a:r>
            <a:endParaRPr lang="en-US" sz="1000" dirty="0"/>
          </a:p>
        </p:txBody>
      </p:sp>
      <p:sp>
        <p:nvSpPr>
          <p:cNvPr id="5" name="Shape 3"/>
          <p:cNvSpPr/>
          <p:nvPr/>
        </p:nvSpPr>
        <p:spPr>
          <a:xfrm>
            <a:off x="10355580" y="1499616"/>
            <a:ext cx="1051560" cy="1051560"/>
          </a:xfrm>
          <a:prstGeom prst="rect">
            <a:avLst/>
          </a:prstGeom>
          <a:solidFill>
            <a:srgbClr val="FFFFFF"/>
          </a:solidFill>
          <a:ln w="9525">
            <a:solidFill>
              <a:srgbClr val="3674C1"/>
            </a:solidFill>
            <a:prstDash val="dash"/>
          </a:ln>
        </p:spPr>
      </p:sp>
      <p:sp>
        <p:nvSpPr>
          <p:cNvPr id="6" name="Text 4"/>
          <p:cNvSpPr/>
          <p:nvPr/>
        </p:nvSpPr>
        <p:spPr>
          <a:xfrm>
            <a:off x="10355580" y="149961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58775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github.com/uw-loci/qupath-extension-fiber-analysis</a:t>
            </a:r>
            <a:endParaRPr lang="en-US" sz="750" dirty="0"/>
          </a:p>
        </p:txBody>
      </p:sp>
      <p:sp>
        <p:nvSpPr>
          <p:cNvPr id="8" name="Text 6"/>
          <p:cNvSpPr/>
          <p:nvPr/>
        </p:nvSpPr>
        <p:spPr>
          <a:xfrm>
            <a:off x="10140696" y="293522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TME-Quant</a:t>
            </a:r>
            <a:endParaRPr lang="en-US" sz="1000" dirty="0"/>
          </a:p>
        </p:txBody>
      </p:sp>
      <p:sp>
        <p:nvSpPr>
          <p:cNvPr id="9" name="Shape 7"/>
          <p:cNvSpPr/>
          <p:nvPr/>
        </p:nvSpPr>
        <p:spPr>
          <a:xfrm>
            <a:off x="10355580" y="3154680"/>
            <a:ext cx="1051560" cy="1051560"/>
          </a:xfrm>
          <a:prstGeom prst="rect">
            <a:avLst/>
          </a:prstGeom>
          <a:solidFill>
            <a:srgbClr val="FFFFFF"/>
          </a:solidFill>
          <a:ln w="9525">
            <a:solidFill>
              <a:srgbClr val="3674C1"/>
            </a:solidFill>
            <a:prstDash val="dash"/>
          </a:ln>
        </p:spPr>
      </p:sp>
      <p:sp>
        <p:nvSpPr>
          <p:cNvPr id="10" name="Text 8"/>
          <p:cNvSpPr/>
          <p:nvPr/>
        </p:nvSpPr>
        <p:spPr>
          <a:xfrm>
            <a:off x="10355580" y="3154680"/>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1" name="Text 9">
            <a:hlinkClick r:id="rId2" tooltip=""/>
          </p:cNvPr>
          <p:cNvSpPr/>
          <p:nvPr/>
        </p:nvSpPr>
        <p:spPr>
          <a:xfrm>
            <a:off x="10140696" y="4242816"/>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github.com/MichaelSNelson/qupath-extension-TME-Quant</a:t>
            </a:r>
            <a:endParaRPr lang="en-US" sz="750" dirty="0"/>
          </a:p>
        </p:txBody>
      </p:sp>
      <p:sp>
        <p:nvSpPr>
          <p:cNvPr id="12" name="Shape 10"/>
          <p:cNvSpPr/>
          <p:nvPr/>
        </p:nvSpPr>
        <p:spPr>
          <a:xfrm>
            <a:off x="566928" y="1554480"/>
            <a:ext cx="4430268" cy="530352"/>
          </a:xfrm>
          <a:prstGeom prst="rect">
            <a:avLst/>
          </a:prstGeom>
          <a:solidFill>
            <a:srgbClr val="E8F0FA"/>
          </a:solidFill>
          <a:ln/>
        </p:spPr>
      </p:sp>
      <p:sp>
        <p:nvSpPr>
          <p:cNvPr id="13" name="Text 11"/>
          <p:cNvSpPr/>
          <p:nvPr/>
        </p:nvSpPr>
        <p:spPr>
          <a:xfrm>
            <a:off x="731520" y="1554480"/>
            <a:ext cx="410108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14" name="Text 12"/>
          <p:cNvSpPr/>
          <p:nvPr/>
        </p:nvSpPr>
        <p:spPr>
          <a:xfrm>
            <a:off x="658368"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fibers,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fiber-tracing misses entirely</a:t>
            </a:r>
            <a:endParaRPr lang="en-US" sz="1800" dirty="0"/>
          </a:p>
        </p:txBody>
      </p:sp>
      <p:sp>
        <p:nvSpPr>
          <p:cNvPr id="15" name="Shape 13"/>
          <p:cNvSpPr/>
          <p:nvPr/>
        </p:nvSpPr>
        <p:spPr>
          <a:xfrm>
            <a:off x="5454396" y="1554480"/>
            <a:ext cx="4430268" cy="530352"/>
          </a:xfrm>
          <a:prstGeom prst="rect">
            <a:avLst/>
          </a:prstGeom>
          <a:solidFill>
            <a:srgbClr val="E8F0FA"/>
          </a:solidFill>
          <a:ln/>
        </p:spPr>
      </p:sp>
      <p:sp>
        <p:nvSpPr>
          <p:cNvPr id="16" name="Text 14"/>
          <p:cNvSpPr/>
          <p:nvPr/>
        </p:nvSpPr>
        <p:spPr>
          <a:xfrm>
            <a:off x="5618988" y="1554480"/>
            <a:ext cx="410108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fibers</a:t>
            </a:r>
            <a:endParaRPr lang="en-US" sz="2000" dirty="0"/>
          </a:p>
        </p:txBody>
      </p:sp>
      <p:sp>
        <p:nvSpPr>
          <p:cNvPr id="17" name="Text 15"/>
          <p:cNvSpPr/>
          <p:nvPr/>
        </p:nvSpPr>
        <p:spPr>
          <a:xfrm>
            <a:off x="5545836"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fibers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fibers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Fibers classified by orientation relative to a tumor boundary</a:t>
            </a:r>
            <a:endParaRPr lang="en-US" sz="1800" dirty="0"/>
          </a:p>
        </p:txBody>
      </p:sp>
      <p:sp>
        <p:nvSpPr>
          <p:cNvPr id="18" name="Text 1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QPSC</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github.com/uw-loci/qupath-extension-qpsc</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analyzed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Normalization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2026-09-20T21:11:59Z</dcterms:created>
  <dcterms:modified xsi:type="dcterms:W3CDTF">2026-09-20T21:11:59Z</dcterms:modified>
</cp:coreProperties>
</file>