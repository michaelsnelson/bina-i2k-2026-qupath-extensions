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1051560"/>
            <a:ext cx="10268712" cy="384048"/>
          </a:xfrm>
          <a:prstGeom prst="rect">
            <a:avLst/>
          </a:prstGeom>
          <a:noFill/>
          <a:ln/>
        </p:spPr>
        <p:txBody>
          <a:bodyPr wrap="square" rtlCol="0" anchor="ctr"/>
          <a:lstStyle/>
          <a:p>
            <a:pPr indent="0" marL="0">
              <a:buNone/>
            </a:pPr>
            <a:r>
              <a:rPr lang="en-US" sz="1700" b="1" spc="150" kern="0" dirty="0">
                <a:solidFill>
                  <a:srgbClr val="3674C1"/>
                </a:solidFill>
                <a:latin typeface="Calibri" pitchFamily="34" charset="0"/>
                <a:ea typeface="Calibri" pitchFamily="34" charset="-122"/>
                <a:cs typeface="Calibri" pitchFamily="34" charset="-120"/>
              </a:rPr>
              <a:t>I2K  ·  BioImaging North America Congress 2026</a:t>
            </a:r>
            <a:endParaRPr lang="en-US" sz="1700" dirty="0"/>
          </a:p>
        </p:txBody>
      </p:sp>
      <p:sp>
        <p:nvSpPr>
          <p:cNvPr id="4" name="Text 2"/>
          <p:cNvSpPr/>
          <p:nvPr/>
        </p:nvSpPr>
        <p:spPr>
          <a:xfrm>
            <a:off x="960120" y="1481328"/>
            <a:ext cx="10268712" cy="1051560"/>
          </a:xfrm>
          <a:prstGeom prst="rect">
            <a:avLst/>
          </a:prstGeom>
          <a:noFill/>
          <a:ln/>
        </p:spPr>
        <p:txBody>
          <a:bodyPr wrap="square" rtlCol="0" anchor="ctr"/>
          <a:lstStyle/>
          <a:p>
            <a:pPr indent="0" marL="0">
              <a:buNone/>
            </a:pPr>
            <a:r>
              <a:rPr lang="en-US" sz="4600" b="1" dirty="0">
                <a:solidFill>
                  <a:srgbClr val="1F4C86"/>
                </a:solidFill>
                <a:latin typeface="Trebuchet MS" pitchFamily="34" charset="0"/>
                <a:ea typeface="Trebuchet MS" pitchFamily="34" charset="-122"/>
                <a:cs typeface="Trebuchet MS" pitchFamily="34" charset="-120"/>
              </a:rPr>
              <a:t>New Extensions for QuPath</a:t>
            </a:r>
            <a:endParaRPr lang="en-US" sz="4600" dirty="0"/>
          </a:p>
        </p:txBody>
      </p:sp>
      <p:sp>
        <p:nvSpPr>
          <p:cNvPr id="5" name="Text 3"/>
          <p:cNvSpPr/>
          <p:nvPr/>
        </p:nvSpPr>
        <p:spPr>
          <a:xfrm>
            <a:off x="960120" y="2578608"/>
            <a:ext cx="9445752" cy="914400"/>
          </a:xfrm>
          <a:prstGeom prst="rect">
            <a:avLst/>
          </a:prstGeom>
          <a:noFill/>
          <a:ln/>
        </p:spPr>
        <p:txBody>
          <a:bodyPr wrap="square" rtlCol="0" anchor="ctr"/>
          <a:lstStyle/>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From simple (dialog manager, wizard wand, image export)</a:t>
            </a:r>
            <a:endParaRPr lang="en-US" sz="2100" dirty="0"/>
          </a:p>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to complex (DL cell and pixel classifiers, microscope control)</a:t>
            </a:r>
            <a:endParaRPr lang="en-US" sz="2100" dirty="0"/>
          </a:p>
        </p:txBody>
      </p:sp>
      <p:sp>
        <p:nvSpPr>
          <p:cNvPr id="6" name="Shape 4"/>
          <p:cNvSpPr/>
          <p:nvPr/>
        </p:nvSpPr>
        <p:spPr>
          <a:xfrm>
            <a:off x="960120" y="3657600"/>
            <a:ext cx="2377440" cy="54864"/>
          </a:xfrm>
          <a:prstGeom prst="rect">
            <a:avLst/>
          </a:prstGeom>
          <a:solidFill>
            <a:srgbClr val="3674C1"/>
          </a:solidFill>
          <a:ln/>
        </p:spPr>
      </p:sp>
      <p:sp>
        <p:nvSpPr>
          <p:cNvPr id="7" name="Text 5"/>
          <p:cNvSpPr/>
          <p:nvPr/>
        </p:nvSpPr>
        <p:spPr>
          <a:xfrm>
            <a:off x="960120" y="3886200"/>
            <a:ext cx="7315200" cy="384048"/>
          </a:xfrm>
          <a:prstGeom prst="rect">
            <a:avLst/>
          </a:prstGeom>
          <a:noFill/>
          <a:ln/>
        </p:spPr>
        <p:txBody>
          <a:bodyPr wrap="square" rtlCol="0" anchor="ctr"/>
          <a:lstStyle/>
          <a:p>
            <a:pPr indent="0" marL="0">
              <a:buNone/>
            </a:pPr>
            <a:r>
              <a:rPr lang="en-US" sz="2200" b="1" dirty="0">
                <a:solidFill>
                  <a:srgbClr val="1F2933"/>
                </a:solidFill>
                <a:latin typeface="Trebuchet MS" pitchFamily="34" charset="0"/>
                <a:ea typeface="Trebuchet MS" pitchFamily="34" charset="-122"/>
                <a:cs typeface="Trebuchet MS" pitchFamily="34" charset="-120"/>
              </a:rPr>
              <a:t>Michael S. Nelson</a:t>
            </a:r>
            <a:endParaRPr lang="en-US" sz="2200" dirty="0"/>
          </a:p>
        </p:txBody>
      </p:sp>
      <p:sp>
        <p:nvSpPr>
          <p:cNvPr id="8" name="Text 6"/>
          <p:cNvSpPr/>
          <p:nvPr/>
        </p:nvSpPr>
        <p:spPr>
          <a:xfrm>
            <a:off x="960120" y="4279392"/>
            <a:ext cx="7315200" cy="731520"/>
          </a:xfrm>
          <a:prstGeom prst="rect">
            <a:avLst/>
          </a:prstGeom>
          <a:noFill/>
          <a:ln/>
        </p:spPr>
        <p:txBody>
          <a:bodyPr wrap="square" rtlCol="0" anchor="ctr"/>
          <a:lstStyle/>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Laboratory for Optical and Computational Instrumentation (LOCI)</a:t>
            </a:r>
            <a:endParaRPr lang="en-US" sz="1700" dirty="0"/>
          </a:p>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University of Wisconsin–Madison</a:t>
            </a:r>
            <a:endParaRPr lang="en-US" sz="1700" dirty="0"/>
          </a:p>
        </p:txBody>
      </p:sp>
      <p:sp>
        <p:nvSpPr>
          <p:cNvPr id="9" name="Shape 7"/>
          <p:cNvSpPr/>
          <p:nvPr/>
        </p:nvSpPr>
        <p:spPr>
          <a:xfrm>
            <a:off x="960120" y="5257800"/>
            <a:ext cx="6949440" cy="566928"/>
          </a:xfrm>
          <a:prstGeom prst="rect">
            <a:avLst/>
          </a:prstGeom>
          <a:solidFill>
            <a:srgbClr val="E8F0FA"/>
          </a:solidFill>
          <a:ln/>
        </p:spPr>
      </p:sp>
      <p:sp>
        <p:nvSpPr>
          <p:cNvPr id="10" name="Text 8"/>
          <p:cNvSpPr/>
          <p:nvPr/>
        </p:nvSpPr>
        <p:spPr>
          <a:xfrm>
            <a:off x="1143000" y="5257800"/>
            <a:ext cx="6675120" cy="566928"/>
          </a:xfrm>
          <a:prstGeom prst="rect">
            <a:avLst/>
          </a:prstGeom>
          <a:noFill/>
          <a:ln/>
        </p:spPr>
        <p:txBody>
          <a:bodyPr wrap="square" rtlCol="0" anchor="ctr"/>
          <a:lstStyle/>
          <a:p>
            <a:pPr indent="0" marL="0">
              <a:buNone/>
            </a:pPr>
            <a:r>
              <a:rPr lang="en-US" sz="1800" b="1" dirty="0">
                <a:solidFill>
                  <a:srgbClr val="1F4C86"/>
                </a:solidFill>
                <a:latin typeface="Calibri" pitchFamily="34" charset="0"/>
                <a:ea typeface="Calibri" pitchFamily="34" charset="-122"/>
                <a:cs typeface="Calibri" pitchFamily="34" charset="-120"/>
              </a:rPr>
              <a:t>michaelsnelson.github.io/BINA-I2K-2026-QuPath-Extensions</a:t>
            </a:r>
            <a:endParaRPr lang="en-US" sz="1800" dirty="0"/>
          </a:p>
        </p:txBody>
      </p:sp>
      <p:sp>
        <p:nvSpPr>
          <p:cNvPr id="11" name="Text 9"/>
          <p:cNvSpPr/>
          <p:nvPr/>
        </p:nvSpPr>
        <p:spPr>
          <a:xfrm>
            <a:off x="7525512" y="5257800"/>
            <a:ext cx="4023360" cy="731520"/>
          </a:xfrm>
          <a:prstGeom prst="rect">
            <a:avLst/>
          </a:prstGeom>
          <a:noFill/>
          <a:ln/>
        </p:spPr>
        <p:txBody>
          <a:bodyPr wrap="square" rtlCol="0" anchor="ctr"/>
          <a:lstStyle/>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Tuesday 29 September 2026  ·  10:30–12:30</a:t>
            </a:r>
            <a:endParaRPr lang="en-US" sz="1500" dirty="0"/>
          </a:p>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Morgridge Hall, WARF Seminar Hub — Rm. 7560</a:t>
            </a:r>
            <a:endParaRPr lang="en-US" sz="1500" dirty="0"/>
          </a:p>
        </p:txBody>
      </p:sp>
      <p:sp>
        <p:nvSpPr>
          <p:cNvPr id="12" name="Text 10"/>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Who this is for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Anyone who already uses QuPath and has run into its edges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Biologists, pathologists, core facility staff, graduate students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 programming required — nothing today asks you to write a script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A few tools generate scripts for you; you never have to write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Helpful if you have opened a project, drawn an annotation, run cell detection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Everything shown today is free, open source, and installable from inside QuPath.</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claim</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is usually treated as post-acquisition analysis software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Its extension mechanism reaches much further than that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 analysis → validation → publication, in one environment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One project. One place your metadata lives. One place your figures come from</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Sixteen extensions built at LOCI — thirteen you can install this afternoon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Most of these are under active development, written in bursts as I have time. Useful, not stable — treat them accordingly.</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How the hour runs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Simple first, complex last — exactly as the session title promises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Small quality-of-life tools → export → project-scale work → deep learning → microscope control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Three things are demonstrated but not practised. I will say why each time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Second hour is optional, hands-on, and self-directed — four tracks, or bring your own data</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Slides, guides, exercises and sample data all live at the address above.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Sixteen tools, two hours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Being up front about this now, rather than rushing at 11:20.</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There is time for a handful of tools done properly, not sixteen done badly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every tool has a full written walkthrough, and will have a video of me doing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Nothing depends on being in the room when your tool comes up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few slots are fixed; two more were covered in Sara McArdle’s session yesterday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rest is up to you — vote on the next slide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Walkthroughs and videos for all sixteen: michaelsnelson.github.io/BINA-I2K-2026-QuPath-Extensions/docs/walkthroughs.html</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822960"/>
            <a:ext cx="11055096" cy="822960"/>
          </a:xfrm>
          <a:prstGeom prst="rect">
            <a:avLst/>
          </a:prstGeom>
          <a:noFill/>
          <a:ln/>
        </p:spPr>
        <p:txBody>
          <a:bodyPr wrap="square" rtlCol="0" anchor="ctr"/>
          <a:lstStyle/>
          <a:p>
            <a:pPr indent="0" marL="0">
              <a:buNone/>
            </a:pPr>
            <a:r>
              <a:rPr lang="en-US" sz="3600" b="1" dirty="0">
                <a:solidFill>
                  <a:srgbClr val="1F4C86"/>
                </a:solidFill>
                <a:latin typeface="Trebuchet MS" pitchFamily="34" charset="0"/>
                <a:ea typeface="Trebuchet MS" pitchFamily="34" charset="-122"/>
                <a:cs typeface="Trebuchet MS" pitchFamily="34" charset="-120"/>
              </a:rPr>
              <a:t>Vote for what you want to see</a:t>
            </a:r>
            <a:endParaRPr lang="en-US" sz="3600" dirty="0"/>
          </a:p>
        </p:txBody>
      </p:sp>
      <p:sp>
        <p:nvSpPr>
          <p:cNvPr id="3" name="Shape 1"/>
          <p:cNvSpPr/>
          <p:nvPr/>
        </p:nvSpPr>
        <p:spPr>
          <a:xfrm>
            <a:off x="566928" y="1691640"/>
            <a:ext cx="1920240" cy="50292"/>
          </a:xfrm>
          <a:prstGeom prst="rect">
            <a:avLst/>
          </a:prstGeom>
          <a:solidFill>
            <a:srgbClr val="3674C1"/>
          </a:solidFill>
          <a:ln/>
        </p:spPr>
      </p:sp>
      <p:sp>
        <p:nvSpPr>
          <p:cNvPr id="4" name="Shape 2"/>
          <p:cNvSpPr/>
          <p:nvPr/>
        </p:nvSpPr>
        <p:spPr>
          <a:xfrm>
            <a:off x="566928" y="2148840"/>
            <a:ext cx="11055096" cy="1371600"/>
          </a:xfrm>
          <a:prstGeom prst="rect">
            <a:avLst/>
          </a:prstGeom>
          <a:solidFill>
            <a:srgbClr val="E8F0FA"/>
          </a:solidFill>
          <a:ln/>
        </p:spPr>
      </p:sp>
      <p:sp>
        <p:nvSpPr>
          <p:cNvPr id="5" name="Text 3"/>
          <p:cNvSpPr/>
          <p:nvPr/>
        </p:nvSpPr>
        <p:spPr>
          <a:xfrm>
            <a:off x="841248" y="2148840"/>
            <a:ext cx="10506456" cy="1371600"/>
          </a:xfrm>
          <a:prstGeom prst="rect">
            <a:avLst/>
          </a:prstGeom>
          <a:noFill/>
          <a:ln/>
        </p:spPr>
        <p:txBody>
          <a:bodyPr wrap="square" rtlCol="0" anchor="ctr"/>
          <a:lstStyle/>
          <a:p>
            <a:pPr algn="ctr" indent="0" marL="0">
              <a:buNone/>
            </a:pPr>
            <a:r>
              <a:rPr lang="en-US" sz="3000" b="1" dirty="0">
                <a:solidFill>
                  <a:srgbClr val="1F4C86"/>
                </a:solidFill>
                <a:latin typeface="Calibri" pitchFamily="34" charset="0"/>
                <a:ea typeface="Calibri" pitchFamily="34" charset="-122"/>
                <a:cs typeface="Calibri" pitchFamily="34" charset="-120"/>
              </a:rPr>
              <a:t>%%PADLET_URL%%</a:t>
            </a:r>
            <a:endParaRPr lang="en-US" sz="3000" dirty="0"/>
          </a:p>
        </p:txBody>
      </p:sp>
      <p:sp>
        <p:nvSpPr>
          <p:cNvPr id="6" name="Text 4"/>
          <p:cNvSpPr/>
          <p:nvPr/>
        </p:nvSpPr>
        <p:spPr>
          <a:xfrm>
            <a:off x="566928" y="3749040"/>
            <a:ext cx="11055096" cy="2011680"/>
          </a:xfrm>
          <a:prstGeom prst="rect">
            <a:avLst/>
          </a:prstGeom>
          <a:noFill/>
          <a:ln/>
        </p:spPr>
        <p:txBody>
          <a:bodyPr wrap="square" rtlCol="0" anchor="t"/>
          <a:lstStyle/>
          <a:p>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Vote for as many as you like. Add a comment if you have a specific question, or a dataset you are stuck on.
</a:t>
            </a:r>
            <a:pPr indent="0" marL="0">
              <a:spcAft>
                <a:spcPts val="1200"/>
              </a:spcAft>
              <a:buNone/>
            </a:pPr>
            <a:r>
              <a:rPr lang="en-US" sz="1800" i="1" dirty="0">
                <a:solidFill>
                  <a:srgbClr val="5A6675"/>
                </a:solidFill>
                <a:latin typeface="Calibri" pitchFamily="34" charset="0"/>
                <a:ea typeface="Calibri" pitchFamily="34" charset="-122"/>
                <a:cs typeface="Calibri" pitchFamily="34" charset="-120"/>
              </a:rPr>
              <a:t>Already fixed: QPSC, the Confusion Matrix and the fibre tools are shown regardless — and Channel Names Viewer and Classify Object Subset were covered in Sara McArdle’s session yesterday.
</a:t>
            </a:r>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I will read it now and adjust the running order.
</a:t>
            </a:r>
            <a:pPr indent="0" marL="0">
              <a:buNone/>
            </a:pPr>
            <a:r>
              <a:rPr lang="en-US" sz="2000" dirty="0">
                <a:solidFill>
                  <a:srgbClr val="1F2933"/>
                </a:solidFill>
                <a:latin typeface="Calibri" pitchFamily="34" charset="0"/>
                <a:ea typeface="Calibri" pitchFamily="34" charset="-122"/>
                <a:cs typeface="Calibri" pitchFamily="34" charset="-120"/>
              </a:rPr>
              <a:t>If your tool does not make the cut, its walkthrough and video are on the site — and I am happy to sit down with you in the second hour.</a:t>
            </a:r>
            <a:endParaRPr lang="en-US" sz="20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01</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Extensions and catalogs</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What they are, how you install them, and how this suite got built</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an extension actually is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single Java component that QuPath loads when it starts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 can add menu items, toolbar buttons, dialogs, viewers, whole pipelines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Everything you see today was registered by an extension during startup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 install one by dropping it in, or — much better — from a catalog</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Three things that bite everyone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 must restart QuPath. It copies the extension into place but will not load it until you do</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Take the jar with -all in the name — without it the extension throws ClassNotFoundException the first time you use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Extensions live per QuPath version — installing 0.7 will not disturb your 0.6 setup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They are compiled against a specific QuPath API, which is why today needs 0.7 or later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Workshop requirement: QuPath 0.7.0 or later. Nothing here runs on 0.6.</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Catalogs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remember one slide from this section, make it this one.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One URL. QuPath then handles installing, listing, and updating for you</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Extensions &gt; Manage extensions &gt; Manage extension catalogs &gt; Add catalog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LOCI catalog  —  github.com/uw-loci/qupath-catalog-mikenelson  (the only one you need today)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Adding a catalog installs NOTHING. It shows you a list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Install only what you want — QP-CAT pulls 1.5–2.5 GB on first use, the DL classifier 2–4 GB</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Sixteen extensions, one person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part of this talk most likely to be useful outside QuPath.</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That is not a normal output, and it is fair to ask how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large fraction of the code was written by an LLM coding agent under close direction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Several of you will go home and try this, so here is the honest version</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worked, and what did not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Worked</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Give the model the real API, and require it to compile — a failing build is a free, correct signal</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Write the documentation first and treat it as the specification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Keep a persistent map of the codebase so each session does not re-derive it badly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Automate the tedious checks — API compatibility across sixteen repositories</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Did not</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"Build me an extension that does X" — compiles, and is wrong in ways you find in front of an audience</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Scientific correctness — a bootstrap that runs, looks plausible, and resamples the wrong axis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GUI behaviour — nothing catches a dialog opening off-screen except a human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Licensing — get it wrong and you cannot distribute your work</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honest summary</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AI assistance changed the cost of building an extension by about an order of magnitude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 changed the correctness of one not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bottleneck moved from "can I write this Java" to "do I know what this should do, and can I tell when it is lying to me"</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 better bottleneck to have. Still a bottleneck, and still yours.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02</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Simple wins</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Small extensions that pay for themselves on the first day</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Dialog Position Manager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least glamorous tool here.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Remembers where every dialog was, and puts it back next session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Recovers windows stranded on a monitor you have since unplugged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Handles mixed-DPI and display scaling changes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core facility can share one layout across every workstation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It also exists because this class of bug is invisible to automated testing.</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you may already have seen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From “Tips and tricks for maintaining sanity during hi-plex classification in QuPath”, Monday 11:00.</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Channel Names Viewer — a floating, colour-coded legend of the selected channels. "Which one is the green one?", answered permanently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Classify Object Subset — run a saved classifier on a chosen subset, by class, measurement or selection, with a live count before you commit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Both began as Sara McArdle’s Groovy scripts, and Sara demonstrated both in her session yesterday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a pointer rather than the same demo twice — both install in seconds, and both have a full walkthrough on the site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Nothing stops you installing them. This is a division of labour, not a barrier.</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Wizard Wand</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built-in wand is untouched — this installs as a separate tool you can ignore.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Works like the built-in wand, with holes filled and edges smoothed by default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Hold still and the selection grows on its own, instead of dragging to cover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Colour-space modes for grayscale, subtle stain differences, or selecting by hue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Auto-tuning: draw one annotation the way you want it, and it derives its own settings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Auto-tuning is the headline: settings taken from your example beat settings you guessed.</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Polyline Wand and Brush</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QuPath’s brush and wand work on areas. This brings the same editing to lines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Push a section of a traced boundary outward without redrawing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Overshot the end of a vessel trace? Erase backwards from the endpoint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Scissors mode splits one polyline into two, both keeping class, name and colour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One stroke is one undo step, even on a ten-thousand-vertex boundary.</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LIVE  ·  10 MIN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Both wands,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Wizard Wand: wand a structure, then auto-tune from a hand-drawn example and do it again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a selection grow on its own instead of dragging to cover it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Polyline Wand: push a traced boundary outward, smooth a noisy stretch, erase back from an endpoint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Scissors mode — cut one polyline in two, both halves keeping class, name and colour</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Compare the result against the built-in tools</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two wands in one sitting — ten minutes. Static screenshots follow if the live version misbehaves.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03</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Getting things out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Publication figures, review images, and machine-learning datasets</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QuIET — Image Export Toolkit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Exporting one image is easy. Exporting forty the same way, with a scale bar, at a stated resolution, is not.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Five export categories, one three-step wizard</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Rendered figures  ·  label masks  ·  raw pixel data  ·  image and label tile pairs  ·  per-object crops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separate wizard builds multi-panel montage figures from several project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Batch across a project, without writing an export script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21</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Every export writes a script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Whatever you clicked in the wizard comes back out as a self-contained script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it, version it, re-run it next year, send it to a collaborator without the extension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wizard is a script generator, not a black box</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That is the difference between a convenience and a reproducibility tool.</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Reporting guidance, in the dialog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Catch "what magnification was that, and is there a scale bar?" while you can still fix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QUAREP-LiMi is the community effort on minimum reporting standards for light microscopy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Guidance appears beside the settings, driven by your project’s actual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Publication advice is shown before you export, not after review</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23</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04</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At scale</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When it is four hundred slides rather than four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OCR for Labels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case ID, stain and block number are already in your slide file, on the label image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Text recognition and barcode scanning, straight into project metadata</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a template of field positions, then run it across the whole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Vocabulary matching turns "usually right" into "right, or obviously wrong"</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Review before applying. Recognition on a photographed label is good, not correct.</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Project Metadata Browser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just ran label recognition across a few hundred slides, this is where you find out whether it worked.</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image a row, every metadata key a column — sortable and filterable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Edits stay in memory until you save, and everything is undoable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Paste a column from a spreadsheet; pull values out of structured filenames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Rename or remove a key across every image in one operation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Sorting by a recognised column makes the bad reads stand out as outliers.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26</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Class Distribution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charts of how your annotation classes are distributed across the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And, separately, the training balance those annotations actually imply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Charts update while you annotate, so the feedback arrives while you can still act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Classes badly over- or under-represented are flagged</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Annotation count, annotation area, and implied training detections are three different numbers. Only the third predicts classifier behaviour.</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27</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Tiles to Pyramid: stitching two tiles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25296"/>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As acquired: neighbouring tiles share a strip of the same tissue (shaded)</a:t>
            </a:r>
            <a:endParaRPr lang="en-US" sz="1700" dirty="0"/>
          </a:p>
        </p:txBody>
      </p:sp>
      <p:pic>
        <p:nvPicPr>
          <p:cNvPr id="5" name="Image 0" descr="images/stitch_ppm_unstitched.jpg">    </p:cNvPr>
          <p:cNvPicPr>
            <a:picLocks noChangeAspect="1"/>
          </p:cNvPicPr>
          <p:nvPr/>
        </p:nvPicPr>
        <p:blipFill>
          <a:blip r:embed="rId1"/>
          <a:stretch>
            <a:fillRect/>
          </a:stretch>
        </p:blipFill>
        <p:spPr>
          <a:xfrm>
            <a:off x="566928" y="1645920"/>
            <a:ext cx="10058400" cy="1894332"/>
          </a:xfrm>
          <a:prstGeom prst="rect">
            <a:avLst/>
          </a:prstGeom>
        </p:spPr>
      </p:pic>
      <p:sp>
        <p:nvSpPr>
          <p:cNvPr id="6" name="Text 3"/>
          <p:cNvSpPr/>
          <p:nvPr/>
        </p:nvSpPr>
        <p:spPr>
          <a:xfrm>
            <a:off x="566928" y="3631692"/>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the join is placed by matching the image content in that strip</a:t>
            </a:r>
            <a:endParaRPr lang="en-US" sz="1700" dirty="0"/>
          </a:p>
        </p:txBody>
      </p:sp>
      <p:pic>
        <p:nvPicPr>
          <p:cNvPr id="7" name="Image 1" descr="images/stitch_ppm_stitched.jpg">    </p:cNvPr>
          <p:cNvPicPr>
            <a:picLocks noChangeAspect="1"/>
          </p:cNvPicPr>
          <p:nvPr/>
        </p:nvPicPr>
        <p:blipFill>
          <a:blip r:embed="rId2"/>
          <a:stretch>
            <a:fillRect/>
          </a:stretch>
        </p:blipFill>
        <p:spPr>
          <a:xfrm>
            <a:off x="566928" y="4052316"/>
            <a:ext cx="9273845" cy="1894332"/>
          </a:xfrm>
          <a:prstGeom prst="rect">
            <a:avLst/>
          </a:prstGeom>
        </p:spPr>
      </p:pic>
      <p:sp>
        <p:nvSpPr>
          <p:cNvPr id="8" name="Text 4"/>
          <p:cNvSpPr/>
          <p:nvPr/>
        </p:nvSpPr>
        <p:spPr>
          <a:xfrm>
            <a:off x="566928" y="5998464"/>
            <a:ext cx="10140696" cy="512064"/>
          </a:xfrm>
          <a:prstGeom prst="rect">
            <a:avLst/>
          </a:prstGeom>
          <a:noFill/>
          <a:ln/>
        </p:spPr>
        <p:txBody>
          <a:bodyPr wrap="square" rtlCol="0" anchor="ctr"/>
          <a:lstStyle/>
          <a:p>
            <a:pPr indent="0" marL="0">
              <a:buNone/>
            </a:pPr>
            <a:r>
              <a:rPr lang="en-US" sz="1500" i="1" dirty="0">
                <a:solidFill>
                  <a:srgbClr val="5A6675"/>
                </a:solidFill>
                <a:latin typeface="Calibri" pitchFamily="34" charset="0"/>
                <a:ea typeface="Calibri" pitchFamily="34" charset="-122"/>
                <a:cs typeface="Calibri" pitchFamily="34" charset="-120"/>
              </a:rPr>
              <a:t>Pancreatic cancer, polarised light. The stage recorded this tile 5 px (0.9 µm) away from where it really was; registration measured that from the overlap and corrected it.</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28</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Measure once, on the image with the clearest structure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25296"/>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The same two tiles, imaged for birefringence</a:t>
            </a:r>
            <a:endParaRPr lang="en-US" sz="1700" dirty="0"/>
          </a:p>
        </p:txBody>
      </p:sp>
      <p:pic>
        <p:nvPicPr>
          <p:cNvPr id="5" name="Image 0" descr="images/stitch_biref_unstitched.jpg">    </p:cNvPr>
          <p:cNvPicPr>
            <a:picLocks noChangeAspect="1"/>
          </p:cNvPicPr>
          <p:nvPr/>
        </p:nvPicPr>
        <p:blipFill>
          <a:blip r:embed="rId1"/>
          <a:stretch>
            <a:fillRect/>
          </a:stretch>
        </p:blipFill>
        <p:spPr>
          <a:xfrm>
            <a:off x="566928" y="1645920"/>
            <a:ext cx="10058400" cy="1894332"/>
          </a:xfrm>
          <a:prstGeom prst="rect">
            <a:avLst/>
          </a:prstGeom>
        </p:spPr>
      </p:pic>
      <p:sp>
        <p:nvSpPr>
          <p:cNvPr id="6" name="Text 3"/>
          <p:cNvSpPr/>
          <p:nvPr/>
        </p:nvSpPr>
        <p:spPr>
          <a:xfrm>
            <a:off x="566928" y="3631692"/>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with the positions measured once and reused unchanged</a:t>
            </a:r>
            <a:endParaRPr lang="en-US" sz="1700" dirty="0"/>
          </a:p>
        </p:txBody>
      </p:sp>
      <p:pic>
        <p:nvPicPr>
          <p:cNvPr id="7" name="Image 1" descr="images/stitch_biref_stitched.jpg">    </p:cNvPr>
          <p:cNvPicPr>
            <a:picLocks noChangeAspect="1"/>
          </p:cNvPicPr>
          <p:nvPr/>
        </p:nvPicPr>
        <p:blipFill>
          <a:blip r:embed="rId2"/>
          <a:stretch>
            <a:fillRect/>
          </a:stretch>
        </p:blipFill>
        <p:spPr>
          <a:xfrm>
            <a:off x="566928" y="4052316"/>
            <a:ext cx="9273845" cy="1894332"/>
          </a:xfrm>
          <a:prstGeom prst="rect">
            <a:avLst/>
          </a:prstGeom>
        </p:spPr>
      </p:pic>
      <p:sp>
        <p:nvSpPr>
          <p:cNvPr id="8" name="Text 4"/>
          <p:cNvSpPr/>
          <p:nvPr/>
        </p:nvSpPr>
        <p:spPr>
          <a:xfrm>
            <a:off x="566928" y="5998464"/>
            <a:ext cx="10140696" cy="512064"/>
          </a:xfrm>
          <a:prstGeom prst="rect">
            <a:avLst/>
          </a:prstGeom>
          <a:noFill/>
          <a:ln/>
        </p:spPr>
        <p:txBody>
          <a:bodyPr wrap="square" rtlCol="0" anchor="ctr"/>
          <a:lstStyle/>
          <a:p>
            <a:pPr indent="0" marL="0">
              <a:buNone/>
            </a:pPr>
            <a:r>
              <a:rPr lang="en-US" sz="1500" i="1" dirty="0">
                <a:solidFill>
                  <a:srgbClr val="5A6675"/>
                </a:solidFill>
                <a:latin typeface="Calibri" pitchFamily="34" charset="0"/>
                <a:ea typeface="Calibri" pitchFamily="34" charset="-122"/>
                <a:cs typeface="Calibri" pitchFamily="34" charset="-120"/>
              </a:rPr>
              <a:t>Measure the positions on the image with the most distinct, best separated structure, which is not always the brightest or the busiest one. Every other image of the same tiles reuses that measurement, so they stay aligned with each other.</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29</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05</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Did it actually work?</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Classifier validation you can put in a paper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30</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interval, not the estimate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"F1 = 0.87, 95% CI [0.82, 0.91]" instead of "87% accurate"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95% from forty cells and 95% from four thousand cells are not the same claim</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Bootstrap confidence intervals on the overall and macro-averaged metrics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For probability-producing classifiers: is the confidence itself trustworthy, or just the top class?</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 model that is 95% confident and 70% correct is a different problem, needing a different fix.</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31</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DEMO ONLY</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Confusion Matrix</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Click the largest off-diagonal cell — those cells highlight on the slide</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classifier is 87% accurate" becomes "it confuses these two things, for this reason"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Across a project: per-image breakdown, with divergent images flagged automatically</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Flagged images usually mean a staining or scanning problem, not a classifier problem</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Originated by Kristin Gallick — concept and initial scripts; built out at LOCI.  ·  Demo only: the repository is currently private.</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32</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06</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Deep learning</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Pixel classifiers, cell classifiers, and knowing when not to trust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33</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Deep learning pixel classification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For when the built-in classifier is not enough: subtle textures, classes that differ by architecture rather than colour.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Same interaction as the built-in classifier: draw a few sparse regions per class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extension samples training tiles from what you marked — you are steering a sampler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and multi-channel fluorescence, with per-channel normalisation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Train across several project images at once for representative sampling</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34</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is underneath</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Your choice of encoder, from lightweight convolutional networks to vision transformers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Start from weights pretrained on histology rather than on everyday photographs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Or from pathology foundation models, downloaded on demand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Normalisation computed over the whole image, which removes tile-boundary artefacts</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Training needs a dedicated GPU. That is why training is a demonstration and inference is the exercise.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35</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two most important features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Full per-pixel probability maps, not just the winning class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The honest uncertainty is at the boundaries between classes — go and look at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 out-of-distribution warning before inference, when an image no longer resembles the training data</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Catches stain, exposure and sensor changes that would quietly degrade predictions</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These are the features that tell you when not to trust the output, and the easiest to ignore.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36</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When the model stops working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Domain shift is the practical problem, far more often than model architecture.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new scanner, a new stain, a new batch — and last month’s model degrades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Recalibrating to the current image takes seconds and no retraining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Or adapt the model to your own unlabelled data before committing to a full retrain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Try recalibration before you consider retraining. It usually recovers most of the loss.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37</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we are not covering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Two halves of the same workflow, in the right order — hers first, then this.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already has object classification — train on measurements, or threshold a single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We are not re-teaching it. Sara’s Monday session was the hi-plex classification half</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 follows are alternative mechanisms for getting a class onto a cell: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Unsupervised clustering · rule-based marker gating · propagation from a small hand-labelled subset · applying an existing classifier to a chosen subset instead of everything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Then: what those classified cells are actually telling you — which sit next to which, and whether that differs between images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If you missed hers, the two extensions she demonstrated are documented on our site too.</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38</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QP-CAT — multiplexed cell analysis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usual workflow loses the link back to the tissue. This keeps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full scientific Python stack embedded in QuPath. No environments to manage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Clustering, marker gating with suggested thresholds, spatial statistics, batch correction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Label a small subset by hand and have the rest of the project labelled for you — no object classifier involved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Brush a region of the embedding and those cells highlight on the slide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Separate tissue stays separate — no spatial graph edge ever crosses two TMA cores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Author’s own warning: many features are lightly tested. Treat results as a starting point.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39</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You can check the answer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Learn what a correct result looks like, so you can recognise a wrong one later.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Real multiplexed tissue has no ground truth — you never know which cell is really which type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the exercise uses a synthetic tumour microenvironment where every cell is labelled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Six cell types, tumour nests, an immune-infiltrated boundary, B-cell follicles, a proliferation gradient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Inflamed versus desert: one image is 52% lymphoid, another 9% with no B cells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20 MB, public domain, and it downloads straight from GitHub</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Cluster it, then click a boundary cell and find out whether the cluster was telling the truth.</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40</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And getting back to the tissue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A mention rather than a demo — it is the navigation half of the clustering you just saw.</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Clustering answers "which cells group together". It does not answer "which cell is that"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 3D Navigator: a rotatable point cloud, one point per cell, coloured by class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Click a point in cluster space and land on that cell in the viewer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Boundary cells are where classification errors live — this makes them one click away</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Works with any clustering tool’s output, not just QP-CAT’s. It only reads; it writes nothing.</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41</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07</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Collagen fibre and texture</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Architecture, not just presence</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42</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fibre architecture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Conklin et al. 2011, American Journal of Pathology 178:1221.</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Collagen is not simply present or absent — the arrangement carries the biology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Wavy versus straightened; aligned versus isotropic; and how that changes at a boundary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 breast pathology, straightened fibres running perpendicular to the tumour boundary act as tracks for invading cells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Hazard ratio 3.0–3.9 for disease-free survival, independent of grade, size and receptor status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same wavy-to-straight axis recurs in arterial adventitia, sclera, alveolar wall, and cardiac fibrosis.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43</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complementary tools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Fiber Analysis — measure a zone</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 band of chosen width inside, outside, or across an annotation boundary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Straightness and persistence: wavy versus straightened fibres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Morphometrics: coverage, length, branching, fractal dimension, gaps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Texture: the information fibre-tracing misses entirely</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TME-Quant — trace the fibres</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Individual fibres extracted and committed back as objects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Set the threshold by eye, with the mask shown before you commit</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Trace a few real fibres yourself, and it tunes its own parameters to match</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Fibres classified by orientation relative to a tumour boundary</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44</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A dense mat and a sparse clump</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 fields can share the same mean fibre alignment and be completely different tissue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Texture measures the spatial heterogeneity that alignment averages away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Which is why both tools are worth running, on the same region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Demo only today: one needs a long environment build, the other a dedicated analysis server.</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45</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Please cite the methods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Both tools are thin wrappers over other people’s science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CT-FIRE — Bredfeldt et al. 2014, Journal of Biomedical Optics 19(1):016007</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CurveAlign — LOCI, University of Wisconsin–Madison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TACS — Provenzano et al. 2006, BMC Medicine 4:38; Conklin et al. 2011</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TWOMBLI — Wershof et al. 2021, Life Science Alliance 4(3)</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46</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08</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Microscope control</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The most complex thing here, and the reason for the rest</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47</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QPSC — QuPath Scope Control</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box around a region in QuPath. The stage moves, the tiles are captured and stitched, and the image appears back in your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Target specific annotations on a slide you already scanned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camera view, stage map, saved positions, and a virtual joystick</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multi-channel fluorescence, and combined passes on a single-camera scope</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48</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this changes the rest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region you analysed is the region you acquire at high resolution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metadata arrives in the project, not in a folder that gets separated from the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Stitching is a step in this pipeline — and it works perfectly well on its own, which is why it is in your hands-on hour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Once acquisition is driven from QuPath, "acquisition software" and "analysis software" stop being separate places your data lives.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49</a:t>
            </a:r>
            <a:endParaRPr lang="en-US" sz="1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How it is put together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easy part is the QuPath extension. Budget your time for the microscope side.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talks to a small command server, which drives Micro-Manager, which drives the hardware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instrument is described by its own configuration — the QuPath side does not know what kind of microscope it is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Micro-Manager remains the device layer. We did not reinvent it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50</a:t>
            </a:r>
            <a:endParaRPr lang="en-US" sz="1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SHOWN  ·  NOT YOURS TO RUN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Acquisition,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Draw a bounding box on a slide overview</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the stage move and the tiles come 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Stitched pyramidal image lands back in the project, with its metadata</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Then open it and annotate it — the loop closes</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stitching half — Tiles to Pyramid — you can install and use today, no microscope needed</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You watch this one: it needs a microscope, so nobody in the room runs it. About five minutes, with a recorded fallback if the network or the hardware disagrees.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51</a:t>
            </a:r>
            <a:endParaRPr lang="en-US" sz="1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Acknowledgements</a:t>
            </a:r>
            <a:endParaRPr lang="en-US" sz="3200" dirty="0"/>
          </a:p>
        </p:txBody>
      </p:sp>
      <p:sp>
        <p:nvSpPr>
          <p:cNvPr id="3" name="Shape 1"/>
          <p:cNvSpPr/>
          <p:nvPr/>
        </p:nvSpPr>
        <p:spPr>
          <a:xfrm>
            <a:off x="566928" y="1152144"/>
            <a:ext cx="1920240" cy="50292"/>
          </a:xfrm>
          <a:prstGeom prst="rect">
            <a:avLst/>
          </a:prstGeom>
          <a:solidFill>
            <a:srgbClr val="3674C1"/>
          </a:solidFill>
          <a:ln/>
        </p:spPr>
      </p:sp>
      <p:sp>
        <p:nvSpPr>
          <p:cNvPr id="4" name="Shape 2"/>
          <p:cNvSpPr/>
          <p:nvPr/>
        </p:nvSpPr>
        <p:spPr>
          <a:xfrm>
            <a:off x="566928" y="1572768"/>
            <a:ext cx="11055096" cy="2240280"/>
          </a:xfrm>
          <a:prstGeom prst="rect">
            <a:avLst/>
          </a:prstGeom>
          <a:solidFill>
            <a:srgbClr val="E8F0FA"/>
          </a:solidFill>
          <a:ln/>
        </p:spPr>
      </p:sp>
      <p:sp>
        <p:nvSpPr>
          <p:cNvPr id="5" name="Shape 3"/>
          <p:cNvSpPr/>
          <p:nvPr/>
        </p:nvSpPr>
        <p:spPr>
          <a:xfrm>
            <a:off x="566928" y="1572768"/>
            <a:ext cx="146304" cy="2240280"/>
          </a:xfrm>
          <a:prstGeom prst="rect">
            <a:avLst/>
          </a:prstGeom>
          <a:solidFill>
            <a:srgbClr val="3674C1"/>
          </a:solidFill>
          <a:ln/>
        </p:spPr>
      </p:sp>
      <p:sp>
        <p:nvSpPr>
          <p:cNvPr id="6" name="Text 4"/>
          <p:cNvSpPr/>
          <p:nvPr/>
        </p:nvSpPr>
        <p:spPr>
          <a:xfrm>
            <a:off x="978408" y="1737360"/>
            <a:ext cx="10232136" cy="365760"/>
          </a:xfrm>
          <a:prstGeom prst="rect">
            <a:avLst/>
          </a:prstGeom>
          <a:noFill/>
          <a:ln/>
        </p:spPr>
        <p:txBody>
          <a:bodyPr wrap="square" rtlCol="0" anchor="ctr"/>
          <a:lstStyle/>
          <a:p>
            <a:pPr indent="0" marL="0">
              <a:buNone/>
            </a:pPr>
            <a:r>
              <a:rPr lang="en-US" sz="1600" b="1" spc="150" kern="0" dirty="0">
                <a:solidFill>
                  <a:srgbClr val="3674C1"/>
                </a:solidFill>
                <a:latin typeface="Calibri" pitchFamily="34" charset="0"/>
                <a:ea typeface="Calibri" pitchFamily="34" charset="-122"/>
                <a:cs typeface="Calibri" pitchFamily="34" charset="-120"/>
              </a:rPr>
              <a:t>Sample data</a:t>
            </a:r>
            <a:endParaRPr lang="en-US" sz="1600" dirty="0"/>
          </a:p>
        </p:txBody>
      </p:sp>
      <p:sp>
        <p:nvSpPr>
          <p:cNvPr id="7" name="Text 5"/>
          <p:cNvSpPr/>
          <p:nvPr/>
        </p:nvSpPr>
        <p:spPr>
          <a:xfrm>
            <a:off x="978408" y="2103120"/>
            <a:ext cx="10232136" cy="566928"/>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Sara McArdle  ·  Zbigniew Mikulski</a:t>
            </a:r>
            <a:endParaRPr lang="en-US" sz="3200" dirty="0"/>
          </a:p>
        </p:txBody>
      </p:sp>
      <p:sp>
        <p:nvSpPr>
          <p:cNvPr id="8" name="Text 6"/>
          <p:cNvSpPr/>
          <p:nvPr/>
        </p:nvSpPr>
        <p:spPr>
          <a:xfrm>
            <a:off x="978408" y="2670048"/>
            <a:ext cx="10232136" cy="384048"/>
          </a:xfrm>
          <a:prstGeom prst="rect">
            <a:avLst/>
          </a:prstGeom>
          <a:noFill/>
          <a:ln/>
        </p:spPr>
        <p:txBody>
          <a:bodyPr wrap="square" rtlCol="0" anchor="ctr"/>
          <a:lstStyle/>
          <a:p>
            <a:pPr indent="0" marL="0">
              <a:buNone/>
            </a:pPr>
            <a:r>
              <a:rPr lang="en-US" sz="2100" dirty="0">
                <a:solidFill>
                  <a:srgbClr val="1F2933"/>
                </a:solidFill>
                <a:latin typeface="Calibri" pitchFamily="34" charset="0"/>
                <a:ea typeface="Calibri" pitchFamily="34" charset="-122"/>
                <a:cs typeface="Calibri" pitchFamily="34" charset="-120"/>
              </a:rPr>
              <a:t>La Jolla Institute for Immunology</a:t>
            </a:r>
            <a:endParaRPr lang="en-US" sz="2100" dirty="0"/>
          </a:p>
        </p:txBody>
      </p:sp>
      <p:sp>
        <p:nvSpPr>
          <p:cNvPr id="9" name="Text 7"/>
          <p:cNvSpPr/>
          <p:nvPr/>
        </p:nvSpPr>
        <p:spPr>
          <a:xfrm>
            <a:off x="978408" y="3054096"/>
            <a:ext cx="10232136" cy="731520"/>
          </a:xfrm>
          <a:prstGeom prst="rect">
            <a:avLst/>
          </a:prstGeom>
          <a:noFill/>
          <a:ln/>
        </p:spPr>
        <p:txBody>
          <a:bodyPr wrap="square" rtlCol="0" anchor="ctr"/>
          <a:lstStyle/>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They provided the slide-label images behind the OCR and metadata exercises.</a:t>
            </a:r>
            <a:endParaRPr lang="en-US" sz="1700" dirty="0"/>
          </a:p>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Other data today: public images, a CC0 synthetic set, and tiles acquired at LOCI.</a:t>
            </a:r>
            <a:endParaRPr lang="en-US" sz="1700" dirty="0"/>
          </a:p>
        </p:txBody>
      </p:sp>
      <p:sp>
        <p:nvSpPr>
          <p:cNvPr id="10" name="Text 8"/>
          <p:cNvSpPr/>
          <p:nvPr/>
        </p:nvSpPr>
        <p:spPr>
          <a:xfrm>
            <a:off x="566928" y="3977640"/>
            <a:ext cx="11055096" cy="2103120"/>
          </a:xfrm>
          <a:prstGeom prst="rect">
            <a:avLst/>
          </a:prstGeom>
          <a:noFill/>
          <a:ln/>
        </p:spPr>
        <p:txBody>
          <a:bodyPr wrap="square" rtlCol="0" anchor="t"/>
          <a:lstStyle/>
          <a:p>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Sara McArdle also shaped the software directly — two of these extensions began as her Groovy scripts, and her FS2K course was the model for how the workshop pages are written.
</a:t>
            </a:r>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Kristin Gallick, whose concept and scripts the Confusion Matrix grew from.  ·  Pete Bankhead and the QuPath team.  ·  CT-FIRE, CurveAlign, TACS and TWOMBLI for the fibre work.  ·  CytoMAP and QuBaLab for bringing clustering into QuPath.  ·  QUAREP-LiMi for the reporting standards.  ·  The image.sc community, where several of these features were first requested.
</a:t>
            </a:r>
            <a:pPr indent="0" marL="0">
              <a:buNone/>
            </a:pPr>
            <a:r>
              <a:rPr lang="en-US" sz="1700" b="1" dirty="0">
                <a:solidFill>
                  <a:srgbClr val="1F4C86"/>
                </a:solidFill>
                <a:latin typeface="Calibri" pitchFamily="34" charset="0"/>
                <a:ea typeface="Calibri" pitchFamily="34" charset="-122"/>
                <a:cs typeface="Calibri" pitchFamily="34" charset="-120"/>
              </a:rPr>
              <a:t>Full credits: michaelsnelson.github.io/BINA-I2K-2026-QuPath-Extensions/docs/acknowledgements.html</a:t>
            </a:r>
            <a:endParaRPr lang="en-US" sz="1700" dirty="0"/>
          </a:p>
        </p:txBody>
      </p:sp>
      <p:sp>
        <p:nvSpPr>
          <p:cNvPr id="11" name="Text 9"/>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52</a:t>
            </a:r>
            <a:endParaRPr 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777240"/>
            <a:ext cx="10268712" cy="82296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Everything is here</a:t>
            </a:r>
            <a:endParaRPr lang="en-US" sz="4000" dirty="0"/>
          </a:p>
        </p:txBody>
      </p:sp>
      <p:sp>
        <p:nvSpPr>
          <p:cNvPr id="4" name="Shape 2"/>
          <p:cNvSpPr/>
          <p:nvPr/>
        </p:nvSpPr>
        <p:spPr>
          <a:xfrm>
            <a:off x="960120" y="1691640"/>
            <a:ext cx="8686800" cy="713232"/>
          </a:xfrm>
          <a:prstGeom prst="rect">
            <a:avLst/>
          </a:prstGeom>
          <a:solidFill>
            <a:srgbClr val="E8F0FA"/>
          </a:solidFill>
          <a:ln/>
        </p:spPr>
      </p:sp>
      <p:sp>
        <p:nvSpPr>
          <p:cNvPr id="5" name="Text 3"/>
          <p:cNvSpPr/>
          <p:nvPr/>
        </p:nvSpPr>
        <p:spPr>
          <a:xfrm>
            <a:off x="1188720" y="1691640"/>
            <a:ext cx="8412480" cy="713232"/>
          </a:xfrm>
          <a:prstGeom prst="rect">
            <a:avLst/>
          </a:prstGeom>
          <a:noFill/>
          <a:ln/>
        </p:spPr>
        <p:txBody>
          <a:bodyPr wrap="square" rtlCol="0" anchor="ctr"/>
          <a:lstStyle/>
          <a:p>
            <a:pPr indent="0" marL="0">
              <a:buNone/>
            </a:pPr>
            <a:r>
              <a:rPr lang="en-US" sz="2200" b="1" dirty="0">
                <a:solidFill>
                  <a:srgbClr val="1F4C86"/>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6" name="Text 4"/>
          <p:cNvSpPr/>
          <p:nvPr/>
        </p:nvSpPr>
        <p:spPr>
          <a:xfrm>
            <a:off x="960120" y="2697480"/>
            <a:ext cx="9811512" cy="2560320"/>
          </a:xfrm>
          <a:prstGeom prst="rect">
            <a:avLst/>
          </a:prstGeom>
          <a:noFill/>
          <a:ln/>
        </p:spPr>
        <p:txBody>
          <a:bodyPr wrap="square" rtlCol="0" anchor="t"/>
          <a:lstStyle/>
          <a:p>
            <a:pPr indent="0" marL="0">
              <a:spcAft>
                <a:spcPts val="1000"/>
              </a:spcAft>
              <a:buNone/>
            </a:pPr>
            <a:r>
              <a:rPr lang="en-US" sz="1900" dirty="0">
                <a:solidFill>
                  <a:srgbClr val="1F2933"/>
                </a:solidFill>
                <a:latin typeface="Calibri" pitchFamily="34" charset="0"/>
                <a:ea typeface="Calibri" pitchFamily="34" charset="-122"/>
                <a:cs typeface="Calibri" pitchFamily="34" charset="-120"/>
              </a:rPr>
              <a:t>A written walkthrough for every tool, videos to follow  ·  setup instructions  ·  sample data  ·  these slides
</a:t>
            </a:r>
            <a:pPr indent="0" marL="0">
              <a:spcAft>
                <a:spcPts val="600"/>
              </a:spcAft>
              <a:buNone/>
            </a:pPr>
            <a:r>
              <a:rPr lang="en-US" sz="1900" dirty="0">
                <a:solidFill>
                  <a:srgbClr val="1F2933"/>
                </a:solidFill>
                <a:latin typeface="Calibri" pitchFamily="34" charset="0"/>
                <a:ea typeface="Calibri" pitchFamily="34" charset="-122"/>
                <a:cs typeface="Calibri" pitchFamily="34" charset="-120"/>
              </a:rPr>
              <a:t>Add one catalog in QuPath, install only what interests you, and restart:
</a:t>
            </a:r>
            <a:pPr indent="0" marL="0">
              <a:spcAft>
                <a:spcPts val="400"/>
              </a:spcAft>
              <a:buNone/>
            </a:pPr>
            <a:r>
              <a:rPr lang="en-US" sz="1800" b="1" dirty="0">
                <a:solidFill>
                  <a:srgbClr val="1F4C86"/>
                </a:solidFill>
                <a:latin typeface="Calibri" pitchFamily="34" charset="0"/>
                <a:ea typeface="Calibri" pitchFamily="34" charset="-122"/>
                <a:cs typeface="Calibri" pitchFamily="34" charset="-120"/>
              </a:rPr>
              <a:t>github.com/uw-loci/qupath-catalog-mikenelson
</a:t>
            </a:r>
            <a:pPr indent="0" marL="0">
              <a:spcAft>
                <a:spcPts val="1400"/>
              </a:spcAft>
              <a:buNone/>
            </a:pPr>
            <a:r>
              <a:rPr lang="en-US" sz="1700" i="1" dirty="0">
                <a:solidFill>
                  <a:srgbClr val="5A6675"/>
                </a:solidFill>
                <a:latin typeface="Calibri" pitchFamily="34" charset="0"/>
                <a:ea typeface="Calibri" pitchFamily="34" charset="-122"/>
                <a:cs typeface="Calibri" pitchFamily="34" charset="-120"/>
              </a:rPr>
              <a:t>Adding it installs nothing — you pick from the list. Two entries download 1.5–4 GB.
</a:t>
            </a:r>
            <a:pPr indent="0" marL="0">
              <a:buNone/>
            </a:pPr>
            <a:r>
              <a:rPr lang="en-US" sz="1900" b="1" dirty="0">
                <a:solidFill>
                  <a:srgbClr val="1F4C86"/>
                </a:solidFill>
                <a:latin typeface="Calibri" pitchFamily="34" charset="0"/>
                <a:ea typeface="Calibri" pitchFamily="34" charset="-122"/>
                <a:cs typeface="Calibri" pitchFamily="34" charset="-120"/>
              </a:rPr>
              <a:t>Whatever we did not reach today, the walkthrough and the video are waiting for you.</a:t>
            </a:r>
            <a:endParaRPr lang="en-US" sz="1900" dirty="0"/>
          </a:p>
        </p:txBody>
      </p:sp>
      <p:sp>
        <p:nvSpPr>
          <p:cNvPr id="7" name="Text 5"/>
          <p:cNvSpPr/>
          <p:nvPr/>
        </p:nvSpPr>
        <p:spPr>
          <a:xfrm>
            <a:off x="960120" y="5230368"/>
            <a:ext cx="9811512" cy="365760"/>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Slide-label images courtesy of Sara McArdle and Zbigniew Mikulski, La Jolla Institute for Immunology. Other data: public images, a CC0 synthetic set, and tiles acquired at LOCI.</a:t>
            </a:r>
            <a:endParaRPr lang="en-US" sz="1600" dirty="0"/>
          </a:p>
        </p:txBody>
      </p:sp>
      <p:sp>
        <p:nvSpPr>
          <p:cNvPr id="8" name="Text 6"/>
          <p:cNvSpPr/>
          <p:nvPr/>
        </p:nvSpPr>
        <p:spPr>
          <a:xfrm>
            <a:off x="960120" y="5532120"/>
            <a:ext cx="9811512" cy="457200"/>
          </a:xfrm>
          <a:prstGeom prst="rect">
            <a:avLst/>
          </a:prstGeom>
          <a:noFill/>
          <a:ln/>
        </p:spPr>
        <p:txBody>
          <a:bodyPr wrap="square" rtlCol="0" anchor="ctr"/>
          <a:lstStyle/>
          <a:p>
            <a:pPr indent="0" marL="0">
              <a:buNone/>
            </a:pPr>
            <a:r>
              <a:rPr lang="en-US" sz="1800" i="1" dirty="0">
                <a:solidFill>
                  <a:srgbClr val="5A6675"/>
                </a:solidFill>
                <a:latin typeface="Calibri" pitchFamily="34" charset="0"/>
                <a:ea typeface="Calibri" pitchFamily="34" charset="-122"/>
                <a:cs typeface="Calibri" pitchFamily="34" charset="-120"/>
              </a:rPr>
              <a:t>Questions welcome now, during the hands-on hour, or by email afterwards.</a:t>
            </a:r>
            <a:endParaRPr lang="en-US" sz="18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53</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LOCI, University of Wisconsin-Madison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 Extensions for QuPath</dc:title>
  <dc:subject>PptxGenJS Presentation</dc:subject>
  <dc:creator>Michael S. Nelson</dc:creator>
  <cp:lastModifiedBy>Michael S. Nelson</cp:lastModifiedBy>
  <cp:revision>1</cp:revision>
  <dcterms:created xsi:type="dcterms:W3CDTF">2026-09-20T02:49:22Z</dcterms:created>
  <dcterms:modified xsi:type="dcterms:W3CDTF">2026-09-20T02:49:22Z</dcterms:modified>
</cp:coreProperties>
</file>