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051560"/>
            <a:ext cx="10268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I2K  ·  BioImaging North America Congress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960120" y="1481328"/>
            <a:ext cx="1026871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Extensions for QuPath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60120" y="2578608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simple (dialog manager, wizard wand, image export)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complex (DL cell and pixel classifiers, microscope control)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60120" y="3657600"/>
            <a:ext cx="2377440" cy="54864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Michael S. Nelson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427939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for Optical and Computational Instrumentation (LOCI)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Wisconsin–Madison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60120" y="5257800"/>
            <a:ext cx="6949440" cy="566928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257800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25512" y="52578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29 September 2026  ·  10:30–12:30</a:t>
            </a:r>
            <a:endParaRPr lang="en-US" sz="15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Morgridge Hall, WARF Seminar Hub — Rm. 7560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already uses QuPath and has run into its edges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Biologists, pathologists, core facility staff, graduate students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 required — nothing today asks you to write a script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tools generate scripts for you; you never have to write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if you have opened a project, drawn an annotation, run cell detection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is free, open source, and installable from inside QuPath.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claim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is usually treated as post-acquisition analysis software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extension mechanism reaches much further than that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→ analysis → validation → publication, in one environment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project. One place your metadata lives. One place your figures come from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extensions built at LOCI — thirteen you can install this afternoon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hour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first, complex last — exactly as the session title promises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tools → export → project-scale work → deep learning → microscope control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are demonstrated but not practised. I will say why each time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hour is optional, hands-on, and self-directed — four tracks, or bring your own data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guides, exercises and sample data all live at the address above.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tools, two hours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up front about this now, rather than rushing at 11:20.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time for a handful of tools done properly, not sixteen done badly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every tool has a full written walkthrough, and a video of me doing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being in the room when your tool comes 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slots are fixed; two more were covered in Sara McArdle’s session this morning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up to you — vote on the next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 and videos for all sixteen: michaelsnelson.github.io/BINA-I2K-2026-QuPath-Extensions/docs/walkthroughs.html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 for what you want to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69164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148840"/>
            <a:ext cx="11055096" cy="137160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105064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%%PADLET_URL%%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10550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for as many as you like. Add a comment if you have a specific question, or a dataset you are stuck on.
</a:t>
            </a:r>
            <a:pPr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fixed: QPSC, the Confusion Matrix and the fibre tools are shown regardless — and Channel Names Viewer and Classify Object Subset were covered in Sara McArdle’s session this morning.
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read it now and adjust the running order.
</a:t>
            </a:r>
            <a:pPr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does not make the cut, its walkthrough and video are on the site — and I am happy to sit down with you in the second hour.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 and catalogs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are, how you install them, and how this suite got built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an extension actually 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Java component that QuPath loads when it starts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add menu items, toolbar buttons, dialogs, viewers, whole pipelines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see today was registered by an extension during startup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install one by dropping it in, or — much better — from a catalog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things that bite everyone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restart QuPath. It copies the extension into place but will not load it until you do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roughly half of all "the menu item is not there" reports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live per QuPath version — installing 0.7 will not disturb your 0.6 setup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compiled against a specific QuPath API, which is why today needs 0.7 or later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requirement: QuPath 0.7.0 or later. Nothing here runs on 0.6.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remember one slide from this section, make it this one.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QuPath then handles installing, listing, and updating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&gt; Manage extensions &gt; Manage extension catalogs &gt; Add catalog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LOCI catalog  —  github.com/uw-loci/qupath-catalog-mikenelson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QPSC catalog  —  github.com/uw-loci/qupath-catalog-qpsc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what you want from the list. You do not have to install everything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your own catalog takes about twenty minutes and removes a support burden.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extensions, one person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this talk most likely to be useful outside QuPath.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not a normal output, and it is fair to ask how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fraction of the code was written by an LLM coding agent under close direction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of you will go home and try this, so here is the honest version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worked, and what did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the real API, and require it to compile — a failing build is a free, correct signal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documentation first and treat it as the specification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persistent map of the codebase so each session does not re-derive it badly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tedious checks — API compatibility across sixteen repositories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not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me an extension that does X" — compiles, and is wrong in ways you find in front of an audience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correctness — a bootstrap that runs, looks plausible, and resamples the wrong axis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behaviour — nothing catches a dialog opening off-screen except a human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— get it wrong and you cannot distribute your work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honest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assistance changed the cost of building an extension by about an order of magnitude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changed the correctness of one not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moved from "can I write this Java" to "do I know what this should do, and can I tell when it is lying to me"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bottleneck to have. Still a bottleneck, and still yours.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wins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extensions that pay for themselves on the first day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Dialog Position Manager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glamorous tool here, and the one that saves the most support time.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where every dialog was, and puts it back next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windows stranded on a monitor you have since unplugged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mixed-DPI and display scaling changes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core facility can share one layout across every workstation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exists because this class of bug is invisible to automated testing.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you already saw this morning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“Tips and tricks for maintaining sanity during hi-plex classification in QuPath”, earlier today.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Names Viewer — a floating, colour-coded legend of the selected channels. "Which one is the green one?", answered permanently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Object Subset — run a saved classifier on a chosen subset, by class, measurement or selection, with a live count before you commit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began as Sara McArdle’s Groovy scripts, and Sara demonstrated both in the session before this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a pointer rather than the same demo twice — both install in seconds, and both have a full walkthrough on the site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stops you installing them. This is a division of labour, not a barrier.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Wizard Wand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wand is untouched — this installs as a separate tool you can ignore.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the built-in wand, with holes filled and edges smoothed by default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still and the selection grows on its own, instead of dragging to cover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Colour-space modes for grayscale, subtle stain differences, or selecting by hue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Auto-tuning: draw one annotation the way you want it, and it derives its own settings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 is the headline: settings taken from your example beat settings you guessed.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Polyline Wand and Brush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QuPath’s brush and wand work on areas. This brings the same editing to 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section of a traced boundary outward without redrawing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Overshot the end of a vessel trace? Erase backwards from the endpoint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splits one polyline into two, both keeping class, name and colour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stroke is one undo step, even on a ten-thousand-vertex boundary.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  ·  10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wands,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Wand: wand a structure, then auto-tune from a hand-drawn example and do it again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selection grow on its own instead of dragging to cover it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 Wand: push a traced boundary outward, smooth a noisy stretch, erase back from an endpoint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— cut one polyline in two, both halves keeping class, name and colour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result against the built-in tools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wands in one sitting — ten minutes. Static screenshots follow if the live version misbehaves.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Getting things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figures, review images, and machine-learning datasets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 — Image Export Toolkit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Exporting one image is easy. Exporting forty the same way, with a scale bar, at a stated resolution, is not.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export categories, one three-step wizard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figures  ·  label masks  ·  raw pixel data  ·  image and label tile pairs  ·  per-object crops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wizard builds multi-panel montage figures from several project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across a project, without writing an export script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export writes a 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clicked in the wizard comes back out as a self-contained script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it, version it, re-run it next year, send it to a collaborator without the extension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wizard is a script generator, not a black box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difference between a convenience and a reproducibility tool.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guidance, in the dialog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"what magnification was that, and is there a scale bar?" while you can still fix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QUAREP-LiMi is the community effort on minimum reporting standards for light microscopy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appears beside the settings, driven by your project’s actual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advice is shown before you export, not after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is four hundred slides rather than four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OCR for Labels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ID, stain and block number are already in your slide file, on the label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 and barcode scanning, straight into project metadata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template of field positions, then run it across the whole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matching turns "usually right" into "right, or obviously wrong"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applying. Recognition on a photographed label is good, not correct.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Metadata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just ran label recognition across 467 slides, this is where you find out whether it worked.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a row, every metadata key a column — sortable and filterable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stay in memory until you save, and everything is undoable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column from a spreadsheet; pull values out of structured filenames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or remove a key across every image in one operation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by a recognised column is the fastest quality check available — bad reads are outliers.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 of how your annotation classes are distributed across the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separately, the training balance those annotations actually imply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update while you annotate, so the feedback arrives while you can still act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badly over- or under-represented are flagged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count, annotation area, and implied training detections are three different numbers. Only the third predicts classifier behaviour.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it actually work?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validation you can put in a paper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interval, not the estimate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"F1 = 0.87, 95% CI [0.82, 0.91]" instead of "87% accurate"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from forty cells and 95% from four thousand cells are not the same claim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confidence intervals on every per-class metric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probability-producing classifiers: is the confidence itself trustworthy, or just the top class?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is 95% confident and 70% correct is a different problem, needing a different fix.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DEMO ONLY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largest off-diagonal cell — those cells highlight on the slide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classifier is 87% accurate" becomes "it confuses these two things, for this reason"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 project: per-image breakdown, with divergent images flagged automatically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images usually mean a staining or scanning problem, not a classifier problem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Originated by Kristin Gallick — concept and initial scripts; built out at LOCI.  ·  Demo only: the repository is currently private.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classifiers, cell classifiers, and knowing when not to trust them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 pixel classification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the built-in classifier is not enough: subtle textures, classes that differ by architecture rather than colour.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interaction as the built-in classifier: draw a few sparse regions per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extension samples training tiles from what you marked — you are steering a sampler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 and multi-channel fluorescence, with per-channel normalisation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across several project images at once for representative sampling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underneath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encoder, from lightweight convolutional networks to vision transformers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weights pretrained on histology rather than on everyday photographs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from pathology foundation models, downloaded on demand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computed over the whole image, which removes tile-boundary artefacts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 dedicated GPU. That is why training is a demonstration and inference is the exercise.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two most important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per-pixel probability maps, not just the winning class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uncertainty is at the boundaries between classes — go and look at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out-of-distribution warning before inference, when an image no longer resembles the training data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stain, exposure and sensor changes that would quietly degrade predictions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features that tell you when not to trust the output, and the easiest to ignore.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the model stops working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shift is the practical problem, far more often than model architecture.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scanner, a new stain, a new batch — and last month’s model degrades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Recalibrating to the current image takes seconds and no retraining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adapt the model to your own unlabelled data before committing to a full retrain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recalibration before you consider retraining. It usually recovers most of the loss.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Sara’s session leads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Sara’s session and this one are two halves of the same workflow, in the right order.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Hi-plex classification, kept sane — that was this morning’s other QuPath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question is what the classified cells are actually telling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populations group together, which sit next to which, and whether that differs between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clustering, phenotyping and spatial statistics — and it is the rest of this section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missed hers, the two extensions she demonstrated are documented on our site too.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QP-CAT — multiplexed cell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workflow loses the link back to the tissue. This keeps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scientific Python stack embedded in QuPath. No environments to manage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Clustering, marker gating with suggested thresholds, spatial statistics, batch correction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 small subset by hand and have the rest of the project labelled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 a region of the embedding and those cells highlight on the slide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tissue stays separate — no spatial graph edge ever crosses two TMA cores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Author’s own warning: many features are lightly tested. Treat results as a starting point.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can check the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what a correct result looks like, so you can recognise a wrong one later.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multiplexed tissue has no ground truth — you never know which cell is really which type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exercise uses a synthetic tumour microenvironment where every cell is labelled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cell types, tumour nests, an immune-infiltrated boundary, B-cell follicles, a proliferation gradient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Inflamed versus desert: one image is 55% lymphoid, another 14% with no follicles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MB, public domain, and it downloads straight from GitHub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it, then click a boundary cell and find out whether the cluster was telling the truth.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getting back to the tissue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mention rather than a demo — it is the navigation half of the clustering you just saw.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answers "which cells group together". It does not answer "which cell is that"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3D Navigator: a rotatable point cloud, one point per cell, coloured by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point in cluster space and land on that cell in the viewer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cells are where classification errors live — this makes them one click away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clustering tool’s output, not just QP-CAT’s. It only reads; it writes nothing.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Collagen fibre and texture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not just presence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fibre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Conklin et al. 2011, American Journal of Pathology 178:1221.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is not simply present or absent — the arrangement carries the biology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Wavy versus straightened; aligned versus isotropic; and how that changes at a boundary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breast pathology, straightened fibres running perpendicular to the tumour boundary act as tracks for invading cells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3.0–3.9 for disease-free survival, independent of grade, size and receptor status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wavy-to-straight axis recurs in arterial adventitia, sclera, alveolar wall, and cardiac fibrosis.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complementary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Analysis — measure a zone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of chosen width inside, outside, or across an annotation boundary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 and persistence: wavy versus straightened fibres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Morphometrics: coverage, length, branching, fractal dimension, gaps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Texture: the information fibre-tracing misses entirely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TME-Quant — trace the fibres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fibres extracted and committed back as objects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threshold by eye, with the mask shown before you commit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few real fibres yourself, and it tunes its own parameters to match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Fibres classified by orientation relative to a tumour boundary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dense mat and a sparse clump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can share the same mean fibre alignment and be completely different tissue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measures the spatial heterogeneity that alignment averages away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both tools are worth running, on the same region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 today: one needs a long environment build, the other a dedicated analysis server.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Please cite the methods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are thin wrappers over other people’s science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CT-FIRE — Bredfeldt et al. 2014, Journal of Biomedical Optics 19(1):016007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CurveAlign — LOCI, University of Wisconsin–Madison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TACS — Conklin et al. 2011; Provenzano et al. 2008, BMC Medicine 6:11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TWOMBLI — Wershof et al. 2021, Life Science Alliance 4(3)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 control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complex thing here, and the reason for the rest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QPSC — QuPath Scope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box around a region in QuPath. The stage moves, the tiles are captured and stitched, and the image appears back in your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 annotations on a slide you already scanned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view, stage map, saved positions, and a virtual joystick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Brightfield, multi-channel fluorescence, and combined passes on a single-camera scope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changes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 you analysed is the region you acquire at high resolution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metadata arrives in the project, not in a folder that gets separated from the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is a step in this pipeline — and it works perfectly well on its own, which is why it is in your hands-on hour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acquisition is driven from QuPath, "acquisition software" and "analysis software" stop being separate places your data lives.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is put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part is the QuPath extension. Budget your time for the microscope side.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talks to a small command server, which drives Micro-Manager, which drives the hardware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instrument is described by its own configuration — the QuPath side does not know what kind of microscope it is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Micro-Manager remains the device layer. We did not reinvent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SHOWN  ·  NOT YOURS TO RUN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Acquisition,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bounding box on a slide overview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stage move and the tiles come 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 pyramidal image lands back in the project, with its metadata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it and annotate it — the loop closes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stitching half — Tiles to Pyramid — you can install and use today, no microscope needed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watch this one: it needs a microscope, so nobody in the room runs it. About five minutes, with a recorded fallback if the network or the hardware disagrees.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Acknowledgements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152144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72768"/>
            <a:ext cx="11055096" cy="224028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572768"/>
            <a:ext cx="146304" cy="224028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1737360"/>
            <a:ext cx="102321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103120"/>
            <a:ext cx="102321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Sara McArdle  ·  Zbigniew Mikulski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78408" y="2670048"/>
            <a:ext cx="10232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Jolla Institute for Immunology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8408" y="3054096"/>
            <a:ext cx="10232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provided the majority of the test and demonstration data behind almost every exercise you will see today.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tools could not have been built, tested, or taught without it.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3977640"/>
            <a:ext cx="1105509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 McArdle also shaped the software directly — two of these extensions began as her Groovy scripts, and her FS2K course was the model for how the workshop pages are written.
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Kristin Gallick, whose concept and scripts the Confusion Matrix grew from.  ·  Pete Bankhead and the QuPath team.  ·  CT-FIRE, CurveAlign, TACS and TWOMBLI for the fibre work.  ·  CytoMAP and QuBaLab for bringing clustering into QuPath.  ·  QUAREP-LiMi for the reporting standards.  ·  The image.sc community, where several of these features were first requested.
</a:t>
            </a:r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credits: michaelsnelson.github.io/BINA-I2K-2026-QuPath-Extensions/docs/acknowledgements.html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77724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is here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60120" y="1691640"/>
            <a:ext cx="8686800" cy="71323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69164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981151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walkthrough and a video for every tool  ·  setup instructions  ·  sample data  ·  these slides
</a:t>
            </a:r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two catalogs in QuPath, install only what interests you, and restart:
</a:t>
            </a:r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github.com/uw-loci/qupath-catalog-mikenelson
</a:t>
            </a:r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github.com/uw-loci/qupath-catalog-qpsc
</a:t>
            </a:r>
            <a:pPr indent="0" marL="0">
              <a:buNone/>
            </a:pPr>
            <a:r>
              <a:rPr lang="en-US" sz="19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we did not reach today, the walkthrough and the video are waiting for you.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5230368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 courtesy of Sara McArdle and Zbigniew Mikulski, La Jolla Institute for Immunology.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53212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now, during the hands-on hour, or by email afterwards.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LOCI, University of Wisconsin-Madison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Extensions for QuPath</dc:title>
  <dc:subject>PptxGenJS Presentation</dc:subject>
  <dc:creator>Michael S. Nelson</dc:creator>
  <cp:lastModifiedBy>Michael S. Nelson</cp:lastModifiedBy>
  <cp:revision>1</cp:revision>
  <dcterms:created xsi:type="dcterms:W3CDTF">2026-08-24T17:49:17Z</dcterms:created>
  <dcterms:modified xsi:type="dcterms:W3CDTF">2026-08-24T17:49:17Z</dcterms:modified>
</cp:coreProperties>
</file>