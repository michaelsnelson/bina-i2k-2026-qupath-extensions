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uw-loci/qupath-extension-dialog-manager" TargetMode="External"/><Relationship Id="rId2" Type="http://schemas.openxmlformats.org/officeDocument/2006/relationships/hyperlink" Target="https://github.com/uw-loci/qupath-extension-channel-names-viewer" TargetMode="External"/><Relationship Id="rId3" Type="http://schemas.openxmlformats.org/officeDocument/2006/relationships/hyperlink" Target="https://github.com/uw-loci/qupath-extension-classify-object-subset" TargetMode="External"/><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uw-loci/qupath-extension-wizard-wand" TargetMode="External"/><Relationship Id="rId2" Type="http://schemas.openxmlformats.org/officeDocument/2006/relationships/hyperlink" Target="https://github.com/uw-loci/qupath-extension-polyline-wand"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github.com/uw-loci/qupath-extension-image-export-toolkit"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uw-loci/qupath-extension-ocr4labels"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github.com/uw-loci/qupath-extension-project-metadata-browser"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github.com/uw-loci/qupath-extension-class-distribution"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image" Target="../media/image-18-4.jp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image" Target="../media/image-21-4.jp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github.com/uw-loci/qupath-extension-tiles-to-pyramid" TargetMode="Externa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github.com/uw-loci/qupath-extension-dl-pixel-classifier" TargetMode="Externa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github.com/uw-loci/qupath-extension-cell-analysis-tools" TargetMode="External"/><Relationship Id="rId2" Type="http://schemas.openxmlformats.org/officeDocument/2006/relationships/hyperlink" Target="https://github.com/uw-loci/qupath-extension-cluster-3d-navigator" TargetMode="External"/><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https://github.com/uw-loci/qupath-extension-fiber-analysis" TargetMode="External"/><Relationship Id="rId2" Type="http://schemas.openxmlformats.org/officeDocument/2006/relationships/hyperlink" Target="https://github.com/MichaelSNelson/qupath-extension-TME-Quant" TargetMode="Externa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github.com/uw-loci/qupath-extension-qpsc" TargetMode="Externa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1051560"/>
            <a:ext cx="10268712" cy="384048"/>
          </a:xfrm>
          <a:prstGeom prst="rect">
            <a:avLst/>
          </a:prstGeom>
          <a:noFill/>
          <a:ln/>
        </p:spPr>
        <p:txBody>
          <a:bodyPr wrap="square" rtlCol="0" anchor="ctr"/>
          <a:lstStyle/>
          <a:p>
            <a:pPr indent="0" marL="0">
              <a:buNone/>
            </a:pPr>
            <a:r>
              <a:rPr lang="en-US" sz="1700" b="1" spc="150" kern="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indent="0" marL="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sp>
      <p:sp>
        <p:nvSpPr>
          <p:cNvPr id="7" name="Text 5"/>
          <p:cNvSpPr/>
          <p:nvPr/>
        </p:nvSpPr>
        <p:spPr>
          <a:xfrm>
            <a:off x="960120" y="3886200"/>
            <a:ext cx="7315200" cy="384048"/>
          </a:xfrm>
          <a:prstGeom prst="rect">
            <a:avLst/>
          </a:prstGeom>
          <a:noFill/>
          <a:ln/>
        </p:spPr>
        <p:txBody>
          <a:bodyPr wrap="square" rtlCol="0" anchor="ctr"/>
          <a:lstStyle/>
          <a:p>
            <a:pPr indent="0" marL="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sp>
      <p:sp>
        <p:nvSpPr>
          <p:cNvPr id="10" name="Text 8"/>
          <p:cNvSpPr/>
          <p:nvPr/>
        </p:nvSpPr>
        <p:spPr>
          <a:xfrm>
            <a:off x="1143000" y="5257800"/>
            <a:ext cx="6675120" cy="566928"/>
          </a:xfrm>
          <a:prstGeom prst="rect">
            <a:avLst/>
          </a:prstGeom>
          <a:noFill/>
          <a:ln/>
        </p:spPr>
        <p:txBody>
          <a:bodyPr wrap="square" rtlCol="0" anchor="ctr"/>
          <a:lstStyle/>
          <a:p>
            <a:pPr indent="0" marL="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sp>
      <p:sp>
        <p:nvSpPr>
          <p:cNvPr id="4" name="Shape 2"/>
          <p:cNvSpPr/>
          <p:nvPr/>
        </p:nvSpPr>
        <p:spPr>
          <a:xfrm>
            <a:off x="566928" y="1517904"/>
            <a:ext cx="11055096" cy="1755648"/>
          </a:xfrm>
          <a:prstGeom prst="rect">
            <a:avLst/>
          </a:prstGeom>
          <a:solidFill>
            <a:srgbClr val="E8F0FA"/>
          </a:solidFill>
          <a:ln/>
        </p:spPr>
      </p:sp>
      <p:sp>
        <p:nvSpPr>
          <p:cNvPr id="5" name="Shape 3"/>
          <p:cNvSpPr/>
          <p:nvPr/>
        </p:nvSpPr>
        <p:spPr>
          <a:xfrm>
            <a:off x="566928" y="1517904"/>
            <a:ext cx="146304" cy="1755648"/>
          </a:xfrm>
          <a:prstGeom prst="rect">
            <a:avLst/>
          </a:prstGeom>
          <a:solidFill>
            <a:srgbClr val="3674C1"/>
          </a:solidFill>
          <a:ln/>
        </p:spPr>
      </p:sp>
      <p:sp>
        <p:nvSpPr>
          <p:cNvPr id="6" name="Text 4"/>
          <p:cNvSpPr/>
          <p:nvPr/>
        </p:nvSpPr>
        <p:spPr>
          <a:xfrm>
            <a:off x="978408" y="1645920"/>
            <a:ext cx="10232136" cy="310896"/>
          </a:xfrm>
          <a:prstGeom prst="rect">
            <a:avLst/>
          </a:prstGeom>
          <a:noFill/>
          <a:ln/>
        </p:spPr>
        <p:txBody>
          <a:bodyPr wrap="square" rtlCol="0" anchor="ctr"/>
          <a:lstStyle/>
          <a:p>
            <a:pPr indent="0" marL="0">
              <a:buNone/>
            </a:pPr>
            <a:r>
              <a:rPr lang="en-US" sz="1500" b="1" spc="150" kern="0" dirty="0">
                <a:solidFill>
                  <a:srgbClr val="3674C1"/>
                </a:solidFill>
                <a:latin typeface="Calibri" pitchFamily="34" charset="0"/>
                <a:ea typeface="Calibri" pitchFamily="34" charset="-122"/>
                <a:cs typeface="Calibri" pitchFamily="34" charset="-120"/>
              </a:rPr>
              <a:t>LOCI</a:t>
            </a:r>
            <a:endParaRPr lang="en-US" sz="1500" dirty="0"/>
          </a:p>
        </p:txBody>
      </p:sp>
      <p:sp>
        <p:nvSpPr>
          <p:cNvPr id="7" name="Text 5"/>
          <p:cNvSpPr/>
          <p:nvPr/>
        </p:nvSpPr>
        <p:spPr>
          <a:xfrm>
            <a:off x="978408" y="1938528"/>
            <a:ext cx="10232136" cy="530352"/>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lab, and Kevin Eliceiri</a:t>
            </a:r>
            <a:endParaRPr lang="en-US" sz="3000" dirty="0"/>
          </a:p>
        </p:txBody>
      </p:sp>
      <p:sp>
        <p:nvSpPr>
          <p:cNvPr id="8" name="Text 6"/>
          <p:cNvSpPr/>
          <p:nvPr/>
        </p:nvSpPr>
        <p:spPr>
          <a:xfrm>
            <a:off x="978408" y="2487168"/>
            <a:ext cx="10232136" cy="694944"/>
          </a:xfrm>
          <a:prstGeom prst="rect">
            <a:avLst/>
          </a:prstGeom>
          <a:noFill/>
          <a:ln/>
        </p:spPr>
        <p:txBody>
          <a:bodyPr wrap="square" rtlCol="0" anchor="ctr"/>
          <a:lstStyle/>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For a genuinely collaborative lab, and for backing work on QuPath that sits well outside my job description.</a:t>
            </a:r>
            <a:endParaRPr lang="en-US" sz="1700" dirty="0"/>
          </a:p>
        </p:txBody>
      </p:sp>
      <p:sp>
        <p:nvSpPr>
          <p:cNvPr id="9" name="Text 7"/>
          <p:cNvSpPr/>
          <p:nvPr/>
        </p:nvSpPr>
        <p:spPr>
          <a:xfrm>
            <a:off x="566928" y="3419856"/>
            <a:ext cx="11055096" cy="2743200"/>
          </a:xfrm>
          <a:prstGeom prst="rect">
            <a:avLst/>
          </a:prstGeom>
          <a:noFill/>
          <a:ln/>
        </p:spPr>
        <p:txBody>
          <a:bodyPr wrap="square" rtlCol="0" anchor="t"/>
          <a:lstStyle/>
          <a:p>
            <a:pPr indent="0" marL="0">
              <a:spcAft>
                <a:spcPts val="900"/>
              </a:spcAft>
              <a:buNone/>
            </a:pPr>
            <a:r>
              <a:rPr lang="en-US" sz="1600" dirty="0">
                <a:solidFill>
                  <a:srgbClr val="1F2933"/>
                </a:solidFill>
                <a:latin typeface="Calibri" pitchFamily="34" charset="0"/>
                <a:ea typeface="Calibri" pitchFamily="34" charset="-122"/>
                <a:cs typeface="Calibri" pitchFamily="34" charset="-120"/>
              </a:rPr>
              <a:t>Sample data: Sara McArdle and Zbigniew Mikulski, La Jolla Institute for Immunology, who provided the slide-label images behind the OCR and metadata exercises. Other data today: public images, a CC0 synthetic set, and tiles acquired at LOCI.
</a:t>
            </a:r>
            <a:pPr indent="0" marL="0">
              <a:spcAft>
                <a:spcPts val="900"/>
              </a:spcAft>
              <a:buNone/>
            </a:pPr>
            <a:r>
              <a:rPr lang="en-US" sz="1600" dirty="0">
                <a:solidFill>
                  <a:srgbClr val="1F2933"/>
                </a:solidFill>
                <a:latin typeface="Calibri" pitchFamily="34" charset="0"/>
                <a:ea typeface="Calibri" pitchFamily="34" charset="-122"/>
                <a:cs typeface="Calibri" pitchFamily="34" charset="-120"/>
              </a:rPr>
              <a:t>Sara McArdle also shaped the software directly: the channel legend packages a Groovy script of hers (originally Pete Bankhead’s, from the 2022 QuPath Hackathon), and the subset classifier follows a pattern from another. Her FS2K course was the model for how the workshop pages are written.
</a:t>
            </a:r>
            <a:pPr indent="0" marL="0">
              <a:spcAft>
                <a:spcPts val="900"/>
              </a:spcAft>
              <a:buNone/>
            </a:pPr>
            <a:r>
              <a:rPr lang="en-US" sz="1600" dirty="0">
                <a:solidFill>
                  <a:srgbClr val="1F2933"/>
                </a:solidFill>
                <a:latin typeface="Calibri" pitchFamily="34" charset="0"/>
                <a:ea typeface="Calibri" pitchFamily="34" charset="-122"/>
                <a:cs typeface="Calibri" pitchFamily="34" charset="-120"/>
              </a:rPr>
              <a:t>Kristin Gallik, whose concept and scripts the Confusion Matrix grew from.  ·  Pete Bankhead and the QuPath team.  ·  CT-FIRE, CurveAlign, TACS and TWOMBLI for the fiber work.  ·  CytoMAP and QuBaLab for bringing clustering into QuPath.  ·  QUAREP-LiMi for the reporting standards.  ·  The image.sc community, where several of these features were first requested.
</a:t>
            </a:r>
            <a:pPr indent="0" marL="0">
              <a:spcAft>
                <a:spcPts val="900"/>
              </a:spcAft>
              <a:buNone/>
            </a:pPr>
            <a:r>
              <a:rPr lang="en-US" sz="1600" dirty="0">
                <a:solidFill>
                  <a:srgbClr val="1F2933"/>
                </a:solidFill>
                <a:latin typeface="Calibri" pitchFamily="34" charset="0"/>
                <a:ea typeface="Calibri" pitchFamily="34" charset="-122"/>
                <a:cs typeface="Calibri" pitchFamily="34" charset="-120"/>
              </a:rPr>
              <a:t>Much of this code was written with Claude (Anthropic) under close direction. It changed what one person could build; it did not change what still had to be checked.
</a:t>
            </a:r>
            <a:pPr indent="0" marL="0">
              <a:buNone/>
            </a:pPr>
            <a:r>
              <a:rPr lang="en-US" sz="16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6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this hour covers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anyone who already uses QuPath and has run into its edges.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quality-of-life tools, export, project-scale work, deep learning,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There is time for a handful done properly, not sixteen done badly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every tool has a full written walkthrough, and a video to follow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Three are demonstrated but not practiced — I will say why each time; two more were Sara McArdle’s session yesterday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second hour is optional, hands-on and self-directed — four tracks, or bring your own data</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indent="0" marL="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sp>
      <p:sp>
        <p:nvSpPr>
          <p:cNvPr id="4" name="Shape 2"/>
          <p:cNvSpPr/>
          <p:nvPr/>
        </p:nvSpPr>
        <p:spPr>
          <a:xfrm>
            <a:off x="566928" y="2148840"/>
            <a:ext cx="11055096" cy="1371600"/>
          </a:xfrm>
          <a:prstGeom prst="rect">
            <a:avLst/>
          </a:prstGeom>
          <a:solidFill>
            <a:srgbClr val="E8F0FA"/>
          </a:solidFill>
          <a:ln/>
        </p:spPr>
      </p:sp>
      <p:sp>
        <p:nvSpPr>
          <p:cNvPr id="5" name="Text 3"/>
          <p:cNvSpPr/>
          <p:nvPr/>
        </p:nvSpPr>
        <p:spPr>
          <a:xfrm>
            <a:off x="841248" y="2148840"/>
            <a:ext cx="10506456" cy="1371600"/>
          </a:xfrm>
          <a:prstGeom prst="rect">
            <a:avLst/>
          </a:prstGeom>
          <a:noFill/>
          <a:ln/>
        </p:spPr>
        <p:txBody>
          <a:bodyPr wrap="square" rtlCol="0" anchor="ctr"/>
          <a:lstStyle/>
          <a:p>
            <a:pPr algn="ctr" indent="0" marL="0">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pPr indent="0" marL="0">
              <a:spcAft>
                <a:spcPts val="1200"/>
              </a:spcAft>
              <a:buNone/>
            </a:pPr>
            <a:r>
              <a:rPr lang="en-US" sz="1800" i="1" dirty="0">
                <a:solidFill>
                  <a:srgbClr val="5A6675"/>
                </a:solidFill>
                <a:latin typeface="Calibri" pitchFamily="34" charset="0"/>
                <a:ea typeface="Calibri" pitchFamily="34" charset="-122"/>
                <a:cs typeface="Calibri" pitchFamily="34" charset="-120"/>
              </a:rPr>
              <a:t>Already fixed: QPSC, the Confusion Matrix and the fiber tools are shown regardless — and Channel Names Viewer and Classify Object Subset were covered in Sara McArdle’s session yesterday.
</a:t>
            </a:r>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I will read it now and adjust the running order.
</a:t>
            </a:r>
            <a:pPr indent="0" marL="0">
              <a:buNone/>
            </a:pPr>
            <a:r>
              <a:rPr lang="en-US" sz="2000" dirty="0">
                <a:solidFill>
                  <a:srgbClr val="1F2933"/>
                </a:solidFill>
                <a:latin typeface="Calibri" pitchFamily="34" charset="0"/>
                <a:ea typeface="Calibri" pitchFamily="34" charset="-122"/>
                <a:cs typeface="Calibri" pitchFamily="34" charset="-120"/>
              </a:rPr>
              <a:t>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If you are not set up yet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 am not going to walk through setup — the site has it, and I am here in the second hour.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Everything below is on the site, and you can do it during this hour if you need to</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 one catalog: Extensions &gt; Manage extensions &gt; Manage extension catalogs &gt; Add catalog</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github.com/uw-loci/qupath-catalog-mikenelson — adding it installs nothing, it shows you a list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Pick what you want, then restart QuPath. Nothing appears until you restart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 entries are large first-use downloads: QP-CAT 1.5–2.5 GB, DL Pixel Classifier 2–4 GB</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Bring QuPath 0.7.0 or later. Four of the thirteen require it, and everything here is built and tested on it.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Five small tools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Dialog Manager · Channel Names · Classify Subset · Wizard Wand · Polyline Wand</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Dialog Manager, Channel Names, Classify Subset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least glamorous tools here.</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Dialog Manager</a:t>
            </a:r>
            <a:endParaRPr lang="en-US" sz="1000" dirty="0"/>
          </a:p>
        </p:txBody>
      </p:sp>
      <p:sp>
        <p:nvSpPr>
          <p:cNvPr id="6" name="Shape 4"/>
          <p:cNvSpPr/>
          <p:nvPr/>
        </p:nvSpPr>
        <p:spPr>
          <a:xfrm>
            <a:off x="10479024" y="1536192"/>
            <a:ext cx="804672" cy="804672"/>
          </a:xfrm>
          <a:prstGeom prst="rect">
            <a:avLst/>
          </a:prstGeom>
          <a:solidFill>
            <a:srgbClr val="FFFFFF"/>
          </a:solidFill>
          <a:ln w="9525">
            <a:solidFill>
              <a:srgbClr val="3674C1"/>
            </a:solidFill>
            <a:prstDash val="dash"/>
          </a:ln>
        </p:spPr>
      </p:sp>
      <p:sp>
        <p:nvSpPr>
          <p:cNvPr id="7" name="Text 5"/>
          <p:cNvSpPr/>
          <p:nvPr/>
        </p:nvSpPr>
        <p:spPr>
          <a:xfrm>
            <a:off x="10479024" y="1536192"/>
            <a:ext cx="804672" cy="804672"/>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377440"/>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github.com/uw-loci/qupath-extension-dialog-manager</a:t>
            </a:r>
            <a:endParaRPr lang="en-US" sz="750" dirty="0"/>
          </a:p>
        </p:txBody>
      </p:sp>
      <p:sp>
        <p:nvSpPr>
          <p:cNvPr id="9" name="Text 7"/>
          <p:cNvSpPr/>
          <p:nvPr/>
        </p:nvSpPr>
        <p:spPr>
          <a:xfrm>
            <a:off x="10140696" y="26517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Channel Names</a:t>
            </a:r>
            <a:endParaRPr lang="en-US" sz="1000" dirty="0"/>
          </a:p>
        </p:txBody>
      </p:sp>
      <p:sp>
        <p:nvSpPr>
          <p:cNvPr id="10" name="Shape 8"/>
          <p:cNvSpPr/>
          <p:nvPr/>
        </p:nvSpPr>
        <p:spPr>
          <a:xfrm>
            <a:off x="10479024" y="2871216"/>
            <a:ext cx="804672" cy="804672"/>
          </a:xfrm>
          <a:prstGeom prst="rect">
            <a:avLst/>
          </a:prstGeom>
          <a:solidFill>
            <a:srgbClr val="FFFFFF"/>
          </a:solidFill>
          <a:ln w="9525">
            <a:solidFill>
              <a:srgbClr val="3674C1"/>
            </a:solidFill>
            <a:prstDash val="dash"/>
          </a:ln>
        </p:spPr>
      </p:sp>
      <p:sp>
        <p:nvSpPr>
          <p:cNvPr id="11" name="Text 9"/>
          <p:cNvSpPr/>
          <p:nvPr/>
        </p:nvSpPr>
        <p:spPr>
          <a:xfrm>
            <a:off x="10479024" y="2871216"/>
            <a:ext cx="804672" cy="804672"/>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2" name="Text 10">
            <a:hlinkClick r:id="rId2" tooltip=""/>
          </p:cNvPr>
          <p:cNvSpPr/>
          <p:nvPr/>
        </p:nvSpPr>
        <p:spPr>
          <a:xfrm>
            <a:off x="10140696" y="3712464"/>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github.com/uw-loci/qupath-extension-channel-names-viewer</a:t>
            </a:r>
            <a:endParaRPr lang="en-US" sz="750" dirty="0"/>
          </a:p>
        </p:txBody>
      </p:sp>
      <p:sp>
        <p:nvSpPr>
          <p:cNvPr id="13" name="Text 11"/>
          <p:cNvSpPr/>
          <p:nvPr/>
        </p:nvSpPr>
        <p:spPr>
          <a:xfrm>
            <a:off x="10140696" y="3986784"/>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Classify Subset</a:t>
            </a:r>
            <a:endParaRPr lang="en-US" sz="1000" dirty="0"/>
          </a:p>
        </p:txBody>
      </p:sp>
      <p:sp>
        <p:nvSpPr>
          <p:cNvPr id="14" name="Shape 12"/>
          <p:cNvSpPr/>
          <p:nvPr/>
        </p:nvSpPr>
        <p:spPr>
          <a:xfrm>
            <a:off x="10479024" y="4206240"/>
            <a:ext cx="804672" cy="804672"/>
          </a:xfrm>
          <a:prstGeom prst="rect">
            <a:avLst/>
          </a:prstGeom>
          <a:solidFill>
            <a:srgbClr val="FFFFFF"/>
          </a:solidFill>
          <a:ln w="9525">
            <a:solidFill>
              <a:srgbClr val="3674C1"/>
            </a:solidFill>
            <a:prstDash val="dash"/>
          </a:ln>
        </p:spPr>
      </p:sp>
      <p:sp>
        <p:nvSpPr>
          <p:cNvPr id="15" name="Text 13"/>
          <p:cNvSpPr/>
          <p:nvPr/>
        </p:nvSpPr>
        <p:spPr>
          <a:xfrm>
            <a:off x="10479024" y="4206240"/>
            <a:ext cx="804672" cy="804672"/>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6" name="Text 14">
            <a:hlinkClick r:id="rId3" tooltip=""/>
          </p:cNvPr>
          <p:cNvSpPr/>
          <p:nvPr/>
        </p:nvSpPr>
        <p:spPr>
          <a:xfrm>
            <a:off x="10140696" y="504748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github.com/uw-loci/qupath-extension-classify-object-subset</a:t>
            </a:r>
            <a:endParaRPr lang="en-US" sz="750" dirty="0"/>
          </a:p>
        </p:txBody>
      </p:sp>
      <p:sp>
        <p:nvSpPr>
          <p:cNvPr id="17" name="Text 15"/>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Dialog Position Manager — remembers where your titled dialogs were and puts them back next session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Recovers windows stranded on a monitor you have since unplugged, and points several workstations at one shared file so a facility opens with the same layout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color-coded legend of the selected channels, so you are not re-reading the brightness dialog to find out which is which</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with a live count before you commit</a:t>
            </a:r>
            <a:endParaRPr lang="en-US" sz="2000" dirty="0"/>
          </a:p>
        </p:txBody>
      </p:sp>
      <p:sp>
        <p:nvSpPr>
          <p:cNvPr id="18" name="Shape 16"/>
          <p:cNvSpPr/>
          <p:nvPr/>
        </p:nvSpPr>
        <p:spPr>
          <a:xfrm>
            <a:off x="566928" y="5650992"/>
            <a:ext cx="11055096" cy="566928"/>
          </a:xfrm>
          <a:prstGeom prst="rect">
            <a:avLst/>
          </a:prstGeom>
          <a:solidFill>
            <a:srgbClr val="F4F8FD"/>
          </a:solidFill>
          <a:ln w="9525">
            <a:solidFill>
              <a:srgbClr val="3674C1"/>
            </a:solidFill>
            <a:prstDash val="solid"/>
          </a:ln>
        </p:spPr>
      </p:sp>
      <p:sp>
        <p:nvSpPr>
          <p:cNvPr id="19" name="Text 17"/>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last two grew out of Groovy scripts from Sara McArdle — the channel legend from one originally written by Pete Bankhead at the 2022 QuPath Hackathon. She demonstrated both on Monday.</a:t>
            </a:r>
            <a:endParaRPr lang="en-US" sz="1600" dirty="0"/>
          </a:p>
        </p:txBody>
      </p:sp>
      <p:sp>
        <p:nvSpPr>
          <p:cNvPr id="20" name="Text 1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wands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QuPath’s own wand is untouched — both of these install as separate tools you can ignore.</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Wizard Wand</a:t>
            </a:r>
            <a:endParaRPr lang="en-US" sz="1000" dirty="0"/>
          </a:p>
        </p:txBody>
      </p:sp>
      <p:sp>
        <p:nvSpPr>
          <p:cNvPr id="6" name="Shape 4"/>
          <p:cNvSpPr/>
          <p:nvPr/>
        </p:nvSpPr>
        <p:spPr>
          <a:xfrm>
            <a:off x="10355580" y="1536192"/>
            <a:ext cx="1051560" cy="1051560"/>
          </a:xfrm>
          <a:prstGeom prst="rect">
            <a:avLst/>
          </a:prstGeom>
          <a:solidFill>
            <a:srgbClr val="FFFFFF"/>
          </a:solidFill>
          <a:ln w="9525">
            <a:solidFill>
              <a:srgbClr val="3674C1"/>
            </a:solidFill>
            <a:prstDash val="dash"/>
          </a:ln>
        </p:spPr>
      </p:sp>
      <p:sp>
        <p:nvSpPr>
          <p:cNvPr id="7" name="Text 5"/>
          <p:cNvSpPr/>
          <p:nvPr/>
        </p:nvSpPr>
        <p:spPr>
          <a:xfrm>
            <a:off x="10355580" y="1536192"/>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62432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github.com/uw-loci/qupath-extension-wizard-wand</a:t>
            </a:r>
            <a:endParaRPr lang="en-US" sz="750" dirty="0"/>
          </a:p>
        </p:txBody>
      </p:sp>
      <p:sp>
        <p:nvSpPr>
          <p:cNvPr id="9" name="Text 7"/>
          <p:cNvSpPr/>
          <p:nvPr/>
        </p:nvSpPr>
        <p:spPr>
          <a:xfrm>
            <a:off x="10140696" y="297180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Polyline Wand</a:t>
            </a:r>
            <a:endParaRPr lang="en-US" sz="1000" dirty="0"/>
          </a:p>
        </p:txBody>
      </p:sp>
      <p:sp>
        <p:nvSpPr>
          <p:cNvPr id="10" name="Shape 8"/>
          <p:cNvSpPr/>
          <p:nvPr/>
        </p:nvSpPr>
        <p:spPr>
          <a:xfrm>
            <a:off x="10355580" y="3191256"/>
            <a:ext cx="1051560" cy="1051560"/>
          </a:xfrm>
          <a:prstGeom prst="rect">
            <a:avLst/>
          </a:prstGeom>
          <a:solidFill>
            <a:srgbClr val="FFFFFF"/>
          </a:solidFill>
          <a:ln w="9525">
            <a:solidFill>
              <a:srgbClr val="3674C1"/>
            </a:solidFill>
            <a:prstDash val="dash"/>
          </a:ln>
        </p:spPr>
      </p:sp>
      <p:sp>
        <p:nvSpPr>
          <p:cNvPr id="11" name="Text 9"/>
          <p:cNvSpPr/>
          <p:nvPr/>
        </p:nvSpPr>
        <p:spPr>
          <a:xfrm>
            <a:off x="10355580" y="3191256"/>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2" name="Text 10">
            <a:hlinkClick r:id="rId2" tooltip=""/>
          </p:cNvPr>
          <p:cNvSpPr/>
          <p:nvPr/>
        </p:nvSpPr>
        <p:spPr>
          <a:xfrm>
            <a:off x="10140696" y="427939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github.com/uw-loci/qupath-extension-polyline-wand</a:t>
            </a:r>
            <a:endParaRPr lang="en-US" sz="750" dirty="0"/>
          </a:p>
        </p:txBody>
      </p:sp>
      <p:sp>
        <p:nvSpPr>
          <p:cNvPr id="13" name="Text 11"/>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Wizard Wand — like the built-in wand, with small holes filled and the boundary smoothed by default; hold still and the selection grows on its own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Four color-space modes: grayscale, RGB,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Tune from selection: draw one area annotation the way you want it, and the wand derives its own settings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Polyline Wand — QuPath’s brush and wand work on areas; this brings the same editing to lines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Push a traced boundary outward, erase backwards from an endpoint, or cut one polyline in two — both halves keep class, name and color</a:t>
            </a:r>
            <a:endParaRPr lang="en-US" sz="2000" dirty="0"/>
          </a:p>
        </p:txBody>
      </p:sp>
      <p:sp>
        <p:nvSpPr>
          <p:cNvPr id="14" name="Shape 12"/>
          <p:cNvSpPr/>
          <p:nvPr/>
        </p:nvSpPr>
        <p:spPr>
          <a:xfrm>
            <a:off x="566928" y="5650992"/>
            <a:ext cx="11055096" cy="566928"/>
          </a:xfrm>
          <a:prstGeom prst="rect">
            <a:avLst/>
          </a:prstGeom>
          <a:solidFill>
            <a:srgbClr val="F4F8FD"/>
          </a:solidFill>
          <a:ln w="9525">
            <a:solidFill>
              <a:srgbClr val="3674C1"/>
            </a:solidFill>
            <a:prstDash val="solid"/>
          </a:ln>
        </p:spPr>
      </p:sp>
      <p:sp>
        <p:nvSpPr>
          <p:cNvPr id="15" name="Text 13"/>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One stroke is one undo step, however long the boundary.</a:t>
            </a:r>
            <a:endParaRPr lang="en-US" sz="1600" dirty="0"/>
          </a:p>
        </p:txBody>
      </p:sp>
      <p:sp>
        <p:nvSpPr>
          <p:cNvPr id="16" name="Text 1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tune from a hand-drawn area annotation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erase back from an endpoint, then switch mode to smooth a noisy stretch</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QuIET — Image Export Toolkit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Five export categories, one wizard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QuIET</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sp>
      <p:sp>
        <p:nvSpPr>
          <p:cNvPr id="7" name="Text 5"/>
          <p:cNvSpPr/>
          <p:nvPr/>
        </p:nvSpPr>
        <p:spPr>
          <a:xfrm>
            <a:off x="10264140" y="1536192"/>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80720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github.com/uw-loci/qupath-extension-image-export-toolkit</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it is a reproducibility tool, not a convenience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Groovy script that uses only the QuPath API</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who does not have QuIET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reporting 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Montage figures are the exception: they record their settings, but the figure is rebuilt through the wizard.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OCR, Metadata Browser, Class Distribution, Tiles to Pyramid</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Working on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10140696" y="12801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OCR for Labels</a:t>
            </a:r>
            <a:endParaRPr lang="en-US" sz="1000" dirty="0"/>
          </a:p>
        </p:txBody>
      </p:sp>
      <p:sp>
        <p:nvSpPr>
          <p:cNvPr id="5" name="Shape 3"/>
          <p:cNvSpPr/>
          <p:nvPr/>
        </p:nvSpPr>
        <p:spPr>
          <a:xfrm>
            <a:off x="10264140" y="1499616"/>
            <a:ext cx="1234440" cy="1234440"/>
          </a:xfrm>
          <a:prstGeom prst="rect">
            <a:avLst/>
          </a:prstGeom>
          <a:solidFill>
            <a:srgbClr val="FFFFFF"/>
          </a:solidFill>
          <a:ln w="9525">
            <a:solidFill>
              <a:srgbClr val="3674C1"/>
            </a:solidFill>
            <a:prstDash val="dash"/>
          </a:ln>
        </p:spPr>
      </p:sp>
      <p:sp>
        <p:nvSpPr>
          <p:cNvPr id="6" name="Text 4"/>
          <p:cNvSpPr/>
          <p:nvPr/>
        </p:nvSpPr>
        <p:spPr>
          <a:xfrm>
            <a:off x="10264140" y="1499616"/>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1" tooltip=""/>
          </p:cNvPr>
          <p:cNvSpPr/>
          <p:nvPr/>
        </p:nvSpPr>
        <p:spPr>
          <a:xfrm>
            <a:off x="10140696" y="277063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github.com/uw-loci/qupath-extension-ocr4labels</a:t>
            </a:r>
            <a:endParaRPr lang="en-US" sz="750" dirty="0"/>
          </a:p>
        </p:txBody>
      </p:sp>
      <p:sp>
        <p:nvSpPr>
          <p:cNvPr id="8" name="Text 6"/>
          <p:cNvSpPr/>
          <p:nvPr/>
        </p:nvSpPr>
        <p:spPr>
          <a:xfrm>
            <a:off x="640080" y="1481328"/>
            <a:ext cx="922629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Match against a vocabulary of the IDs you actually use, and OCR slips like 0-for-O get corrected</a:t>
            </a:r>
            <a:endParaRPr lang="en-US" sz="2000" dirty="0"/>
          </a:p>
        </p:txBody>
      </p:sp>
      <p:sp>
        <p:nvSpPr>
          <p:cNvPr id="9" name="Shape 7"/>
          <p:cNvSpPr/>
          <p:nvPr/>
        </p:nvSpPr>
        <p:spPr>
          <a:xfrm>
            <a:off x="566928" y="5650992"/>
            <a:ext cx="11055096" cy="566928"/>
          </a:xfrm>
          <a:prstGeom prst="rect">
            <a:avLst/>
          </a:prstGeom>
          <a:solidFill>
            <a:srgbClr val="F4F8FD"/>
          </a:solidFill>
          <a:ln w="9525">
            <a:solidFill>
              <a:srgbClr val="3674C1"/>
            </a:solidFill>
            <a:prstDash val="solid"/>
          </a:ln>
        </p:spPr>
      </p:sp>
      <p:sp>
        <p:nvSpPr>
          <p:cNvPr id="10" name="Text 8"/>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just ran label recognition across a few hundred slides, this is where you find out whether it worked.</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Metadata Browser</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sp>
      <p:sp>
        <p:nvSpPr>
          <p:cNvPr id="7" name="Text 5"/>
          <p:cNvSpPr/>
          <p:nvPr/>
        </p:nvSpPr>
        <p:spPr>
          <a:xfrm>
            <a:off x="10264140" y="1536192"/>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80720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github.com/uw-loci/qupath-extension-project-metadata-browser</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10" name="Shape 8"/>
          <p:cNvSpPr/>
          <p:nvPr/>
        </p:nvSpPr>
        <p:spPr>
          <a:xfrm>
            <a:off x="566928" y="5650992"/>
            <a:ext cx="11055096" cy="566928"/>
          </a:xfrm>
          <a:prstGeom prst="rect">
            <a:avLst/>
          </a:prstGeom>
          <a:solidFill>
            <a:srgbClr val="F4F8FD"/>
          </a:solidFill>
          <a:ln w="9525">
            <a:solidFill>
              <a:srgbClr val="3674C1"/>
            </a:solidFill>
            <a:prstDash val="solid"/>
          </a:ln>
        </p:spPr>
      </p:sp>
      <p:sp>
        <p:nvSpPr>
          <p:cNvPr id="11" name="Text 9"/>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Sorting by a recognized column makes the bad reads stand out as outliers.</a:t>
            </a:r>
            <a:endParaRPr lang="en-US" sz="16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the metadata is worth filling in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Metadata is not bookkeeping for its own sake. It is how you find an image again.</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QuPath’s own project pane has a “Sort by...” menu: choose a metadata key and the image list groups under it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Four hundred files named by scanner ID become a list grouped by stain, by case, or by block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pane’s filter box searches name and type only — metadata is what gives you the axis you actually care about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the chain is: read the label, check the reads here, then navigate the project by what is on the slide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Sorting by a recovered column is also the quickest quality check, because bad reads land at the extremes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Nothing here is specific to OCR: paste a column from a spreadsheet, or pull fields out of structured filenames with a regex, and the same sorting applies.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10140696" y="12801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Class Distribution</a:t>
            </a:r>
            <a:endParaRPr lang="en-US" sz="1000" dirty="0"/>
          </a:p>
        </p:txBody>
      </p:sp>
      <p:sp>
        <p:nvSpPr>
          <p:cNvPr id="5" name="Shape 3"/>
          <p:cNvSpPr/>
          <p:nvPr/>
        </p:nvSpPr>
        <p:spPr>
          <a:xfrm>
            <a:off x="10264140" y="1499616"/>
            <a:ext cx="1234440" cy="1234440"/>
          </a:xfrm>
          <a:prstGeom prst="rect">
            <a:avLst/>
          </a:prstGeom>
          <a:solidFill>
            <a:srgbClr val="FFFFFF"/>
          </a:solidFill>
          <a:ln w="9525">
            <a:solidFill>
              <a:srgbClr val="3674C1"/>
            </a:solidFill>
            <a:prstDash val="dash"/>
          </a:ln>
        </p:spPr>
      </p:sp>
      <p:sp>
        <p:nvSpPr>
          <p:cNvPr id="6" name="Text 4"/>
          <p:cNvSpPr/>
          <p:nvPr/>
        </p:nvSpPr>
        <p:spPr>
          <a:xfrm>
            <a:off x="10264140" y="1499616"/>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1" tooltip=""/>
          </p:cNvPr>
          <p:cNvSpPr/>
          <p:nvPr/>
        </p:nvSpPr>
        <p:spPr>
          <a:xfrm>
            <a:off x="10140696" y="277063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github.com/uw-loci/qupath-extension-class-distribution</a:t>
            </a:r>
            <a:endParaRPr lang="en-US" sz="750" dirty="0"/>
          </a:p>
        </p:txBody>
      </p:sp>
      <p:sp>
        <p:nvSpPr>
          <p:cNvPr id="8" name="Text 6"/>
          <p:cNvSpPr/>
          <p:nvPr/>
        </p:nvSpPr>
        <p:spPr>
          <a:xfrm>
            <a:off x="640080" y="1481328"/>
            <a:ext cx="922629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9" name="Shape 7"/>
          <p:cNvSpPr/>
          <p:nvPr/>
        </p:nvSpPr>
        <p:spPr>
          <a:xfrm>
            <a:off x="566928" y="5650992"/>
            <a:ext cx="11055096" cy="566928"/>
          </a:xfrm>
          <a:prstGeom prst="rect">
            <a:avLst/>
          </a:prstGeom>
          <a:solidFill>
            <a:srgbClr val="F4F8FD"/>
          </a:solidFill>
          <a:ln w="9525">
            <a:solidFill>
              <a:srgbClr val="3674C1"/>
            </a:solidFill>
            <a:prstDash val="solid"/>
          </a:ln>
        </p:spPr>
      </p:sp>
      <p:sp>
        <p:nvSpPr>
          <p:cNvPr id="10" name="Text 8"/>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For an object classifier it is the third that drives training. Flagged at twice, or half, the median class share.</a:t>
            </a:r>
            <a:endParaRPr lang="en-US" sz="16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Four captures, one field of view</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3899916" y="1481328"/>
            <a:ext cx="2057400" cy="2057400"/>
          </a:xfrm>
          <a:prstGeom prst="rect">
            <a:avLst/>
          </a:prstGeom>
        </p:spPr>
      </p:pic>
      <p:pic>
        <p:nvPicPr>
          <p:cNvPr id="5" name="tile1" descr="images/tile_1.jpg">    </p:cNvPr>
          <p:cNvPicPr>
            <a:picLocks noChangeAspect="1"/>
          </p:cNvPicPr>
          <p:nvPr/>
        </p:nvPicPr>
        <p:blipFill>
          <a:blip r:embed="rId2"/>
          <a:stretch>
            <a:fillRect/>
          </a:stretch>
        </p:blipFill>
        <p:spPr>
          <a:xfrm>
            <a:off x="6231636" y="1481328"/>
            <a:ext cx="2057400" cy="2057400"/>
          </a:xfrm>
          <a:prstGeom prst="rect">
            <a:avLst/>
          </a:prstGeom>
        </p:spPr>
      </p:pic>
      <p:pic>
        <p:nvPicPr>
          <p:cNvPr id="6" name="tile2" descr="images/tile_2.jpg">    </p:cNvPr>
          <p:cNvPicPr>
            <a:picLocks noChangeAspect="1"/>
          </p:cNvPicPr>
          <p:nvPr/>
        </p:nvPicPr>
        <p:blipFill>
          <a:blip r:embed="rId3"/>
          <a:stretch>
            <a:fillRect/>
          </a:stretch>
        </p:blipFill>
        <p:spPr>
          <a:xfrm>
            <a:off x="6231636" y="3813048"/>
            <a:ext cx="2057400" cy="2057400"/>
          </a:xfrm>
          <a:prstGeom prst="rect">
            <a:avLst/>
          </a:prstGeom>
        </p:spPr>
      </p:pic>
      <p:pic>
        <p:nvPicPr>
          <p:cNvPr id="7" name="tile3" descr="images/tile_3.jpg">    </p:cNvPr>
          <p:cNvPicPr>
            <a:picLocks noChangeAspect="1"/>
          </p:cNvPicPr>
          <p:nvPr/>
        </p:nvPicPr>
        <p:blipFill>
          <a:blip r:embed="rId4"/>
          <a:stretch>
            <a:fillRect/>
          </a:stretch>
        </p:blipFill>
        <p:spPr>
          <a:xfrm>
            <a:off x="3899916" y="3813048"/>
            <a:ext cx="2057400" cy="2057400"/>
          </a:xfrm>
          <a:prstGeom prst="rect">
            <a:avLst/>
          </a:prstGeom>
        </p:spPr>
      </p:pic>
      <p:sp>
        <p:nvSpPr>
          <p:cNvPr id="8"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Each tile is a separate exposure. The stage moved between them, and every neighboring pair was told to share about 10% of its width so there is common tissue to match on.</a:t>
            </a:r>
            <a:endParaRPr lang="en-US" sz="1500" dirty="0"/>
          </a:p>
        </p:txBody>
      </p:sp>
      <p:sp>
        <p:nvSpPr>
          <p:cNvPr id="9"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4140046" y="1481328"/>
            <a:ext cx="2057400" cy="2057400"/>
          </a:xfrm>
          <a:prstGeom prst="rect">
            <a:avLst/>
          </a:prstGeom>
        </p:spPr>
      </p:pic>
      <p:sp>
        <p:nvSpPr>
          <p:cNvPr id="5"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first tile lands at the position the stage reported.</a:t>
            </a:r>
            <a:endParaRPr lang="en-US" sz="1500" dirty="0"/>
          </a:p>
        </p:txBody>
      </p:sp>
      <p:sp>
        <p:nvSpPr>
          <p:cNvPr id="6"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4140046" y="1481328"/>
            <a:ext cx="2057400" cy="2057400"/>
          </a:xfrm>
          <a:prstGeom prst="rect">
            <a:avLst/>
          </a:prstGeom>
        </p:spPr>
      </p:pic>
      <p:pic>
        <p:nvPicPr>
          <p:cNvPr id="5" name="tile1" descr="images/tile_1.jpg">    </p:cNvPr>
          <p:cNvPicPr>
            <a:picLocks noChangeAspect="1"/>
          </p:cNvPicPr>
          <p:nvPr/>
        </p:nvPicPr>
        <p:blipFill>
          <a:blip r:embed="rId2"/>
          <a:stretch>
            <a:fillRect/>
          </a:stretch>
        </p:blipFill>
        <p:spPr>
          <a:xfrm>
            <a:off x="5991506" y="1481328"/>
            <a:ext cx="2057400" cy="2057400"/>
          </a:xfrm>
          <a:prstGeom prst="rect">
            <a:avLst/>
          </a:prstGeom>
        </p:spPr>
      </p:pic>
      <p:sp>
        <p:nvSpPr>
          <p:cNvPr id="6"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second overlaps the first. That shared strip is the only evidence available for whether the stage was right.</a:t>
            </a:r>
            <a:endParaRPr lang="en-US" sz="1500" dirty="0"/>
          </a:p>
        </p:txBody>
      </p:sp>
      <p:sp>
        <p:nvSpPr>
          <p:cNvPr id="7"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991506" y="1481328"/>
            <a:ext cx="205941" cy="3908859"/>
          </a:xfrm>
          <a:prstGeom prst="rect">
            <a:avLst/>
          </a:prstGeom>
          <a:solidFill>
            <a:srgbClr val="3674C1">
              <a:alpha val="38000"/>
            </a:srgbClr>
          </a:solidFill>
          <a:ln/>
        </p:spPr>
      </p:sp>
      <p:sp>
        <p:nvSpPr>
          <p:cNvPr id="5" name="Shape 3"/>
          <p:cNvSpPr/>
          <p:nvPr/>
        </p:nvSpPr>
        <p:spPr>
          <a:xfrm>
            <a:off x="4140046" y="3332787"/>
            <a:ext cx="3908859" cy="205941"/>
          </a:xfrm>
          <a:prstGeom prst="rect">
            <a:avLst/>
          </a:prstGeom>
          <a:solidFill>
            <a:srgbClr val="3674C1">
              <a:alpha val="38000"/>
            </a:srgbClr>
          </a:solidFill>
          <a:ln/>
        </p:spPr>
      </p:sp>
      <p:pic>
        <p:nvPicPr>
          <p:cNvPr id="6" name="tile0" descr="images/tile_0.jpg">    </p:cNvPr>
          <p:cNvPicPr>
            <a:picLocks noChangeAspect="1"/>
          </p:cNvPicPr>
          <p:nvPr/>
        </p:nvPicPr>
        <p:blipFill>
          <a:blip r:embed="rId1"/>
          <a:stretch>
            <a:fillRect/>
          </a:stretch>
        </p:blipFill>
        <p:spPr>
          <a:xfrm>
            <a:off x="4140046" y="1481328"/>
            <a:ext cx="2057400" cy="2057400"/>
          </a:xfrm>
          <a:prstGeom prst="rect">
            <a:avLst/>
          </a:prstGeom>
        </p:spPr>
      </p:pic>
      <p:pic>
        <p:nvPicPr>
          <p:cNvPr id="7" name="tile1" descr="images/tile_1.jpg">    </p:cNvPr>
          <p:cNvPicPr>
            <a:picLocks noChangeAspect="1"/>
          </p:cNvPicPr>
          <p:nvPr/>
        </p:nvPicPr>
        <p:blipFill>
          <a:blip r:embed="rId2"/>
          <a:stretch>
            <a:fillRect/>
          </a:stretch>
        </p:blipFill>
        <p:spPr>
          <a:xfrm>
            <a:off x="5991506" y="1481328"/>
            <a:ext cx="2057400" cy="2057400"/>
          </a:xfrm>
          <a:prstGeom prst="rect">
            <a:avLst/>
          </a:prstGeom>
        </p:spPr>
      </p:pic>
      <p:pic>
        <p:nvPicPr>
          <p:cNvPr id="8" name="tile2" descr="images/tile_2.jpg">    </p:cNvPr>
          <p:cNvPicPr>
            <a:picLocks noChangeAspect="1"/>
          </p:cNvPicPr>
          <p:nvPr/>
        </p:nvPicPr>
        <p:blipFill>
          <a:blip r:embed="rId3"/>
          <a:stretch>
            <a:fillRect/>
          </a:stretch>
        </p:blipFill>
        <p:spPr>
          <a:xfrm>
            <a:off x="5991506" y="3332787"/>
            <a:ext cx="2057400" cy="2057400"/>
          </a:xfrm>
          <a:prstGeom prst="rect">
            <a:avLst/>
          </a:prstGeom>
        </p:spPr>
      </p:pic>
      <p:pic>
        <p:nvPicPr>
          <p:cNvPr id="9" name="tile3" descr="images/tile_3.jpg">    </p:cNvPr>
          <p:cNvPicPr>
            <a:picLocks noChangeAspect="1"/>
          </p:cNvPicPr>
          <p:nvPr/>
        </p:nvPicPr>
        <p:blipFill>
          <a:blip r:embed="rId4"/>
          <a:stretch>
            <a:fillRect/>
          </a:stretch>
        </p:blipFill>
        <p:spPr>
          <a:xfrm>
            <a:off x="4140046" y="3332787"/>
            <a:ext cx="2057400" cy="2057400"/>
          </a:xfrm>
          <a:prstGeom prst="rect">
            <a:avLst/>
          </a:prstGeom>
        </p:spPr>
      </p:pic>
      <p:sp>
        <p:nvSpPr>
          <p:cNvPr id="10" name="Text 4"/>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All four, placed on the recorded coordinates alone. Every neighboring pair now shares a strip.</a:t>
            </a:r>
            <a:endParaRPr lang="en-US" sz="1500" dirty="0"/>
          </a:p>
        </p:txBody>
      </p:sp>
      <p:sp>
        <p:nvSpPr>
          <p:cNvPr id="11"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Measure on the clearest channel, reuse on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76809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on the stage’s own coordinates</a:t>
            </a:r>
            <a:endParaRPr lang="en-US" sz="1700" dirty="0"/>
          </a:p>
        </p:txBody>
      </p:sp>
      <p:pic>
        <p:nvPicPr>
          <p:cNvPr id="5" name="Image 0" descr="images/stitch_if_nominal.jpg">    </p:cNvPr>
          <p:cNvPicPr>
            <a:picLocks noChangeAspect="1"/>
          </p:cNvPicPr>
          <p:nvPr/>
        </p:nvPicPr>
        <p:blipFill>
          <a:blip r:embed="rId1"/>
          <a:stretch>
            <a:fillRect/>
          </a:stretch>
        </p:blipFill>
        <p:spPr>
          <a:xfrm>
            <a:off x="768096" y="1783080"/>
            <a:ext cx="5120640" cy="3925824"/>
          </a:xfrm>
          <a:prstGeom prst="rect">
            <a:avLst/>
          </a:prstGeom>
        </p:spPr>
      </p:pic>
      <p:sp>
        <p:nvSpPr>
          <p:cNvPr id="6" name="Text 3"/>
          <p:cNvSpPr/>
          <p:nvPr/>
        </p:nvSpPr>
        <p:spPr>
          <a:xfrm>
            <a:off x="630021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on positions measured from the image</a:t>
            </a:r>
            <a:endParaRPr lang="en-US" sz="1700" dirty="0"/>
          </a:p>
        </p:txBody>
      </p:sp>
      <p:pic>
        <p:nvPicPr>
          <p:cNvPr id="7" name="Image 1" descr="images/stitch_if_registered.jpg">    </p:cNvPr>
          <p:cNvPicPr>
            <a:picLocks noChangeAspect="1"/>
          </p:cNvPicPr>
          <p:nvPr/>
        </p:nvPicPr>
        <p:blipFill>
          <a:blip r:embed="rId2"/>
          <a:stretch>
            <a:fillRect/>
          </a:stretch>
        </p:blipFill>
        <p:spPr>
          <a:xfrm>
            <a:off x="6300216" y="1783080"/>
            <a:ext cx="5120640" cy="3925824"/>
          </a:xfrm>
          <a:prstGeom prst="rect">
            <a:avLst/>
          </a:prstGeom>
        </p:spPr>
      </p:pic>
      <p:sp>
        <p:nvSpPr>
          <p:cNvPr id="8" name="Text 4"/>
          <p:cNvSpPr/>
          <p:nvPr/>
        </p:nvSpPr>
        <p:spPr>
          <a:xfrm>
            <a:off x="566928" y="581863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Both panels are Tiles to Pyramid’s own output, at the same place in the same overlap. The stage was about 5 px out; because the tiles are feathered together, that error does not show up as a seam, it shows up as blur — smeared puncta and soft filaments on the left, crisp on the right. Positions were solved once on DAPI and reused unchanged for green and red.</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As acquired: neighboring tiles share a strip of the same tissue (shaded)</a:t>
            </a:r>
            <a:endParaRPr lang="en-US" sz="1700" dirty="0"/>
          </a:p>
        </p:txBody>
      </p:sp>
      <p:pic>
        <p:nvPicPr>
          <p:cNvPr id="5" name="Image 0" descr="images/stitch_ppm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Pancreatic cancer, polarized light. The stage recorded this tile about 5 px (0.9 µm) away from where it really was — the worst of 17 seams in this grid, which ran to a 2.2 px median. Registration measured that from the overlap and closed every seam to under a pixel. It is a tick-box: left off, tiles go where the stage said.</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 how the mosaic is assembled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Memory stops tracking the size of the mosaic, which is what lets thousands of tiles stitch on an ordinary machine.</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Tiles to Pyramid</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sp>
      <p:sp>
        <p:nvSpPr>
          <p:cNvPr id="7" name="Text 5"/>
          <p:cNvSpPr/>
          <p:nvPr/>
        </p:nvSpPr>
        <p:spPr>
          <a:xfrm>
            <a:off x="10264140" y="1536192"/>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80720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github.com/uw-loci/qupath-extension-tiles-to-pyramid</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overlapping pair is measured against the image content, then all tiles are placed at once by least squares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spanning tree would keep 99 of the 180 neighbor edges on a 10×10 grid and throw away 81, so nothing is ever asked to close a loop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tile is also pulled toward its recorded stage position, so a tile with no accepted edges stays exactly where the stage put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output is written chunk by chunk, and only the one to four tiles overlapping the current chunk are ever in memory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Measured: 144 tiles (125 MP) stitch in the same 227 MB as 64 tiles (56 MP)</a:t>
            </a:r>
            <a:endParaRPr lang="en-US" sz="2000" dirty="0"/>
          </a:p>
        </p:txBody>
      </p:sp>
      <p:sp>
        <p:nvSpPr>
          <p:cNvPr id="10" name="Shape 8"/>
          <p:cNvSpPr/>
          <p:nvPr/>
        </p:nvSpPr>
        <p:spPr>
          <a:xfrm>
            <a:off x="566928" y="5650992"/>
            <a:ext cx="11055096" cy="566928"/>
          </a:xfrm>
          <a:prstGeom prst="rect">
            <a:avLst/>
          </a:prstGeom>
          <a:solidFill>
            <a:srgbClr val="F4F8FD"/>
          </a:solidFill>
          <a:ln w="9525">
            <a:solidFill>
              <a:srgbClr val="3674C1"/>
            </a:solidFill>
            <a:prstDash val="solid"/>
          </a:ln>
        </p:spPr>
      </p:sp>
      <p:sp>
        <p:nvSpPr>
          <p:cNvPr id="11" name="Text 9"/>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Measured with the extension’s own benchmark: 1024 px 16-bit tiles, 10% overlap. The older load-everything path needed 2–4 GB and ran out of memory past about 1600 tiles.</a:t>
            </a:r>
            <a:endParaRPr lang="en-US" sz="16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Confusion Matrix</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DEMO ONLY  ·  5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Reading the matrix</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 flagged image points at the ground truth, the staining, or the classifier’s generalisation — the breakdown tells you which</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Originated by Kristin Gallik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DL Pixel Classifier and QP-CAT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Pixel classification, cell phenotyping,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color.</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DL Pixel Classifier</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sp>
      <p:sp>
        <p:nvSpPr>
          <p:cNvPr id="7" name="Text 5"/>
          <p:cNvSpPr/>
          <p:nvPr/>
        </p:nvSpPr>
        <p:spPr>
          <a:xfrm>
            <a:off x="10264140" y="1536192"/>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80720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github.com/uw-loci/qupath-extension-dl-pixel-classifier</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channel selection and intensity normalization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features that tell you when not to trust 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Domain shift — a new scanner, a new stain, a new batch —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confidence, not just the winning class — the model’s certainty rendered pixel by pixel</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the stain, exposure and sensor changes that would quietly degrade predictions; it will not catch subtle texture drift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When it fires, recalibrating to the current image needs no retraining at all</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Try recalibration before you commit to retraining. It is cheap, and it costs you nothing to find out.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QP-CAT</a:t>
            </a:r>
            <a:endParaRPr lang="en-US" sz="1000" dirty="0"/>
          </a:p>
        </p:txBody>
      </p:sp>
      <p:sp>
        <p:nvSpPr>
          <p:cNvPr id="6" name="Shape 4"/>
          <p:cNvSpPr/>
          <p:nvPr/>
        </p:nvSpPr>
        <p:spPr>
          <a:xfrm>
            <a:off x="10355580" y="1536192"/>
            <a:ext cx="1051560" cy="1051560"/>
          </a:xfrm>
          <a:prstGeom prst="rect">
            <a:avLst/>
          </a:prstGeom>
          <a:solidFill>
            <a:srgbClr val="FFFFFF"/>
          </a:solidFill>
          <a:ln w="9525">
            <a:solidFill>
              <a:srgbClr val="3674C1"/>
            </a:solidFill>
            <a:prstDash val="dash"/>
          </a:ln>
        </p:spPr>
      </p:sp>
      <p:sp>
        <p:nvSpPr>
          <p:cNvPr id="7" name="Text 5"/>
          <p:cNvSpPr/>
          <p:nvPr/>
        </p:nvSpPr>
        <p:spPr>
          <a:xfrm>
            <a:off x="10355580" y="1536192"/>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62432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github.com/uw-loci/qupath-extension-cell-analysis-tools</a:t>
            </a:r>
            <a:endParaRPr lang="en-US" sz="750" dirty="0"/>
          </a:p>
        </p:txBody>
      </p:sp>
      <p:sp>
        <p:nvSpPr>
          <p:cNvPr id="9" name="Text 7"/>
          <p:cNvSpPr/>
          <p:nvPr/>
        </p:nvSpPr>
        <p:spPr>
          <a:xfrm>
            <a:off x="10140696" y="297180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Cluster 3D Nav</a:t>
            </a:r>
            <a:endParaRPr lang="en-US" sz="1000" dirty="0"/>
          </a:p>
        </p:txBody>
      </p:sp>
      <p:sp>
        <p:nvSpPr>
          <p:cNvPr id="10" name="Shape 8"/>
          <p:cNvSpPr/>
          <p:nvPr/>
        </p:nvSpPr>
        <p:spPr>
          <a:xfrm>
            <a:off x="10355580" y="3191256"/>
            <a:ext cx="1051560" cy="1051560"/>
          </a:xfrm>
          <a:prstGeom prst="rect">
            <a:avLst/>
          </a:prstGeom>
          <a:solidFill>
            <a:srgbClr val="FFFFFF"/>
          </a:solidFill>
          <a:ln w="9525">
            <a:solidFill>
              <a:srgbClr val="3674C1"/>
            </a:solidFill>
            <a:prstDash val="dash"/>
          </a:ln>
        </p:spPr>
      </p:sp>
      <p:sp>
        <p:nvSpPr>
          <p:cNvPr id="11" name="Text 9"/>
          <p:cNvSpPr/>
          <p:nvPr/>
        </p:nvSpPr>
        <p:spPr>
          <a:xfrm>
            <a:off x="10355580" y="3191256"/>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2" name="Text 10">
            <a:hlinkClick r:id="rId2" tooltip=""/>
          </p:cNvPr>
          <p:cNvSpPr/>
          <p:nvPr/>
        </p:nvSpPr>
        <p:spPr>
          <a:xfrm>
            <a:off x="10140696" y="427939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github.com/uw-loci/qupath-extension-cluster-3d-navigator</a:t>
            </a:r>
            <a:endParaRPr lang="en-US" sz="750" dirty="0"/>
          </a:p>
        </p:txBody>
      </p:sp>
      <p:sp>
        <p:nvSpPr>
          <p:cNvPr id="13" name="Text 11"/>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conda, no command line — one click, 1.5–2.5 GB, 5–15 minutes, once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polygon around a region of the embedding and those cells are selected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Configure independent areas and no spatial graph edge crosses two TMA cores, so separate tissue stays separate</a:t>
            </a:r>
            <a:endParaRPr lang="en-US" sz="2000" dirty="0"/>
          </a:p>
        </p:txBody>
      </p:sp>
      <p:sp>
        <p:nvSpPr>
          <p:cNvPr id="14" name="Shape 12"/>
          <p:cNvSpPr/>
          <p:nvPr/>
        </p:nvSpPr>
        <p:spPr>
          <a:xfrm>
            <a:off x="566928" y="5650992"/>
            <a:ext cx="11055096" cy="566928"/>
          </a:xfrm>
          <a:prstGeom prst="rect">
            <a:avLst/>
          </a:prstGeom>
          <a:solidFill>
            <a:srgbClr val="F4F8FD"/>
          </a:solidFill>
          <a:ln w="9525">
            <a:solidFill>
              <a:srgbClr val="3674C1"/>
            </a:solidFill>
            <a:prstDash val="solid"/>
          </a:ln>
        </p:spPr>
      </p:sp>
      <p:sp>
        <p:nvSpPr>
          <p:cNvPr id="15" name="Text 13"/>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Author’s own README, first line: many of the features are lightly tested or entirely untested. Treat results as a starting point.</a:t>
            </a:r>
            <a:endParaRPr lang="en-US" sz="1600" dirty="0"/>
          </a:p>
        </p:txBody>
      </p:sp>
      <p:sp>
        <p:nvSpPr>
          <p:cNvPr id="16" name="Text 1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Fiber Analysis and TME-Quant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Collagen 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fiber architecture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fibers running perpendicular to the tumor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ratios of 3.0–3.9 for disease-specific and disease-free survival, independent of grade, size, receptor and node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same wavy-to-straight axis turns up wherever collagen bears load, which is why the measures travel beyond breast.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10140696" y="12801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Fiber Analysis</a:t>
            </a:r>
            <a:endParaRPr lang="en-US" sz="1000" dirty="0"/>
          </a:p>
        </p:txBody>
      </p:sp>
      <p:sp>
        <p:nvSpPr>
          <p:cNvPr id="5" name="Shape 3"/>
          <p:cNvSpPr/>
          <p:nvPr/>
        </p:nvSpPr>
        <p:spPr>
          <a:xfrm>
            <a:off x="10355580" y="1499616"/>
            <a:ext cx="1051560" cy="1051560"/>
          </a:xfrm>
          <a:prstGeom prst="rect">
            <a:avLst/>
          </a:prstGeom>
          <a:solidFill>
            <a:srgbClr val="FFFFFF"/>
          </a:solidFill>
          <a:ln w="9525">
            <a:solidFill>
              <a:srgbClr val="3674C1"/>
            </a:solidFill>
            <a:prstDash val="dash"/>
          </a:ln>
        </p:spPr>
      </p:sp>
      <p:sp>
        <p:nvSpPr>
          <p:cNvPr id="6" name="Text 4"/>
          <p:cNvSpPr/>
          <p:nvPr/>
        </p:nvSpPr>
        <p:spPr>
          <a:xfrm>
            <a:off x="10355580" y="1499616"/>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1" tooltip=""/>
          </p:cNvPr>
          <p:cNvSpPr/>
          <p:nvPr/>
        </p:nvSpPr>
        <p:spPr>
          <a:xfrm>
            <a:off x="10140696" y="258775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github.com/uw-loci/qupath-extension-fiber-analysis</a:t>
            </a:r>
            <a:endParaRPr lang="en-US" sz="750" dirty="0"/>
          </a:p>
        </p:txBody>
      </p:sp>
      <p:sp>
        <p:nvSpPr>
          <p:cNvPr id="8" name="Text 6"/>
          <p:cNvSpPr/>
          <p:nvPr/>
        </p:nvSpPr>
        <p:spPr>
          <a:xfrm>
            <a:off x="10140696" y="2935224"/>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TME-Quant</a:t>
            </a:r>
            <a:endParaRPr lang="en-US" sz="1000" dirty="0"/>
          </a:p>
        </p:txBody>
      </p:sp>
      <p:sp>
        <p:nvSpPr>
          <p:cNvPr id="9" name="Shape 7"/>
          <p:cNvSpPr/>
          <p:nvPr/>
        </p:nvSpPr>
        <p:spPr>
          <a:xfrm>
            <a:off x="10355580" y="3154680"/>
            <a:ext cx="1051560" cy="1051560"/>
          </a:xfrm>
          <a:prstGeom prst="rect">
            <a:avLst/>
          </a:prstGeom>
          <a:solidFill>
            <a:srgbClr val="FFFFFF"/>
          </a:solidFill>
          <a:ln w="9525">
            <a:solidFill>
              <a:srgbClr val="3674C1"/>
            </a:solidFill>
            <a:prstDash val="dash"/>
          </a:ln>
        </p:spPr>
      </p:sp>
      <p:sp>
        <p:nvSpPr>
          <p:cNvPr id="10" name="Text 8"/>
          <p:cNvSpPr/>
          <p:nvPr/>
        </p:nvSpPr>
        <p:spPr>
          <a:xfrm>
            <a:off x="10355580" y="3154680"/>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1" name="Text 9">
            <a:hlinkClick r:id="rId2" tooltip=""/>
          </p:cNvPr>
          <p:cNvSpPr/>
          <p:nvPr/>
        </p:nvSpPr>
        <p:spPr>
          <a:xfrm>
            <a:off x="10140696" y="4242816"/>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github.com/MichaelSNelson/qupath-extension-TME-Quant</a:t>
            </a:r>
            <a:endParaRPr lang="en-US" sz="750" dirty="0"/>
          </a:p>
        </p:txBody>
      </p:sp>
      <p:sp>
        <p:nvSpPr>
          <p:cNvPr id="12" name="Shape 10"/>
          <p:cNvSpPr/>
          <p:nvPr/>
        </p:nvSpPr>
        <p:spPr>
          <a:xfrm>
            <a:off x="566928" y="1554480"/>
            <a:ext cx="4430268" cy="530352"/>
          </a:xfrm>
          <a:prstGeom prst="rect">
            <a:avLst/>
          </a:prstGeom>
          <a:solidFill>
            <a:srgbClr val="E8F0FA"/>
          </a:solidFill>
          <a:ln/>
        </p:spPr>
      </p:sp>
      <p:sp>
        <p:nvSpPr>
          <p:cNvPr id="13" name="Text 11"/>
          <p:cNvSpPr/>
          <p:nvPr/>
        </p:nvSpPr>
        <p:spPr>
          <a:xfrm>
            <a:off x="731520" y="1554480"/>
            <a:ext cx="410108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14" name="Text 12"/>
          <p:cNvSpPr/>
          <p:nvPr/>
        </p:nvSpPr>
        <p:spPr>
          <a:xfrm>
            <a:off x="658368" y="2240280"/>
            <a:ext cx="424738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wavy versus straightened fibers, per window and per ROI</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fiber-tracing misses entirely</a:t>
            </a:r>
            <a:endParaRPr lang="en-US" sz="1800" dirty="0"/>
          </a:p>
        </p:txBody>
      </p:sp>
      <p:sp>
        <p:nvSpPr>
          <p:cNvPr id="15" name="Shape 13"/>
          <p:cNvSpPr/>
          <p:nvPr/>
        </p:nvSpPr>
        <p:spPr>
          <a:xfrm>
            <a:off x="5454396" y="1554480"/>
            <a:ext cx="4430268" cy="530352"/>
          </a:xfrm>
          <a:prstGeom prst="rect">
            <a:avLst/>
          </a:prstGeom>
          <a:solidFill>
            <a:srgbClr val="E8F0FA"/>
          </a:solidFill>
          <a:ln/>
        </p:spPr>
      </p:sp>
      <p:sp>
        <p:nvSpPr>
          <p:cNvPr id="16" name="Text 14"/>
          <p:cNvSpPr/>
          <p:nvPr/>
        </p:nvSpPr>
        <p:spPr>
          <a:xfrm>
            <a:off x="5618988" y="1554480"/>
            <a:ext cx="410108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TME-Quant — trace the fibers</a:t>
            </a:r>
            <a:endParaRPr lang="en-US" sz="2000" dirty="0"/>
          </a:p>
        </p:txBody>
      </p:sp>
      <p:sp>
        <p:nvSpPr>
          <p:cNvPr id="17" name="Text 15"/>
          <p:cNvSpPr/>
          <p:nvPr/>
        </p:nvSpPr>
        <p:spPr>
          <a:xfrm>
            <a:off x="5545836" y="2240280"/>
            <a:ext cx="424738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fibers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fibers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Fibers classified by orientation relative to a tumor boundary</a:t>
            </a:r>
            <a:endParaRPr lang="en-US" sz="1800" dirty="0"/>
          </a:p>
        </p:txBody>
      </p:sp>
      <p:sp>
        <p:nvSpPr>
          <p:cNvPr id="18" name="Text 1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implement other people’s methods — cite the methods, not just the tools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Provenzano et al. 2006, BMC Medicine 4:38; Conklin et al. 2011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4(3):e202000880</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Fiber Analysis re-implements TWOMBLI’s cheap metrics natively rather than bundling its FIJI plugins, so its fractal dimension and lacunarity diverge from TWOMBLI’s by roughly 20–40%. Do not compare them with published TWOMBLI numbers.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QPSC — QuPath 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Draw a box, the microscope acquires 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10140696" y="12801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QPSC</a:t>
            </a:r>
            <a:endParaRPr lang="en-US" sz="1000" dirty="0"/>
          </a:p>
        </p:txBody>
      </p:sp>
      <p:sp>
        <p:nvSpPr>
          <p:cNvPr id="5" name="Shape 3"/>
          <p:cNvSpPr/>
          <p:nvPr/>
        </p:nvSpPr>
        <p:spPr>
          <a:xfrm>
            <a:off x="10264140" y="1499616"/>
            <a:ext cx="1234440" cy="1234440"/>
          </a:xfrm>
          <a:prstGeom prst="rect">
            <a:avLst/>
          </a:prstGeom>
          <a:solidFill>
            <a:srgbClr val="FFFFFF"/>
          </a:solidFill>
          <a:ln w="9525">
            <a:solidFill>
              <a:srgbClr val="3674C1"/>
            </a:solidFill>
            <a:prstDash val="dash"/>
          </a:ln>
        </p:spPr>
      </p:sp>
      <p:sp>
        <p:nvSpPr>
          <p:cNvPr id="6" name="Text 4"/>
          <p:cNvSpPr/>
          <p:nvPr/>
        </p:nvSpPr>
        <p:spPr>
          <a:xfrm>
            <a:off x="10264140" y="1499616"/>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1" tooltip=""/>
          </p:cNvPr>
          <p:cNvSpPr/>
          <p:nvPr/>
        </p:nvSpPr>
        <p:spPr>
          <a:xfrm>
            <a:off x="10140696" y="277063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github.com/uw-loci/qupath-extension-qpsc</a:t>
            </a:r>
            <a:endParaRPr lang="en-US" sz="750" dirty="0"/>
          </a:p>
        </p:txBody>
      </p:sp>
      <p:sp>
        <p:nvSpPr>
          <p:cNvPr id="8" name="Text 6"/>
          <p:cNvSpPr/>
          <p:nvPr/>
        </p:nvSpPr>
        <p:spPr>
          <a:xfrm>
            <a:off x="640080" y="1481328"/>
            <a:ext cx="922629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points,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analyzed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and it works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2194560"/>
            <a:ext cx="10268712" cy="1280160"/>
          </a:xfrm>
          <a:prstGeom prst="rect">
            <a:avLst/>
          </a:prstGeom>
          <a:noFill/>
          <a:ln/>
        </p:spPr>
        <p:txBody>
          <a:bodyPr wrap="square" rtlCol="0" anchor="ctr"/>
          <a:lstStyle/>
          <a:p>
            <a:pPr indent="0" marL="0">
              <a:buNone/>
            </a:pPr>
            <a:r>
              <a:rPr lang="en-US" sz="5400" b="1" dirty="0">
                <a:solidFill>
                  <a:srgbClr val="1F4C86"/>
                </a:solidFill>
                <a:latin typeface="Trebuchet MS" pitchFamily="34" charset="0"/>
                <a:ea typeface="Trebuchet MS" pitchFamily="34" charset="-122"/>
                <a:cs typeface="Trebuchet MS" pitchFamily="34" charset="-120"/>
              </a:rPr>
              <a:t>Questions?</a:t>
            </a:r>
            <a:endParaRPr lang="en-US" sz="5400" dirty="0"/>
          </a:p>
        </p:txBody>
      </p:sp>
      <p:sp>
        <p:nvSpPr>
          <p:cNvPr id="4" name="Text 2"/>
          <p:cNvSpPr/>
          <p:nvPr/>
        </p:nvSpPr>
        <p:spPr>
          <a:xfrm>
            <a:off x="960120" y="3566160"/>
            <a:ext cx="10268712" cy="548640"/>
          </a:xfrm>
          <a:prstGeom prst="rect">
            <a:avLst/>
          </a:prstGeom>
          <a:noFill/>
          <a:ln/>
        </p:spPr>
        <p:txBody>
          <a:bodyPr wrap="square" rtlCol="0" anchor="ctr"/>
          <a:lstStyle/>
          <a:p>
            <a:pPr indent="0" marL="0">
              <a:buNone/>
            </a:pPr>
            <a:r>
              <a:rPr lang="en-US" sz="2200" b="1" dirty="0">
                <a:solidFill>
                  <a:srgbClr val="3674C1"/>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5" name="Text 3"/>
          <p:cNvSpPr/>
          <p:nvPr/>
        </p:nvSpPr>
        <p:spPr>
          <a:xfrm>
            <a:off x="960120" y="4206240"/>
            <a:ext cx="9811512" cy="457200"/>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Everything after this slide is backup, kept for the questions it answers.</a:t>
            </a:r>
            <a:endParaRPr lang="en-US" sz="17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B</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Backup</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Cut for time. Here if a question needs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Normalization statistics sampled across the image, or reused from training, so every tile is scaled the same way</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Training really wants a GPU — on CPU it is hours instead of minutes, and CPU is the default install.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Monday session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YAML — the QuPath side carries no per-instrument code, only per-modality handlers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777240"/>
            <a:ext cx="10268712" cy="82296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sp>
      <p:sp>
        <p:nvSpPr>
          <p:cNvPr id="5" name="Text 3"/>
          <p:cNvSpPr/>
          <p:nvPr/>
        </p:nvSpPr>
        <p:spPr>
          <a:xfrm>
            <a:off x="1188720" y="1691640"/>
            <a:ext cx="8412480" cy="713232"/>
          </a:xfrm>
          <a:prstGeom prst="rect">
            <a:avLst/>
          </a:prstGeom>
          <a:noFill/>
          <a:ln/>
        </p:spPr>
        <p:txBody>
          <a:bodyPr wrap="square" rtlCol="0" anchor="ctr"/>
          <a:lstStyle/>
          <a:p>
            <a:pPr indent="0" marL="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indent="0" marL="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for every tool, videos to follow  ·  setup instructions  ·  sample data  ·  these slides
</a:t>
            </a:r>
            <a:pPr indent="0" marL="0">
              <a:spcAft>
                <a:spcPts val="600"/>
              </a:spcAft>
              <a:buNone/>
            </a:pPr>
            <a:r>
              <a:rPr lang="en-US" sz="1900" dirty="0">
                <a:solidFill>
                  <a:srgbClr val="1F2933"/>
                </a:solidFill>
                <a:latin typeface="Calibri" pitchFamily="34" charset="0"/>
                <a:ea typeface="Calibri" pitchFamily="34" charset="-122"/>
                <a:cs typeface="Calibri" pitchFamily="34" charset="-120"/>
              </a:rPr>
              <a:t>Add one catalog in QuPath, install only what interests you, and restart:
</a:t>
            </a:r>
            <a:pPr indent="0" marL="0">
              <a:spcAft>
                <a:spcPts val="400"/>
              </a:spcAft>
              <a:buNone/>
            </a:pPr>
            <a:r>
              <a:rPr lang="en-US" sz="1800" b="1" dirty="0">
                <a:solidFill>
                  <a:srgbClr val="1F4C86"/>
                </a:solidFill>
                <a:latin typeface="Calibri" pitchFamily="34" charset="0"/>
                <a:ea typeface="Calibri" pitchFamily="34" charset="-122"/>
                <a:cs typeface="Calibri" pitchFamily="34" charset="-120"/>
              </a:rPr>
              <a:t>github.com/uw-loci/qupath-catalog-mikenelson
</a:t>
            </a:r>
            <a:pPr indent="0" marL="0">
              <a:spcAft>
                <a:spcPts val="1400"/>
              </a:spcAft>
              <a:buNone/>
            </a:pP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1.5–4 GB.
</a:t>
            </a:r>
            <a:pPr indent="0" marL="0">
              <a:buNone/>
            </a:pP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Slide-label images courtesy of Sara McArdle and Zbigniew Mikulski, La Jolla Institute for Immunology. Other data: public images, a CC0 synthetic set, and tiles acquired at LOCI.</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indent="0" marL="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48</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S. Nelson</cp:lastModifiedBy>
  <cp:revision>1</cp:revision>
  <dcterms:created xsi:type="dcterms:W3CDTF">2026-09-20T21:14:16Z</dcterms:created>
  <dcterms:modified xsi:type="dcterms:W3CDTF">2026-09-20T21:14:16Z</dcterms:modified>
</cp:coreProperties>
</file>